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ef95cee0f3e4b4f" /><Relationship Type="http://schemas.openxmlformats.org/officeDocument/2006/relationships/extended-properties" Target="/docProps/app.xml" Id="Rbdc597998fbf4d32" /><Relationship Type="http://schemas.openxmlformats.org/officeDocument/2006/relationships/officeDocument" Target="/ppt/presentation.xml" Id="Rbdc205967ad649da" /></Relationships>
</file>

<file path=ppt/presentation.xml><?xml version="1.0" encoding="utf-8"?>
<p:presentation xmlns:p="http://schemas.openxmlformats.org/presentationml/2006/main">
  <p:sldMasterIdLst>
    <p:sldMasterId xmlns:r="http://schemas.openxmlformats.org/officeDocument/2006/relationships" id="2147483648" r:id="R6b81db7dbdad4357"/>
  </p:sldMasterIdLst>
  <p:notesMasterIdLst>
    <p:notesMasterId xmlns:r="http://schemas.openxmlformats.org/officeDocument/2006/relationships" r:id="R1d1a8b5fe1034b5d"/>
  </p:notesMasterIdLst>
  <p:sldIdLst>
    <p:sldId xmlns:r="http://schemas.openxmlformats.org/officeDocument/2006/relationships" id="256" r:id="R751a1d4baf91432f"/>
    <p:sldId xmlns:r="http://schemas.openxmlformats.org/officeDocument/2006/relationships" id="257" r:id="Rb6be5edb37f04689"/>
    <p:sldId xmlns:r="http://schemas.openxmlformats.org/officeDocument/2006/relationships" id="258" r:id="R83a1a5fad3f346d5"/>
    <p:sldId xmlns:r="http://schemas.openxmlformats.org/officeDocument/2006/relationships" id="259" r:id="Rb572dee4f5a94520"/>
    <p:sldId xmlns:r="http://schemas.openxmlformats.org/officeDocument/2006/relationships" id="260" r:id="R8f0ce11f62db4267"/>
    <p:sldId xmlns:r="http://schemas.openxmlformats.org/officeDocument/2006/relationships" id="261" r:id="Rd4620e2c992149bd"/>
    <p:sldId xmlns:r="http://schemas.openxmlformats.org/officeDocument/2006/relationships" id="262" r:id="Rff42552a77cc4828"/>
    <p:sldId xmlns:r="http://schemas.openxmlformats.org/officeDocument/2006/relationships" id="263" r:id="Re111248d7f0d43fa"/>
    <p:sldId xmlns:r="http://schemas.openxmlformats.org/officeDocument/2006/relationships" id="264" r:id="R99b3657418374e4b"/>
    <p:sldId xmlns:r="http://schemas.openxmlformats.org/officeDocument/2006/relationships" id="265" r:id="Rc08e19eb6ab04f3c"/>
    <p:sldId xmlns:r="http://schemas.openxmlformats.org/officeDocument/2006/relationships" id="266" r:id="R154a113a1ae14710"/>
    <p:sldId xmlns:r="http://schemas.openxmlformats.org/officeDocument/2006/relationships" id="267" r:id="Ref39b11acd104885"/>
    <p:sldId xmlns:r="http://schemas.openxmlformats.org/officeDocument/2006/relationships" id="268" r:id="R2d3d715d453a4229"/>
    <p:sldId xmlns:r="http://schemas.openxmlformats.org/officeDocument/2006/relationships" id="269" r:id="R22068136a89f4e2d"/>
    <p:sldId xmlns:r="http://schemas.openxmlformats.org/officeDocument/2006/relationships" id="270" r:id="Raa01c8c22a4d446d"/>
    <p:sldId xmlns:r="http://schemas.openxmlformats.org/officeDocument/2006/relationships" id="271" r:id="R366a2954fe85446d"/>
    <p:sldId xmlns:r="http://schemas.openxmlformats.org/officeDocument/2006/relationships" id="272" r:id="R764907a5ac044143"/>
    <p:sldId xmlns:r="http://schemas.openxmlformats.org/officeDocument/2006/relationships" id="273" r:id="R1eadedcd9f8c4244"/>
    <p:sldId xmlns:r="http://schemas.openxmlformats.org/officeDocument/2006/relationships" id="274" r:id="R660ce42640f74098"/>
    <p:sldId xmlns:r="http://schemas.openxmlformats.org/officeDocument/2006/relationships" id="275" r:id="R0150cfae3c6144aa"/>
    <p:sldId xmlns:r="http://schemas.openxmlformats.org/officeDocument/2006/relationships" id="276" r:id="R92451b7f3ae441d5"/>
    <p:sldId xmlns:r="http://schemas.openxmlformats.org/officeDocument/2006/relationships" id="277" r:id="R0c9d23f47a914a71"/>
    <p:sldId xmlns:r="http://schemas.openxmlformats.org/officeDocument/2006/relationships" id="278" r:id="R19a692b5522b4094"/>
    <p:sldId xmlns:r="http://schemas.openxmlformats.org/officeDocument/2006/relationships" id="279" r:id="Rb15ae9664ea14e96"/>
    <p:sldId xmlns:r="http://schemas.openxmlformats.org/officeDocument/2006/relationships" id="280" r:id="R8eb9364183ff4007"/>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85659f1c514028" /><Relationship Type="http://schemas.openxmlformats.org/officeDocument/2006/relationships/slideMaster" Target="/ppt/slideMasters/slideMaster1.xml" Id="R6b81db7dbdad4357" /><Relationship Type="http://schemas.openxmlformats.org/officeDocument/2006/relationships/notesMaster" Target="/ppt/notesMasters/notesMaster1.xml" Id="R1d1a8b5fe1034b5d" /><Relationship Type="http://schemas.openxmlformats.org/officeDocument/2006/relationships/presProps" Target="/ppt/presProps.xml" Id="R7e2600225bd944fd" /><Relationship Type="http://schemas.openxmlformats.org/officeDocument/2006/relationships/tableStyles" Target="/ppt/tableStyles.xml" Id="R72c00f6403c442ed" /><Relationship Type="http://schemas.openxmlformats.org/officeDocument/2006/relationships/slide" Target="/ppt/slides/slide1.xml" Id="R751a1d4baf91432f" /><Relationship Type="http://schemas.openxmlformats.org/officeDocument/2006/relationships/slide" Target="/ppt/slides/slide2.xml" Id="Rb6be5edb37f04689" /><Relationship Type="http://schemas.openxmlformats.org/officeDocument/2006/relationships/slide" Target="/ppt/slides/slide3.xml" Id="R83a1a5fad3f346d5" /><Relationship Type="http://schemas.openxmlformats.org/officeDocument/2006/relationships/slide" Target="/ppt/slides/slide4.xml" Id="Rb572dee4f5a94520" /><Relationship Type="http://schemas.openxmlformats.org/officeDocument/2006/relationships/slide" Target="/ppt/slides/slide5.xml" Id="R8f0ce11f62db4267" /><Relationship Type="http://schemas.openxmlformats.org/officeDocument/2006/relationships/slide" Target="/ppt/slides/slide6.xml" Id="Rd4620e2c992149bd" /><Relationship Type="http://schemas.openxmlformats.org/officeDocument/2006/relationships/slide" Target="/ppt/slides/slide7.xml" Id="Rff42552a77cc4828" /><Relationship Type="http://schemas.openxmlformats.org/officeDocument/2006/relationships/slide" Target="/ppt/slides/slide8.xml" Id="Re111248d7f0d43fa" /><Relationship Type="http://schemas.openxmlformats.org/officeDocument/2006/relationships/slide" Target="/ppt/slides/slide9.xml" Id="R99b3657418374e4b" /><Relationship Type="http://schemas.openxmlformats.org/officeDocument/2006/relationships/slide" Target="/ppt/slides/slide10.xml" Id="Rc08e19eb6ab04f3c" /><Relationship Type="http://schemas.openxmlformats.org/officeDocument/2006/relationships/slide" Target="/ppt/slides/slide11.xml" Id="R154a113a1ae14710" /><Relationship Type="http://schemas.openxmlformats.org/officeDocument/2006/relationships/slide" Target="/ppt/slides/slide12.xml" Id="Ref39b11acd104885" /><Relationship Type="http://schemas.openxmlformats.org/officeDocument/2006/relationships/slide" Target="/ppt/slides/slide13.xml" Id="R2d3d715d453a4229" /><Relationship Type="http://schemas.openxmlformats.org/officeDocument/2006/relationships/slide" Target="/ppt/slides/slide14.xml" Id="R22068136a89f4e2d" /><Relationship Type="http://schemas.openxmlformats.org/officeDocument/2006/relationships/slide" Target="/ppt/slides/slide15.xml" Id="Raa01c8c22a4d446d" /><Relationship Type="http://schemas.openxmlformats.org/officeDocument/2006/relationships/slide" Target="/ppt/slides/slide16.xml" Id="R366a2954fe85446d" /><Relationship Type="http://schemas.openxmlformats.org/officeDocument/2006/relationships/slide" Target="/ppt/slides/slide17.xml" Id="R764907a5ac044143" /><Relationship Type="http://schemas.openxmlformats.org/officeDocument/2006/relationships/slide" Target="/ppt/slides/slide18.xml" Id="R1eadedcd9f8c4244" /><Relationship Type="http://schemas.openxmlformats.org/officeDocument/2006/relationships/slide" Target="/ppt/slides/slide19.xml" Id="R660ce42640f74098" /><Relationship Type="http://schemas.openxmlformats.org/officeDocument/2006/relationships/slide" Target="/ppt/slides/slide20.xml" Id="R0150cfae3c6144aa" /><Relationship Type="http://schemas.openxmlformats.org/officeDocument/2006/relationships/slide" Target="/ppt/slides/slide21.xml" Id="R92451b7f3ae441d5" /><Relationship Type="http://schemas.openxmlformats.org/officeDocument/2006/relationships/slide" Target="/ppt/slides/slide22.xml" Id="R0c9d23f47a914a71" /><Relationship Type="http://schemas.openxmlformats.org/officeDocument/2006/relationships/slide" Target="/ppt/slides/slide23.xml" Id="R19a692b5522b4094" /><Relationship Type="http://schemas.openxmlformats.org/officeDocument/2006/relationships/slide" Target="/ppt/slides/slide24.xml" Id="Rb15ae9664ea14e96" /><Relationship Type="http://schemas.openxmlformats.org/officeDocument/2006/relationships/slide" Target="/ppt/slides/slide25.xml" Id="R8eb9364183ff40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6bf4334a944e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39e5f281724ade" /><Relationship Type="http://schemas.openxmlformats.org/officeDocument/2006/relationships/notesMaster" Target="/ppt/notesMasters/notesMaster1.xml" Id="R649cf001461d45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a86a88aef2438f" /><Relationship Type="http://schemas.openxmlformats.org/officeDocument/2006/relationships/notesMaster" Target="/ppt/notesMasters/notesMaster1.xml" Id="R27d1820a0b0545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d0d8d171bf4552" /><Relationship Type="http://schemas.openxmlformats.org/officeDocument/2006/relationships/notesMaster" Target="/ppt/notesMasters/notesMaster1.xml" Id="Rf134a137bda04f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8db3c9b4bd41c6" /><Relationship Type="http://schemas.openxmlformats.org/officeDocument/2006/relationships/notesMaster" Target="/ppt/notesMasters/notesMaster1.xml" Id="R22c04b6a49f447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bb019fcaa24ad3" /><Relationship Type="http://schemas.openxmlformats.org/officeDocument/2006/relationships/notesMaster" Target="/ppt/notesMasters/notesMaster1.xml" Id="Rb897566d8dfa44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ac01ba3d7849ed" /><Relationship Type="http://schemas.openxmlformats.org/officeDocument/2006/relationships/notesMaster" Target="/ppt/notesMasters/notesMaster1.xml" Id="Rcf18f6377b3141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a5372518b54798" /><Relationship Type="http://schemas.openxmlformats.org/officeDocument/2006/relationships/notesMaster" Target="/ppt/notesMasters/notesMaster1.xml" Id="R92248eb2f72b40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19c4bcfc8b4e85" /><Relationship Type="http://schemas.openxmlformats.org/officeDocument/2006/relationships/notesMaster" Target="/ppt/notesMasters/notesMaster1.xml" Id="R3784af2fa3b046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91aecda91b400b" /><Relationship Type="http://schemas.openxmlformats.org/officeDocument/2006/relationships/notesMaster" Target="/ppt/notesMasters/notesMaster1.xml" Id="Ra816a4f3fa6d43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ce37d262444b37" /><Relationship Type="http://schemas.openxmlformats.org/officeDocument/2006/relationships/notesMaster" Target="/ppt/notesMasters/notesMaster1.xml" Id="R4ba2f62a8e2f45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36d075141e40b4" /><Relationship Type="http://schemas.openxmlformats.org/officeDocument/2006/relationships/notesMaster" Target="/ppt/notesMasters/notesMaster1.xml" Id="R7f8fae6a76a746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8c727ceaf0419f" /><Relationship Type="http://schemas.openxmlformats.org/officeDocument/2006/relationships/notesMaster" Target="/ppt/notesMasters/notesMaster1.xml" Id="R58f5216c1f3249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4328a181124325" /><Relationship Type="http://schemas.openxmlformats.org/officeDocument/2006/relationships/notesMaster" Target="/ppt/notesMasters/notesMaster1.xml" Id="Ra83cb1f76cba4f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6782757142493b" /><Relationship Type="http://schemas.openxmlformats.org/officeDocument/2006/relationships/notesMaster" Target="/ppt/notesMasters/notesMaster1.xml" Id="Rc00f80abb68b413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2269c9ff4846d5" /><Relationship Type="http://schemas.openxmlformats.org/officeDocument/2006/relationships/notesMaster" Target="/ppt/notesMasters/notesMaster1.xml" Id="R26db67ddc3484c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f5283418f14c51" /><Relationship Type="http://schemas.openxmlformats.org/officeDocument/2006/relationships/notesMaster" Target="/ppt/notesMasters/notesMaster1.xml" Id="R3ca75ae2234342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f990c9287c4d02" /><Relationship Type="http://schemas.openxmlformats.org/officeDocument/2006/relationships/notesMaster" Target="/ppt/notesMasters/notesMaster1.xml" Id="R66911dbecc8047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1d340c762c4e06" /><Relationship Type="http://schemas.openxmlformats.org/officeDocument/2006/relationships/notesMaster" Target="/ppt/notesMasters/notesMaster1.xml" Id="Rb0a80e0d1008444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e701387243445f" /><Relationship Type="http://schemas.openxmlformats.org/officeDocument/2006/relationships/notesMaster" Target="/ppt/notesMasters/notesMaster1.xml" Id="Rc59c5391e56c4f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4d06bb3eb3b4f6c" /><Relationship Type="http://schemas.openxmlformats.org/officeDocument/2006/relationships/notesMaster" Target="/ppt/notesMasters/notesMaster1.xml" Id="R27794de6781d4b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93cbac0cdb44c41" /><Relationship Type="http://schemas.openxmlformats.org/officeDocument/2006/relationships/notesMaster" Target="/ppt/notesMasters/notesMaster1.xml" Id="R3b732c15a02e43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b7787d6ac74cb3" /><Relationship Type="http://schemas.openxmlformats.org/officeDocument/2006/relationships/notesMaster" Target="/ppt/notesMasters/notesMaster1.xml" Id="R6101133253ae4c1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1e9ee71d4204404" /><Relationship Type="http://schemas.openxmlformats.org/officeDocument/2006/relationships/notesMaster" Target="/ppt/notesMasters/notesMaster1.xml" Id="Rc959f67ffd7043f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0a31884153486e" /><Relationship Type="http://schemas.openxmlformats.org/officeDocument/2006/relationships/notesMaster" Target="/ppt/notesMasters/notesMaster1.xml" Id="R3a563c363720497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a63f472df424b2b" /><Relationship Type="http://schemas.openxmlformats.org/officeDocument/2006/relationships/notesMaster" Target="/ppt/notesMasters/notesMaster1.xml" Id="R2caaea8b616342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0:20. Bridge: “How does a correct visual answer become the required output label?” Introduce the project as a frozen-model study of formatted visual MCQA. Main talk is about 15 minutes, followed by backup material. The completed Qwen study and preliminary InternVL study have different sample sizes. No training or fine-tuning is part of this work.</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https://github.com/Rmehta-sudo/ANLP-project/blob/29b54e41054a120c45719ea48777bbe33a3bcd6c/consolidation/internvl35_8b_preliminary_32pair/README.md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0:40. Bridge: “Prior work gives us tools for separating answer content from output-label selection.” The project asks how a visual answer becomes a formatted MCQA token. Use “two” throughout this opening example. If the correct answer occupies option three, the printed label is C under letters and 3 under numeric labels. Reordering the same answer to option one changes C to A. These are experimental manipulations, not model predictions. The image change is shown next. </a:t>
            </a:r>
          </a:p>
          <a:p xmlns:a="http://schemas.openxmlformats.org/drawingml/2006/main">
            <a:r>
              <a:t/>
            </a:r>
          </a:p>
          <a:p xmlns:a="http://schemas.openxmlformats.org/drawingml/2006/main">
            <a:r>
              <a:t>Sources</a:t>
            </a:r>
          </a:p>
          <a:p xmlns:a="http://schemas.openxmlformats.org/drawingml/2006/main">
            <a:r>
              <a:t>C:/Users/Dell/Downloads/midsem_report-v2-internvl.pdf — Introduction and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0:30. Bridge: “We first explored this question in a simple visual task.” AAA: Wiegreffe et al., ICLR 2025. NOTICE: Golovanevsky et al., NAACL 2025. Wong et al., Findings of ACL 2026, use probes and probe-aligned interventions. Palacios et al., 2026 arXiv preprint, studies visual instruction tuning and abstraction. We combine untuned vocabulary readouts and direct causal interventions with controlled visual MCQA and frozen head validation. Avoid first-ever visual binding or new-method claims. Local literature review covers a bounded 56-work selection, 20 essentials and 48 detailed records.</a:t>
            </a:r>
          </a:p>
          <a:p xmlns:a="http://schemas.openxmlformats.org/drawingml/2006/main">
            <a:r>
              <a:t/>
            </a:r>
          </a:p>
          <a:p xmlns:a="http://schemas.openxmlformats.org/drawingml/2006/main">
            <a:r>
              <a:t>Sources</a:t>
            </a:r>
          </a:p>
          <a:p xmlns:a="http://schemas.openxmlformats.org/drawingml/2006/main">
            <a:r>
              <a:t>https://proceedings.iclr.cc/paper_files/paper/2025/file/c248154176c08147e82c0b30961604f7-Paper-Conference.pdf</a:t>
            </a:r>
          </a:p>
          <a:p xmlns:a="http://schemas.openxmlformats.org/drawingml/2006/main">
            <a:r>
              <a:t>https://aclanthology.org/2025.naacl-long.571/</a:t>
            </a:r>
          </a:p>
          <a:p xmlns:a="http://schemas.openxmlformats.org/drawingml/2006/main">
            <a:r>
              <a:t>https://aclanthology.org/2026.findings-acl.1144/</a:t>
            </a:r>
          </a:p>
          <a:p xmlns:a="http://schemas.openxmlformats.org/drawingml/2006/main">
            <a:r>
              <a:t>https://arxiv.org/abs/2606.03871</a:t>
            </a:r>
          </a:p>
          <a:p xmlns:a="http://schemas.openxmlformats.org/drawingml/2006/main">
            <a:r>
              <a:t>Local approved evidence: docs/literature_review/mid_submission_related_work.md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0:55. Report §3 and Figure 1 motivate the full study. The plot is panel (a) from the repository figure used in the supplied report. Stage 0 is omitted, as in the report, because the prompt-token embedding baseline obscures the late pattern. All familiar labels share a rise; correct-label separation is an additional relative effect. This is descriptive and must not be promoted to a causal explanation of the shared rise. The pilot also found weaker full-vocabulary validity for unfamiliar alphabets even when forced-choice accuracy stayed high. Keep the 3B pilot separate from Qwen7B and InternVL. Bridge: “A readout shows what is accessible. The next pilot interventions test what can change an answer.”</a:t>
            </a:r>
          </a:p>
          <a:p xmlns:a="http://schemas.openxmlformats.org/drawingml/2006/main">
            <a:r>
              <a:t/>
            </a:r>
          </a:p>
          <a:p xmlns:a="http://schemas.openxmlformats.org/drawingml/2006/main">
            <a:r>
              <a:t>Sources</a:t>
            </a:r>
          </a:p>
          <a:p xmlns:a="http://schemas.openxmlformats.org/drawingml/2006/main">
            <a:r>
              <a:t>C:/Users/Dell/Downloads/midsem_report-v2-internvl.pdf — §3, Figure 1 and Tables 1–2</a:t>
            </a:r>
          </a:p>
          <a:p xmlns:a="http://schemas.openxmlformats.org/drawingml/2006/main">
            <a:r>
              <a:t>https://github.com/Rmehta-sudo/ANLP-project/blob/29b54e41054a120c45719ea48777bbe33a3bcd6c/consolidation/report/figures/pilot_abcd_decomposition.png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0:50. Report §3.2 and Table 2. These are representative pilot effects, not the main Qwen7B or InternVL results. Image sites across layers 0–16 yielded 0.92, 0.93 and 0.87. Option-content patching peaks near 0.48 across layers 20–25. At final-token L27 symbol recovery is 0.76, attention 0.68 and MLP 0.27; at L33 content recovery is 0.95 with attention 0.55 and MLP 0.03. The arrow line states a working hypothesis, not proven connecting edges. Late answer-word readability does not imply late first presence of semantic information. Bridge: “To test this route beyond simple Shapes, we built controlled CLEVR reasoning questions.”</a:t>
            </a:r>
          </a:p>
          <a:p xmlns:a="http://schemas.openxmlformats.org/drawingml/2006/main">
            <a:r>
              <a:t/>
            </a:r>
          </a:p>
          <a:p xmlns:a="http://schemas.openxmlformats.org/drawingml/2006/main">
            <a:r>
              <a:t>Sources</a:t>
            </a:r>
          </a:p>
          <a:p xmlns:a="http://schemas.openxmlformats.org/drawingml/2006/main">
            <a:r>
              <a:t>C:/Users/Dell/Downloads/midsem_report-v2-internvl.pdf — §3.2, Table 2</a:t>
            </a:r>
          </a:p>
          <a:p xmlns:a="http://schemas.openxmlformats.org/drawingml/2006/main">
            <a:r>
              <a:t>https://github.com/Rmehta-sudo/ANLP-project/blob/29b54e41054a120c45719ea48777bbe33a3bcd6c/docs/ai_handoff/EXPERIMENT_HISTORY.md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0:40. Report §4.1. MMMU was considered first, but moderate baseline success in heterogeneous expert questions would make failed patches ambiguous. CLEVR provides controlled scene edits and functional reasoning structure. The final release includes 676 official singles and 576 locally rendered pair members. Five splits are fixed before analysis: 120 calibration, 300 optional screening, 256 behavior, 320 discovery members / 160 pairs, 256 confirmation members / 128 pairs. The available 300-item screening split does not mean that the twelve-model full screen was executed. The earlier smoke dataset was a distinct smaller build: hash 7b9147873dcd34f7, versus final-release hash f5573e25f3aa2bf2. Contrast scoring and token groups are defined in the Core-7 methods. Bridge: “Here is an actual counterfactual pair from the frozen release.”</a:t>
            </a:r>
          </a:p>
          <a:p xmlns:a="http://schemas.openxmlformats.org/drawingml/2006/main">
            <a:r>
              <a:t/>
            </a:r>
          </a:p>
          <a:p xmlns:a="http://schemas.openxmlformats.org/drawingml/2006/main">
            <a:r>
              <a:t>Sources</a:t>
            </a:r>
          </a:p>
          <a:p xmlns:a="http://schemas.openxmlformats.org/drawingml/2006/main">
            <a:r>
              <a:t>C:/Users/Dell/Downloads/midsem_report-v2-internvl.pdf — §4.1, Table 3</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https://github.com/Rmehta-sudo/ANLP-project/blob/29b54e41054a120c45719ea48777bbe33a3bcd6c/consolidation/internvl35_8b_preliminary_32pair/README.md</a:t>
            </a:r>
          </a:p>
          <a:p xmlns:a="http://schemas.openxmlformats.org/drawingml/2006/main">
            <a:r>
              <a:t>https://github.com/Rmehta-sudo/ANLP-project/blob/29b54e41054a120c45719ea48777bbe33a3bcd6c/scripts/context.md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0:30. Bridge: “Before the larger experiments, a smaller dataset checked which model families could support the pipeline.” Use the exact release pair pair_CLEVR_train_000071. One object changes shape from sphere to cylinder. Question and all four option contents remain fixed. Ground truth changes from two (C) to one (D). Counts are spelled as words to separate semantic counts from numeric output labels. This is a dataset example, not a claim that both model predictions are correct on this displayed prompt. Both images use the same Blender renderer.</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https://github.com/Rmehta-sudo/ANLP-project/blob/29b54e41054a120c45719ea48777bbe33a3bcd6c/docs/research_log.md</a:t>
            </a:r>
          </a:p>
          <a:p xmlns:a="http://schemas.openxmlformats.org/drawingml/2006/main">
            <a:r>
              <a:t>Frozen archive: dataset/items.jsonl, pair_CLEVR_train_000071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 Report §4.2 and Table 4, cross-checked against scripts/context.md §3.2. This was the earlier 24-item smoke screening split, not the final 300-item screening split or the 256-item behavior set. Accuracy pools the four answer positions; 24 unique items remain the statistical unit, not the repeated prompt count. Percentages and percentage-point gaps follow report decimals: .7292, .4167, etc. D/C are usable correct/correct discovery and confirmation pairs in the small smoke build. All twelve checkpoints passed intervention calibration; selected checkpoints were provisional. Qwen7B and InternVL8B combined useful visual dependence, feasible sizes and usable pairs. No checkpoint could meet the full 64/48 pair-count requirements on six-pair smoke data. Other family representatives were LLaVA-OV-7B-SI and PaliGemma2-10B Mix. PaliGemma prompt format and position bias limit family ranking. These are feasibility estimates and are not a leaderboard. Bridge: “The same small build also tested whether the complete experiment sequence worked.”</a:t>
            </a:r>
          </a:p>
          <a:p xmlns:a="http://schemas.openxmlformats.org/drawingml/2006/main">
            <a:r>
              <a:t/>
            </a:r>
          </a:p>
          <a:p xmlns:a="http://schemas.openxmlformats.org/drawingml/2006/main">
            <a:r>
              <a:t>Sources</a:t>
            </a:r>
          </a:p>
          <a:p xmlns:a="http://schemas.openxmlformats.org/drawingml/2006/main">
            <a:r>
              <a:t>C:/Users/Dell/Downloads/midsem_report-v2-internvl.pdf — §4.2, Table 4</a:t>
            </a:r>
          </a:p>
          <a:p xmlns:a="http://schemas.openxmlformats.org/drawingml/2006/main">
            <a:r>
              <a:t>https://github.com/Rmehta-sudo/ANLP-project/blob/29b54e41054a120c45719ea48777bbe33a3bcd6c/scripts/context.md</a:t>
            </a:r>
          </a:p>
          <a:p xmlns:a="http://schemas.openxmlformats.org/drawingml/2006/main">
            <a:r>
              <a:t>https://github.com/Rmehta-sudo/ANLP-project/blob/29b54e41054a120c45719ea48777bbe33a3bcd6c/presentation/core7_smoke_update.pdf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0:40. scripts/context.md §3.3 records both complete smoke jobs with zero errors and all raw JSONL. The smoke profile used a four-layer stride, 4–6 usable pairs per split and four head-screen contrasts. InternVL position transfer moved from L28 discovery to L24 confirmation: one smoke sampling step, not evidence of a stable layer. The old smoke head sparsity classifications are feasibility observations; corrected full Qwen and preliminary 32-pair InternVL values supersede them for the scientific discussion. All twelve screen adapters passed numerical calibration. The smoke dataset also had eight calibration items and twelve behavior items. The larger final-release workflows use Qwen64 pairs and InternVL32 pairs, all residual layers, with M6 InternVL sampling every two layers. Bridge: “With the pipeline working, we move to the larger controlled study and its seven measurements.”</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https://github.com/Rmehta-sudo/ANLP-project/blob/29b54e41054a120c45719ea48777bbe33a3bcd6c/scripts/context.md</a:t>
            </a:r>
          </a:p>
          <a:p xmlns:a="http://schemas.openxmlformats.org/drawingml/2006/main">
            <a:r>
              <a:t>https://github.com/Rmehta-sudo/ANLP-project/blob/29b54e41054a120c45719ea48777bbe33a3bcd6c/presentation/core7_smoke_update.pdf</a:t>
            </a:r>
          </a:p>
          <a:p xmlns:a="http://schemas.openxmlformats.org/drawingml/2006/main">
            <a:r>
              <a:t>C:/Users/Dell/Downloads/midsem_report-v2-internvl.pdf —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 Core-7 consists of four intervention methods M1, M2, M3, M6 and three descriptive readouts M4, M5, M7. This slide maps the method names to the questions that organize the talk. The score s is a predeclared logit difference, so normalized recovery is (s_patched-s_recipient)/(s_donor-s_recipient), not accuracy. Categorical flip rate is a separate outcome. Discovery selects sites and heads; choices are frozen before the disjoint confirmation evaluation. Corrected Qwen M3 confirmation had already been inspected during the prior run, so it is disjoint frozen confirmation rather than a never-inspected holdout. Bridge: “First, behavioral controls establish that the larger task actually depends on the image.”</a:t>
            </a:r>
          </a:p>
          <a:p xmlns:a="http://schemas.openxmlformats.org/drawingml/2006/main">
            <a:r>
              <a:t/>
            </a:r>
          </a:p>
          <a:p xmlns:a="http://schemas.openxmlformats.org/drawingml/2006/main">
            <a:r>
              <a:t>Sources</a:t>
            </a:r>
          </a:p>
          <a:p xmlns:a="http://schemas.openxmlformats.org/drawingml/2006/main">
            <a:r>
              <a:t>C:/Users/Dell/Downloads/midsem_report-v2-internvl.pdf — §5, Table 5</a:t>
            </a:r>
          </a:p>
          <a:p xmlns:a="http://schemas.openxmlformats.org/drawingml/2006/main">
            <a:r>
              <a:t>https://github.com/Rmehta-sudo/ANLP-project/blob/29b54e41054a120c45719ea48777bbe33a3bcd6c/docs/ai_handoff/qwen7b_m3_pairbalanced_rerun_audit_2026-10-01.md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0:50. Accuracy is forced choice among A/B/C/D, pooled over four positions for 256 items. Repeated positions are not independent items. Exact values: 83.69140625%, blank 28.515625%, shuffled 29.58984375%, gap 54.1015625 percentage points. Generated-answer accuracy 83.984375%, compliance 100%. Accuracy remains imperfect, so causal analysis conditions on successful donor/recipient cases. Do not infer universal visual reasoning from these controls. The InternVL 100% result belongs to the separate 24-item smoke screen shown on slide 8; it is not a matched 256-item comparison. Bridge: “Now we patch the final-token state to find when an output decision becomes transferable.”</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https://github.com/Rmehta-sudo/ANLP-project/blob/29b54e41054a120c45719ea48777bbe33a3bcd6c/docs/ai_handoff/qwen7b_full_result_audit_2026-10-01.md</a:t>
            </a:r>
          </a:p>
          <a:p xmlns:a="http://schemas.openxmlformats.org/drawingml/2006/main">
            <a:r>
              <a:t>Local behavior_behavior_summary.json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0:55. The question is when a donor final-token state can steer the recipient. M1 locates a late transferable state. Mean recovery crosses 0.5 at Qwen L24 for position and L25 for content, and InternVL L29/L31. Indices are zero-based. InternVL random-donor recovery at L29 is 0.6825, stronger than matched position recovery 0.5417, which makes the caution central to interpretation. These are intervention-specific thresholds and do not date the first semantic computation. Bridge: “The final token tells us when transfer becomes possible at the output. To find where answer information lives earlier, we patch other token groups.”</a:t>
            </a:r>
          </a:p>
          <a:p xmlns:a="http://schemas.openxmlformats.org/drawingml/2006/main">
            <a:r>
              <a:t/>
            </a:r>
          </a:p>
          <a:p xmlns:a="http://schemas.openxmlformats.org/drawingml/2006/main">
            <a:r>
              <a:t>Sources</a:t>
            </a:r>
          </a:p>
          <a:p xmlns:a="http://schemas.openxmlformats.org/drawingml/2006/main">
            <a:r>
              <a:t>C:/Users/Dell/Downloads/midsem_report-v2-internvl.pdf — §6.2 and Figure 4</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https://github.com/Rmehta-sudo/ANLP-project/blob/29b54e41054a120c45719ea48777bbe33a3bcd6c/consolidation/internvl35_8b_preliminary_32pair/README.md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 M6 supplies the carrier evidence missing from M1. Patching image tokens strongly transfers content early; the option-content effect peaks later. The plotted Qwen CSV mean peaks at 0.4238593 at L18, while the report summarizes it as about 0.43. The report rounds early image recovery to about 1.01; the plotted table uses values around 1.00. Preserve the saved table values rather than inventing exact numbers from prose. InternVL image peak is 1.033 at L4, options peak 0.2889 at L22, question 0.2409 at L18 and labels 0.0085. Content contrasts change the image plus corresponding option content while preserving the symbol. Joint content-and-position final-token patches mostly transfer position/symbol. These sites support an account, not traced edges or proof of natural exclusive use. Bridge: “We have located useful states. Now we separate the attention and MLP updates that create the late output effect.”</a:t>
            </a:r>
          </a:p>
          <a:p xmlns:a="http://schemas.openxmlformats.org/drawingml/2006/main">
            <a:r>
              <a:t/>
            </a:r>
          </a:p>
          <a:p xmlns:a="http://schemas.openxmlformats.org/drawingml/2006/main">
            <a:r>
              <a:t>Sources</a:t>
            </a:r>
          </a:p>
          <a:p xmlns:a="http://schemas.openxmlformats.org/drawingml/2006/main">
            <a:r>
              <a:t>C:/Users/Dell/Downloads/midsem_report-v2-internvl.pdf — §6.2, Figure 4</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https://github.com/Rmehta-sudo/ANLP-project/blob/29b54e41054a120c45719ea48777bbe33a3bcd6c/consolidation/internvl35_8b_preliminary_32pair/README.md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0:55. Bridge: “If attention matters more, is its effect concentrated in a few heads?” These are component-patching effects for the position contrast, not isolated vocabulary projections. Qwen confirmation attention peaks at L24 with 0.4388441 recovery, MLP at L27 with 0.1058495. InternVL peaks at L24 with 0.3495755 for attention and L31 with 0.0462452 for MLP. InternVL L24 attention resampling reduces the answer margin by 5.0859 logits while the MLP drop is -0.1211, a small increase. A larger attention peak does not mean MLPs never matter or explain all VLM behavior. Both decoder backbones are Qwen-lineage.</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https://github.com/Rmehta-sudo/ANLP-project/blob/29b54e41054a120c45719ea48777bbe33a3bcd6c/consolidation/internvl35_8b_preliminary_32pair/README.md</a:t>
            </a:r>
          </a:p>
          <a:p xmlns:a="http://schemas.openxmlformats.org/drawingml/2006/main">
            <a:r>
              <a:t>Saved confirmation component tables and aggregates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0:55. Bridge: “We apply the frozen head procedure in InternVL to test replication.” This is the corrected M3 result. The original first-96 sorted contrast sample covered only seven semantic pairs and is superseded. The rerun used 64 pairs, exactly 32 once and 32 twice, with equal-weighted pair means and pair-bootstrap intervals. Frozen candidates were reused unchanged on disjoint confirmation. Four tested layers have 28 heads each: 112-head reference, not all 784 decoder heads. Top-four heads are L26H24, L24H27, L24H26 and L24H21. K4 confirmation 0.417044355, CI [0.397348666,0.437538755], matched-random p95 0.069131195, reference 0.791319428. K16 0.894855 exceeds this reference because joint effects are non-additive. Twenty exact-size layer-matched random sets per K. Confirmation was previously inspected before this correction, so describe as disjoint frozen confirmation rather than never-inspected holdout. M1/M2/M4–M7 were copied, not recomputed.</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https://github.com/Rmehta-sudo/ANLP-project/blob/29b54e41054a120c45719ea48777bbe33a3bcd6c/docs/ai_handoff/qwen7b_m3_pairbalanced_rerun_audit_2026-10-01.md</a:t>
            </a:r>
          </a:p>
          <a:p xmlns:a="http://schemas.openxmlformats.org/drawingml/2006/main">
            <a:r>
              <a:t>https://wandb.ai/vlm-mcqa/smoke-testing/runs/kjdum2vb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0:50. Bridge: “Head interventions measure causal effects; vocabulary readouts show when words and labels become accessible.” InternVL top-four confirmation recovery 0.430531798, random p95 0.050820661, all-head reference 0.846726756 across four tested layers with 32 heads/layer, or 128 tested heads. Discovery K4 reference fraction 0.499236281 and confirmation 0.508466037. Thus discovery classified distributed while confirmation classified sparse. Every frozen top-K beats matched random p95 in both phases, yet all_hypotheses_replicated=false. This is a threshold-sensitive scientific non-replication, not a failed execution, and not evidence of a large architectural difference. Ten random sets per K rather than Qwen twenty. Different model-conditioned samples prevent a strong effect-size ranking. Use preliminary beside every displayed InternVL result.</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https://github.com/Rmehta-sudo/ANLP-project/blob/29b54e41054a120c45719ea48777bbe33a3bcd6c/consolidation/internvl35_8b_preliminary_32pair/README.md</a:t>
            </a:r>
          </a:p>
          <a:p xmlns:a="http://schemas.openxmlformats.org/drawingml/2006/main">
            <a:r>
              <a:t>https://github.com/Rmehta-sudo/ANLP-project/blob/29b54e41054a120c45719ea48777bbe33a3bcd6c/consolidation/internvl35_8b_preliminary_32pair/confirmation/confirmation_report.json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1:05. This closes the question that the pilot introduced: how a useful answer becomes vocabulary-aligned with a requested output symbol. M4 measures label access, M5 compares label and semantic answer-word access, M7 changes the alphabet. Projection measures readability, not causal use or computation onset. Qwen letter margins become positive at stage 22 and stable around 22–23, numbers at 23, rare letters at 24. Requested rare/default eight-way mass is 12.6% at stage 24 and 82.8% at 25. The requested/default crossover is displayed, not a claim that rare-label full-vocabulary validity equals behavior accuracy. Qwen final-token content_word margin remains negative through 26 and becomes positive at 27. InternVL lens milestones come from six-pair smoke, separate from its 32-pair causal track. Residual stages count completed layers; patching layer indices are zero-based, so do not subtract them as if they were identical conventions. Bridge: “Readability and causal transfer now fit together: content can matter earlier at non-final sites even when it becomes readable late at the final token.”</a:t>
            </a:r>
          </a:p>
          <a:p xmlns:a="http://schemas.openxmlformats.org/drawingml/2006/main">
            <a:r>
              <a:t/>
            </a:r>
          </a:p>
          <a:p xmlns:a="http://schemas.openxmlformats.org/drawingml/2006/main">
            <a:r>
              <a:t>Sources</a:t>
            </a:r>
          </a:p>
          <a:p xmlns:a="http://schemas.openxmlformats.org/drawingml/2006/main">
            <a:r>
              <a:t>C:/Users/Dell/Downloads/midsem_report-v2-internvl.pdf — §6.5 and Figures 7–8</a:t>
            </a:r>
          </a:p>
          <a:p xmlns:a="http://schemas.openxmlformats.org/drawingml/2006/main">
            <a:r>
              <a:t>https://github.com/Rmehta-sudo/ANLP-project/blob/29b54e41054a120c45719ea48777bbe33a3bcd6c/results/pkgpu_complete/qwen25vl_7b_full_core7/discovery/tables/m4_m5_m7_lens.csv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0:50. The report’s cross-model interpretation connects carrier sites, late component effects and vocabulary readouts. Preserve the word “supports”: patching does not establish a complete, unique or naturally used circuit. Strong unrelated-donor transfer limits a binding-specific interpretation of the final state. Both models are Qwen-lineage decoders, limiting family breadth. InternVL’s preliminary sample supports selected-head concentration but its classification crosses the preset sparsity threshold; do not make a strong model ranking. Bridge: “The immediate next test is the unstable claim, rather than repeating the parts that already agree.”</a:t>
            </a:r>
          </a:p>
          <a:p xmlns:a="http://schemas.openxmlformats.org/drawingml/2006/main">
            <a:r>
              <a:t/>
            </a:r>
          </a:p>
          <a:p xmlns:a="http://schemas.openxmlformats.org/drawingml/2006/main">
            <a:r>
              <a:t>Sources</a:t>
            </a:r>
          </a:p>
          <a:p xmlns:a="http://schemas.openxmlformats.org/drawingml/2006/main">
            <a:r>
              <a:t>C:/Users/Dell/Downloads/midsem_report-v2-internvl.pdf — §§7–8 and Limitations</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https://github.com/Rmehta-sudo/ANLP-project/blob/29b54e41054a120c45719ea48777bbe33a3bcd6c/consolidation/internvl35_8b_preliminary_32pair/README.md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0:35. Conclude with the report’s narrow claim: transferable visual answer content is present early in image states, option states become useful later, and late attention strongly affects output labels. Complete InternVL evidence and targeted semantic head interventions are the next priorities. Future natural-image and path tests remain proposed work. No new experiments were run to revise this talk. Invite questions and refer to the backup slides for dataset counts, exact top-K intervals, provenance and methodological caveats.</a:t>
            </a:r>
          </a:p>
          <a:p xmlns:a="http://schemas.openxmlformats.org/drawingml/2006/main">
            <a:r>
              <a:t/>
            </a:r>
          </a:p>
          <a:p xmlns:a="http://schemas.openxmlformats.org/drawingml/2006/main">
            <a:r>
              <a:t>Sources</a:t>
            </a:r>
          </a:p>
          <a:p xmlns:a="http://schemas.openxmlformats.org/drawingml/2006/main">
            <a:r>
              <a:t>C:/Users/Dell/Downloads/midsem_report-v2-internvl.pdf — Conclusion and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15-minute talk. Release units are separate from executed prompt and intervention counts. The source pool has 3,000 downloaded official CLEVR images, 964 selected source scenes underlie the final release. The intervention execution profile caps Qwen at 64 usable pairs per split. Correct/correct conditioning selects successful cases. There are no yes/no questions. Dataset hash f5573e25f3aa2bf2. Image-aware hash eb7b79e56977bbaeed5fc981c5c8e09a4e26eaf8b1702283abe2d4bbfc718cbd. Official single images and locally rendered pairs have a domain difference. Screening-split availability does not establish completion of the full twelve-model screen.</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https://github.com/Rmehta-sudo/ANLP-project/blob/29b54e41054a120c45719ea48777bbe33a3bcd6c/consolidation/internvl35_8b_preliminary_32pair/README.md</a:t>
            </a:r>
          </a:p>
          <a:p xmlns:a="http://schemas.openxmlformats.org/drawingml/2006/main">
            <a:r>
              <a:t>https://github.com/Rmehta-sudo/ANLP-project/blob/29b54e41054a120c45719ea48777bbe33a3bcd6c/docs/research_log.md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15-minute talk. At a chosen layer, component or head, substitute donor activations into a recipient execution. Position scoring compares the donor-symbol logit with the recipient-symbol logit. Content scoring uses the corresponding content-token difference. Normalize patched movement by the clean donor-recipient difference. Do not call this accuracy or a share of model computation. Transfer supports a causal effect under this intervention, without automatically establishing necessity, uniqueness or a full circuit. Both clean conditions must pass correctness gates. Calibration validates intervention mechanics. All nine numerical gates passed in Qwen and all saved InternVL method shards passed. The separate difficulty-calibration run was skipped for budget.</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https://github.com/Rmehta-sudo/ANLP-project/blob/29b54e41054a120c45719ea48777bbe33a3bcd6c/consolidation/internvl35_8b_preliminary_32pair/README.md</a:t>
            </a:r>
          </a:p>
          <a:p xmlns:a="http://schemas.openxmlformats.org/drawingml/2006/main">
            <a:r>
              <a:t>https://github.com/Rmehta-sudo/ANLP-project/blob/29b54e41054a120c45719ea48777bbe33a3bcd6c/src/vlm_mcqa/core7/scoring.py</a:t>
            </a:r>
          </a:p>
          <a:p xmlns:a="http://schemas.openxmlformats.org/drawingml/2006/main">
            <a:r>
              <a:t>https://github.com/Rmehta-sudo/ANLP-project/blob/29b54e41054a120c45719ea48777bbe33a3bcd6c/src/vlm_mcqa/core7/contrasts.py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15-minute talk. Full Qwen M1/M2/M4–M7 source a2e142264b2130d2aef888d3860501fc4710d052. Corrected M3 source 554906643e9f02482faa50eaac8d2fe6d723db5e, freeze 4f991401f5cb7239. Qwen model cc594898137f460bfe9f0759e9844b3ce807cfb5. InternVL source 3cfdd806179df28767ae235244ba64a5dce94e70, snapshot 741a7d03020411e666c6109218ab71e08151ef86, freeze 997e96217c558045. Both bf16, SDPA, seed 0, batch 4. All heads in four tested layers is distinct from all decoder heads. Exact-size random controls, pair weighting and split disjointness are required. Full InternVL package and W&amp;B cloud sync remain unresolved in the inspected evidence.</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https://github.com/Rmehta-sudo/ANLP-project/blob/29b54e41054a120c45719ea48777bbe33a3bcd6c/docs/ai_handoff/qwen7b_m3_pairbalanced_rerun_audit_2026-10-01.md</a:t>
            </a:r>
          </a:p>
          <a:p xmlns:a="http://schemas.openxmlformats.org/drawingml/2006/main">
            <a:r>
              <a:t>https://github.com/Rmehta-sudo/ANLP-project/blob/29b54e41054a120c45719ea48777bbe33a3bcd6c/consolidation/internvl35_8b_preliminary_32pair/README.md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15-minute talk. Use precise saved values for any future plot; displayed numbers round to three decimals. The bootstrap intervals apply to selected top-K recovery, not the reference fraction or the 50% verdict itself. The random p95 is an empirical percentile over a finite set of control sets, not a p-value. Strong individual head-set effects do not establish a complete circuit. K16 can exceed the tested all-head effect in both models.</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https://github.com/Rmehta-sudo/ANLP-project/blob/29b54e41054a120c45719ea48777bbe33a3bcd6c/docs/ai_handoff/qwen7b_m3_pairbalanced_rerun_audit_2026-10-01.md</a:t>
            </a:r>
          </a:p>
          <a:p xmlns:a="http://schemas.openxmlformats.org/drawingml/2006/main">
            <a:r>
              <a:t>https://github.com/Rmehta-sudo/ANLP-project/blob/29b54e41054a120c45719ea48777bbe33a3bcd6c/consolidation/internvl35_8b_preliminary_32pair/README.md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15-minute talk. This replaces the ambiguous “remain separate evidence” bullet. It meant that results from different tasks, sample sizes and run profiles should keep their labels and should not be pooled into a single full-scale result. The early Shapes pilot and all smoke stages are included explicitly in report order. Both causal backbones are Qwen-lineage, limiting claims across architectures. InternVL full lenses and the long 64-pair sweep remain outside the audited report track. Readability does not locate first semantic computation; patching does not prove complete connecting edges.</a:t>
            </a:r>
          </a:p>
          <a:p xmlns:a="http://schemas.openxmlformats.org/drawingml/2006/main">
            <a:r>
              <a:t/>
            </a:r>
          </a:p>
          <a:p xmlns:a="http://schemas.openxmlformats.org/drawingml/2006/main">
            <a:r>
              <a:t>Sources</a:t>
            </a:r>
          </a:p>
          <a:p xmlns:a="http://schemas.openxmlformats.org/drawingml/2006/main">
            <a:r>
              <a:t>C:/Users/Dell/Downloads/midsem_report-v2-internvl.pdf — §§3–8 and Limitations</a:t>
            </a:r>
          </a:p>
          <a:p xmlns:a="http://schemas.openxmlformats.org/drawingml/2006/main">
            <a:r>
              <a:t>https://github.com/Rmehta-sudo/ANLP-project/blob/29b54e41054a120c45719ea48777bbe33a3bcd6c/scripts/context.md</a:t>
            </a:r>
          </a:p>
          <a:p xmlns:a="http://schemas.openxmlformats.org/drawingml/2006/main">
            <a:r>
              <a:t>https://github.com/Rmehta-sudo/ANLP-project/blob/29b54e41054a120c45719ea48777bbe33a3bcd6c/docs/ai_handoff/qwen7b_full_result_audit_2026-10-01.md</a:t>
            </a:r>
          </a:p>
          <a:p xmlns:a="http://schemas.openxmlformats.org/drawingml/2006/main">
            <a:r>
              <a:t>https://github.com/Rmehta-sudo/ANLP-project/blob/29b54e41054a120c45719ea48777bbe33a3bcd6c/consolidation/internvl35_8b_preliminary_32pair/README.md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15-minute talk. Readable local records: D:/college/Sem 5/ANLP/Project/ANLP-project/scripts/context.md and D:/college/Sem 5/ANLP/Project/ANLP-project/presentation/core7_smoke_update.pdf. The manuscript Table 4 agrees with the context table. The handoff records a git-ignored results/jatayu/ mirror, but that mirror is not present in the inspected local checkout. No server connection or new inference was performed. Screening table files are _selection/screening_table.md and .csv, plus screening_accuracy_vs_params.png and selection.json. Server is jatayu, recorded repository ~/ANLP-project. Comparison files include comparison.json, cross_model_normalized_depth.png and core7_completion_matrix.png. These are recorded locations, not a new live availability check.</a:t>
            </a:r>
          </a:p>
          <a:p xmlns:a="http://schemas.openxmlformats.org/drawingml/2006/main">
            <a:r>
              <a:t/>
            </a:r>
          </a:p>
          <a:p xmlns:a="http://schemas.openxmlformats.org/drawingml/2006/main">
            <a:r>
              <a:t>Sources</a:t>
            </a:r>
          </a:p>
          <a:p xmlns:a="http://schemas.openxmlformats.org/drawingml/2006/main">
            <a:r>
              <a:t>https://github.com/Rmehta-sudo/ANLP-project/blob/29b54e41054a120c45719ea48777bbe33a3bcd6c/scripts/context.md</a:t>
            </a:r>
          </a:p>
          <a:p xmlns:a="http://schemas.openxmlformats.org/drawingml/2006/main">
            <a:r>
              <a:t>https://github.com/Rmehta-sudo/ANLP-project/blob/29b54e41054a120c45719ea48777bbe33a3bcd6c/presentation/core7_smoke_update.pdf</a:t>
            </a:r>
          </a:p>
          <a:p xmlns:a="http://schemas.openxmlformats.org/drawingml/2006/main">
            <a:r>
              <a:t>C:/Users/Dell/Downloads/midsem_report-v2-internvl.pdf — Table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434a7ef41442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00fe40469a4069" /><Relationship Type="http://schemas.openxmlformats.org/officeDocument/2006/relationships/slideLayout" Target="/ppt/slideLayouts/slideLayout1.xml" Id="R282faad7179c42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2faad7179c42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8858b3e7834e69" /><Relationship Type="http://schemas.openxmlformats.org/officeDocument/2006/relationships/notesSlide" Target="/ppt/notesSlides/notesSlide1.xml" Id="R3dc06f97a69341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27ff1462f7485c" /><Relationship Type="http://schemas.openxmlformats.org/officeDocument/2006/relationships/notesSlide" Target="/ppt/notesSlides/notesSlide2.xml" Id="Rcf4f4ed347464b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050b165be04ee8" /><Relationship Type="http://schemas.openxmlformats.org/officeDocument/2006/relationships/notesSlide" Target="/ppt/notesSlides/notesSlide3.xml" Id="Re041ed1fecac49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5aad95cee8488f" /><Relationship Type="http://schemas.openxmlformats.org/officeDocument/2006/relationships/image" Target="/ppt/media/image.png" Id="Rbf2e9e03196d4e36" /><Relationship Type="http://schemas.openxmlformats.org/officeDocument/2006/relationships/notesSlide" Target="/ppt/notesSlides/notesSlide4.xml" Id="R32362758856d40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e7ad30a09f4467" /><Relationship Type="http://schemas.openxmlformats.org/officeDocument/2006/relationships/notesSlide" Target="/ppt/notesSlides/notesSlide5.xml" Id="Raf4f8ce2bac140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c75dbe760d4eb2" /><Relationship Type="http://schemas.openxmlformats.org/officeDocument/2006/relationships/notesSlide" Target="/ppt/notesSlides/notesSlide6.xml" Id="R1ec6e7c563ef44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919914e050416c" /><Relationship Type="http://schemas.openxmlformats.org/officeDocument/2006/relationships/image" Target="/ppt/media/image2.png" Id="Rfdd002191be24937" /><Relationship Type="http://schemas.openxmlformats.org/officeDocument/2006/relationships/image" Target="/ppt/media/image3.png" Id="Rc09bfc7252ca408c" /><Relationship Type="http://schemas.openxmlformats.org/officeDocument/2006/relationships/notesSlide" Target="/ppt/notesSlides/notesSlide7.xml" Id="R7f996cacb13546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81120f932e4760" /><Relationship Type="http://schemas.openxmlformats.org/officeDocument/2006/relationships/notesSlide" Target="/ppt/notesSlides/notesSlide8.xml" Id="R01265ce4eccc4e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55c961f5b54aed" /><Relationship Type="http://schemas.openxmlformats.org/officeDocument/2006/relationships/notesSlide" Target="/ppt/notesSlides/notesSlide9.xml" Id="R3532fa780af04f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88ac226d24d45ca" /><Relationship Type="http://schemas.openxmlformats.org/officeDocument/2006/relationships/notesSlide" Target="/ppt/notesSlides/notesSlide10.xml" Id="R7d4c04ded81e43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dacc85e6be4365" /><Relationship Type="http://schemas.openxmlformats.org/officeDocument/2006/relationships/chart" Target="/ppt/slides/charts/chart1.xml" Id="R418e5cdf443948d4" /><Relationship Type="http://schemas.openxmlformats.org/officeDocument/2006/relationships/notesSlide" Target="/ppt/notesSlides/notesSlide11.xml" Id="R3c4eec8256df4c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e985f7c218647dd" /><Relationship Type="http://schemas.openxmlformats.org/officeDocument/2006/relationships/chart" Target="/ppt/slides/charts/chart2.xml" Id="R26b82795341841d0" /><Relationship Type="http://schemas.openxmlformats.org/officeDocument/2006/relationships/chart" Target="/ppt/slides/charts/chart3.xml" Id="R78c85e8073784751" /><Relationship Type="http://schemas.openxmlformats.org/officeDocument/2006/relationships/notesSlide" Target="/ppt/notesSlides/notesSlide12.xml" Id="Rd857dc4f73674e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9165a20848a47b0" /><Relationship Type="http://schemas.openxmlformats.org/officeDocument/2006/relationships/chart" Target="/ppt/slides/charts/chart4.xml" Id="R565fef8da4034d65" /><Relationship Type="http://schemas.openxmlformats.org/officeDocument/2006/relationships/chart" Target="/ppt/slides/charts/chart5.xml" Id="R9898cc624a844498" /><Relationship Type="http://schemas.openxmlformats.org/officeDocument/2006/relationships/notesSlide" Target="/ppt/notesSlides/notesSlide13.xml" Id="Rc5ca94691b0046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fe4f3d1ad249d4" /><Relationship Type="http://schemas.openxmlformats.org/officeDocument/2006/relationships/chart" Target="/ppt/slides/charts/chart6.xml" Id="Rf095d260bc784f7b" /><Relationship Type="http://schemas.openxmlformats.org/officeDocument/2006/relationships/chart" Target="/ppt/slides/charts/chart7.xml" Id="R69e284b5b8164726" /><Relationship Type="http://schemas.openxmlformats.org/officeDocument/2006/relationships/notesSlide" Target="/ppt/notesSlides/notesSlide14.xml" Id="Raa823e85fdbc4e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4afe13a9d748aa" /><Relationship Type="http://schemas.openxmlformats.org/officeDocument/2006/relationships/chart" Target="/ppt/slides/charts/chart8.xml" Id="R9f0f6c2ef31340d8" /><Relationship Type="http://schemas.openxmlformats.org/officeDocument/2006/relationships/notesSlide" Target="/ppt/notesSlides/notesSlide15.xml" Id="R4537a77f61034c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646149feeb740fb" /><Relationship Type="http://schemas.openxmlformats.org/officeDocument/2006/relationships/chart" Target="/ppt/slides/charts/chart9.xml" Id="Rd298c4b7ae994fcf" /><Relationship Type="http://schemas.openxmlformats.org/officeDocument/2006/relationships/notesSlide" Target="/ppt/notesSlides/notesSlide16.xml" Id="Rc39d9e6ae2e140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2ed9966b4b8451e" /><Relationship Type="http://schemas.openxmlformats.org/officeDocument/2006/relationships/notesSlide" Target="/ppt/notesSlides/notesSlide17.xml" Id="R5eb58c09c417414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03da645cef4136" /><Relationship Type="http://schemas.openxmlformats.org/officeDocument/2006/relationships/notesSlide" Target="/ppt/notesSlides/notesSlide18.xml" Id="Ree5ebbeed12748a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c3b83a2b5904a11" /><Relationship Type="http://schemas.openxmlformats.org/officeDocument/2006/relationships/notesSlide" Target="/ppt/notesSlides/notesSlide19.xml" Id="R24fa12b4a75749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a02e72fe9e64018" /><Relationship Type="http://schemas.openxmlformats.org/officeDocument/2006/relationships/notesSlide" Target="/ppt/notesSlides/notesSlide20.xml" Id="R23a539e3dc3f4b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1d41791a7b44b0b" /><Relationship Type="http://schemas.openxmlformats.org/officeDocument/2006/relationships/notesSlide" Target="/ppt/notesSlides/notesSlide21.xml" Id="R4724ab48db2f453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7c5685037104140" /><Relationship Type="http://schemas.openxmlformats.org/officeDocument/2006/relationships/notesSlide" Target="/ppt/notesSlides/notesSlide22.xml" Id="Red455352944741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32b6f0c85fe4768" /><Relationship Type="http://schemas.openxmlformats.org/officeDocument/2006/relationships/notesSlide" Target="/ppt/notesSlides/notesSlide23.xml" Id="Rc890ccc6073f42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cec1050926146aa" /><Relationship Type="http://schemas.openxmlformats.org/officeDocument/2006/relationships/notesSlide" Target="/ppt/notesSlides/notesSlide24.xml" Id="Rdda85b06e3de4d4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3ed5c7a96334f39" /><Relationship Type="http://schemas.openxmlformats.org/officeDocument/2006/relationships/notesSlide" Target="/ppt/notesSlides/notesSlide25.xml" Id="R678bc21784004e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ABCD accuracy</c:v>
          </c:tx>
          <c:spPr>
            <a:solidFill xmlns:a="http://schemas.openxmlformats.org/drawingml/2006/main">
              <a:srgbClr val="1967D2"/>
            </a:solidFill>
          </c:spPr>
          <c:dPt>
            <c:idx val="1"/>
            <c:invertIfNegative val="0"/>
            <c:spPr>
              <a:solidFill xmlns:a="http://schemas.openxmlformats.org/drawingml/2006/main">
                <a:srgbClr val="18A7A0"/>
              </a:solidFill>
            </c:spPr>
          </c:dPt>
          <c:dPt>
            <c:idx val="2"/>
            <c:invertIfNegative val="0"/>
            <c:spPr>
              <a:solidFill xmlns:a="http://schemas.openxmlformats.org/drawingml/2006/main">
                <a:srgbClr val="E9A23B"/>
              </a:solidFill>
            </c:spPr>
          </c:dPt>
          <c:dPt>
            <c:idx val="3"/>
            <c:invertIfNegative val="0"/>
            <c:spPr>
              <a:solidFill xmlns:a="http://schemas.openxmlformats.org/drawingml/2006/main">
                <a:srgbClr val="5C667A"/>
              </a:solidFill>
            </c:spPr>
          </c:dPt>
          <c:dPt>
            <c:idx val="4"/>
            <c:invertIfNegative val="0"/>
            <c:spPr>
              <a:solidFill xmlns:a="http://schemas.openxmlformats.org/drawingml/2006/main">
                <a:srgbClr val="E76F51"/>
              </a:solidFill>
            </c:spPr>
          </c:dPt>
          <c:cat>
            <c:strRef>
              <c:f>'Chart Data'!$A$2:$A$6</c:f>
              <c:strCache>
                <c:ptCount val="5"/>
                <c:pt idx="0">
                  <c:v>A/B/C/D</c:v>
                </c:pt>
                <c:pt idx="1">
                  <c:v>1/2/3/4</c:v>
                </c:pt>
                <c:pt idx="2">
                  <c:v>Q/Z/R/X</c:v>
                </c:pt>
                <c:pt idx="3">
                  <c:v>Blank</c:v>
                </c:pt>
                <c:pt idx="4">
                  <c:v>Shuffled</c:v>
                </c:pt>
              </c:strCache>
            </c:strRef>
          </c:cat>
          <c:val>
            <c:numRef>
              <c:f>'Chart Data'!$B$2:$B$6</c:f>
              <c:numCache>
                <c:formatCode>0.0</c:formatCode>
                <c:ptCount val="5"/>
                <c:pt idx="0">
                  <c:v>83.69140625</c:v>
                </c:pt>
                <c:pt idx="1">
                  <c:v>80.2734375</c:v>
                </c:pt>
                <c:pt idx="2">
                  <c:v>82.2265625</c:v>
                </c:pt>
                <c:pt idx="3">
                  <c:v>28.515625</c:v>
                </c:pt>
                <c:pt idx="4">
                  <c:v>29.58984375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243A"/>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72768"/>
      </c:catAx>
      <c:valAx>
        <c:axId val="48672768"/>
        <c:scaling>
          <c:orientation val="minMax"/>
          <c:max val="100"/>
          <c:min val="0"/>
        </c:scaling>
        <c:delete val="0"/>
        <c:axPos val="l"/>
        <c:majorGridlines>
          <c:spPr>
            <a:ln xmlns:a="http://schemas.openxmlformats.org/drawingml/2006/main" w="5715">
              <a:solidFill>
                <a:srgbClr val="DADFE5"/>
              </a:solidFill>
            </a:ln>
          </c:spPr>
        </c:majorGridlines>
        <c:numFmt formatCode="0&quot;%&quot;"/>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50112"/>
        <c:crossBetween val="between"/>
        <c:majorUnit val="25"/>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Position</c:v>
          </c:tx>
          <c:spPr>
            <a:ln xmlns:a="http://schemas.openxmlformats.org/drawingml/2006/main" w="26670">
              <a:solidFill>
                <a:srgbClr val="1967D2"/>
              </a:solidFill>
              <a:prstDash val="solid"/>
            </a:ln>
          </c:spPr>
          <c:marker>
            <c:symbol val="none"/>
          </c:marker>
          <c:cat>
            <c:numRef>
              <c:f>'Chart Data'!$A$2:$A$29</c:f>
              <c:numCache>
                <c:formatCode>General</c:formatCode>
                <c:ptCount val="2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numCache>
            </c:numRef>
          </c:cat>
          <c:val>
            <c:numRef>
              <c:f>'Chart Data'!$B$2:$B$29</c:f>
              <c:numCache>
                <c:formatCode>0.00</c:formatCode>
                <c:ptCount val="28"/>
                <c:pt idx="0">
                  <c:v>-0.000151</c:v>
                </c:pt>
                <c:pt idx="1">
                  <c:v>-0.000394</c:v>
                </c:pt>
                <c:pt idx="2">
                  <c:v>-0.000542</c:v>
                </c:pt>
                <c:pt idx="3">
                  <c:v>-0.000184</c:v>
                </c:pt>
                <c:pt idx="4">
                  <c:v>-0.000413</c:v>
                </c:pt>
                <c:pt idx="5">
                  <c:v>-1.8E-05</c:v>
                </c:pt>
                <c:pt idx="6">
                  <c:v>-0.000134</c:v>
                </c:pt>
                <c:pt idx="7">
                  <c:v>-0.000468</c:v>
                </c:pt>
                <c:pt idx="8">
                  <c:v>-0.000146</c:v>
                </c:pt>
                <c:pt idx="9">
                  <c:v>-0.000184</c:v>
                </c:pt>
                <c:pt idx="10">
                  <c:v>4.2E-05</c:v>
                </c:pt>
                <c:pt idx="11">
                  <c:v>-0.000369</c:v>
                </c:pt>
                <c:pt idx="12">
                  <c:v>-1.7E-05</c:v>
                </c:pt>
                <c:pt idx="13">
                  <c:v>-0.000115</c:v>
                </c:pt>
                <c:pt idx="14">
                  <c:v>-8.2E-05</c:v>
                </c:pt>
                <c:pt idx="15">
                  <c:v>-0.000158</c:v>
                </c:pt>
                <c:pt idx="16">
                  <c:v>0.000202</c:v>
                </c:pt>
                <c:pt idx="17">
                  <c:v>0.000571</c:v>
                </c:pt>
                <c:pt idx="18">
                  <c:v>0.001888</c:v>
                </c:pt>
                <c:pt idx="19">
                  <c:v>0.042278</c:v>
                </c:pt>
                <c:pt idx="20">
                  <c:v>0.066383</c:v>
                </c:pt>
                <c:pt idx="21">
                  <c:v>0.067754</c:v>
                </c:pt>
                <c:pt idx="22">
                  <c:v>0.091461</c:v>
                </c:pt>
                <c:pt idx="23">
                  <c:v>0.120997</c:v>
                </c:pt>
                <c:pt idx="24">
                  <c:v>0.549221</c:v>
                </c:pt>
                <c:pt idx="25">
                  <c:v>0.590291</c:v>
                </c:pt>
                <c:pt idx="26">
                  <c:v>0.802438</c:v>
                </c:pt>
                <c:pt idx="27">
                  <c:v>1</c:v>
                </c:pt>
              </c:numCache>
            </c:numRef>
          </c:val>
          <c:smooth val="0"/>
        </c:ser>
        <c:ser>
          <c:idx val="1"/>
          <c:order val="1"/>
          <c:tx>
            <c:v>Content</c:v>
          </c:tx>
          <c:spPr>
            <a:ln xmlns:a="http://schemas.openxmlformats.org/drawingml/2006/main" w="26670">
              <a:solidFill>
                <a:srgbClr val="E76F51"/>
              </a:solidFill>
              <a:prstDash val="solid"/>
            </a:ln>
          </c:spPr>
          <c:marker>
            <c:symbol val="none"/>
          </c:marker>
          <c:cat>
            <c:numRef>
              <c:f>'Chart Data'!$C$2:$C$29</c:f>
              <c:numCache>
                <c:formatCode>General</c:formatCode>
                <c:ptCount val="2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numCache>
            </c:numRef>
          </c:cat>
          <c:val>
            <c:numRef>
              <c:f>'Chart Data'!$D$2:$D$29</c:f>
              <c:numCache>
                <c:formatCode>0.00</c:formatCode>
                <c:ptCount val="28"/>
                <c:pt idx="0">
                  <c:v>0.002023</c:v>
                </c:pt>
                <c:pt idx="1">
                  <c:v>0.002053</c:v>
                </c:pt>
                <c:pt idx="2">
                  <c:v>0.003108</c:v>
                </c:pt>
                <c:pt idx="3">
                  <c:v>0.001792</c:v>
                </c:pt>
                <c:pt idx="4">
                  <c:v>0.002293</c:v>
                </c:pt>
                <c:pt idx="5">
                  <c:v>0.001362</c:v>
                </c:pt>
                <c:pt idx="6">
                  <c:v>0.002176</c:v>
                </c:pt>
                <c:pt idx="7">
                  <c:v>0.001894</c:v>
                </c:pt>
                <c:pt idx="8">
                  <c:v>0.002933</c:v>
                </c:pt>
                <c:pt idx="9">
                  <c:v>0.002934</c:v>
                </c:pt>
                <c:pt idx="10">
                  <c:v>0.002305</c:v>
                </c:pt>
                <c:pt idx="11">
                  <c:v>0.001656</c:v>
                </c:pt>
                <c:pt idx="12">
                  <c:v>0.001889</c:v>
                </c:pt>
                <c:pt idx="13">
                  <c:v>0.00245</c:v>
                </c:pt>
                <c:pt idx="14">
                  <c:v>0.002277</c:v>
                </c:pt>
                <c:pt idx="15">
                  <c:v>0.000707</c:v>
                </c:pt>
                <c:pt idx="16">
                  <c:v>0.003918</c:v>
                </c:pt>
                <c:pt idx="17">
                  <c:v>0.002969</c:v>
                </c:pt>
                <c:pt idx="18">
                  <c:v>0.000745</c:v>
                </c:pt>
                <c:pt idx="19">
                  <c:v>0.071517</c:v>
                </c:pt>
                <c:pt idx="20">
                  <c:v>0.277785</c:v>
                </c:pt>
                <c:pt idx="21">
                  <c:v>0.307518</c:v>
                </c:pt>
                <c:pt idx="22">
                  <c:v>0.322994</c:v>
                </c:pt>
                <c:pt idx="23">
                  <c:v>0.367507</c:v>
                </c:pt>
                <c:pt idx="24">
                  <c:v>0.45373</c:v>
                </c:pt>
                <c:pt idx="25">
                  <c:v>0.527396</c:v>
                </c:pt>
                <c:pt idx="26">
                  <c:v>0.809623</c:v>
                </c:pt>
                <c:pt idx="27">
                  <c:v>0.999941</c:v>
                </c:pt>
              </c:numCache>
            </c:numRef>
          </c:val>
          <c:smooth val="0"/>
        </c:ser>
        <c:ser>
          <c:idx val="2"/>
          <c:order val="2"/>
          <c:tx>
            <c:v>Random donor</c:v>
          </c:tx>
          <c:spPr>
            <a:ln xmlns:a="http://schemas.openxmlformats.org/drawingml/2006/main" w="26670">
              <a:solidFill>
                <a:srgbClr val="5C667A"/>
              </a:solidFill>
              <a:prstDash val="dash"/>
            </a:ln>
          </c:spPr>
          <c:marker>
            <c:symbol val="none"/>
          </c:marker>
          <c:cat>
            <c:numRef>
              <c:f>'Chart Data'!$E$2:$E$29</c:f>
              <c:numCache>
                <c:formatCode>General</c:formatCode>
                <c:ptCount val="2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numCache>
            </c:numRef>
          </c:cat>
          <c:val>
            <c:numRef>
              <c:f>'Chart Data'!$F$2:$F$29</c:f>
              <c:numCache>
                <c:formatCode>0.00</c:formatCode>
                <c:ptCount val="28"/>
                <c:pt idx="0">
                  <c:v>-0.00278</c:v>
                </c:pt>
                <c:pt idx="1">
                  <c:v>-0.001799</c:v>
                </c:pt>
                <c:pt idx="2">
                  <c:v>-0.000354</c:v>
                </c:pt>
                <c:pt idx="3">
                  <c:v>-0.003025</c:v>
                </c:pt>
                <c:pt idx="4">
                  <c:v>-0.002076</c:v>
                </c:pt>
                <c:pt idx="5">
                  <c:v>-0.00271</c:v>
                </c:pt>
                <c:pt idx="6">
                  <c:v>-0.003106</c:v>
                </c:pt>
                <c:pt idx="7">
                  <c:v>-0.002765</c:v>
                </c:pt>
                <c:pt idx="8">
                  <c:v>-0.001878</c:v>
                </c:pt>
                <c:pt idx="9">
                  <c:v>-0.00215</c:v>
                </c:pt>
                <c:pt idx="10">
                  <c:v>-0.00235</c:v>
                </c:pt>
                <c:pt idx="11">
                  <c:v>-0.002004</c:v>
                </c:pt>
                <c:pt idx="12">
                  <c:v>-0.003145</c:v>
                </c:pt>
                <c:pt idx="13">
                  <c:v>-0.00233</c:v>
                </c:pt>
                <c:pt idx="14">
                  <c:v>0.000917</c:v>
                </c:pt>
                <c:pt idx="15">
                  <c:v>0.000365</c:v>
                </c:pt>
                <c:pt idx="16">
                  <c:v>0.00135</c:v>
                </c:pt>
                <c:pt idx="17">
                  <c:v>0.001234</c:v>
                </c:pt>
                <c:pt idx="18">
                  <c:v>0.037928</c:v>
                </c:pt>
                <c:pt idx="19">
                  <c:v>0.096085</c:v>
                </c:pt>
                <c:pt idx="20">
                  <c:v>0.167756</c:v>
                </c:pt>
                <c:pt idx="21">
                  <c:v>0.21554</c:v>
                </c:pt>
                <c:pt idx="22">
                  <c:v>0.249661</c:v>
                </c:pt>
                <c:pt idx="23">
                  <c:v>0.292456</c:v>
                </c:pt>
                <c:pt idx="24">
                  <c:v>0.648382</c:v>
                </c:pt>
                <c:pt idx="25">
                  <c:v>0.690119</c:v>
                </c:pt>
                <c:pt idx="26">
                  <c:v>0.893877</c:v>
                </c:pt>
                <c:pt idx="27">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Decoder layer (zero-based)</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72768"/>
      </c:catAx>
      <c:valAx>
        <c:axId val="48672768"/>
        <c:scaling>
          <c:orientation val="minMax"/>
          <c:max val="1.1"/>
          <c:min val="-0.25"/>
        </c:scaling>
        <c:delete val="0"/>
        <c:axPos val="l"/>
        <c:majorGridlines>
          <c:spPr>
            <a:ln xmlns:a="http://schemas.openxmlformats.org/drawingml/2006/main" w="5715">
              <a:solidFill>
                <a:srgbClr val="DADFE5"/>
              </a:solidFill>
            </a:ln>
          </c:spPr>
        </c:majorGridlines>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Normalized recovery</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0.00"/>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50112"/>
        <c:crossBetween val="between"/>
        <c:majorUnit val="0.25"/>
      </c:valAx>
      <c:spPr>
        <a:solidFill xmlns:a="http://schemas.openxmlformats.org/drawingml/2006/main">
          <a:srgbClr val="F7F5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legend>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Position</c:v>
          </c:tx>
          <c:spPr>
            <a:ln xmlns:a="http://schemas.openxmlformats.org/drawingml/2006/main" w="26670">
              <a:solidFill>
                <a:srgbClr val="1967D2"/>
              </a:solidFill>
              <a:prstDash val="solid"/>
            </a:ln>
          </c:spPr>
          <c:marker>
            <c:symbol val="none"/>
          </c:marker>
          <c:cat>
            <c:numRef>
              <c:f>'Chart Data'!$A$2:$A$37</c:f>
              <c:numCache>
                <c:formatCode>General</c:formatCode>
                <c:ptCount val="3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numCache>
            </c:numRef>
          </c:cat>
          <c:val>
            <c:numRef>
              <c:f>'Chart Data'!$B$2:$B$37</c:f>
              <c:numCache>
                <c:formatCode>0.00</c:formatCode>
                <c:ptCount val="36"/>
                <c:pt idx="0">
                  <c:v>-0.002416</c:v>
                </c:pt>
                <c:pt idx="1">
                  <c:v>-0.002513</c:v>
                </c:pt>
                <c:pt idx="2">
                  <c:v>-0.002214</c:v>
                </c:pt>
                <c:pt idx="3">
                  <c:v>-0.001844</c:v>
                </c:pt>
                <c:pt idx="4">
                  <c:v>-0.001633</c:v>
                </c:pt>
                <c:pt idx="5">
                  <c:v>-0.003111</c:v>
                </c:pt>
                <c:pt idx="6">
                  <c:v>-0.001263</c:v>
                </c:pt>
                <c:pt idx="7">
                  <c:v>-0.000788</c:v>
                </c:pt>
                <c:pt idx="8">
                  <c:v>-0.001791</c:v>
                </c:pt>
                <c:pt idx="9">
                  <c:v>-0.00244</c:v>
                </c:pt>
                <c:pt idx="10">
                  <c:v>-0.000887</c:v>
                </c:pt>
                <c:pt idx="11">
                  <c:v>-0.002101</c:v>
                </c:pt>
                <c:pt idx="12">
                  <c:v>-0.001856</c:v>
                </c:pt>
                <c:pt idx="13">
                  <c:v>-0.000412</c:v>
                </c:pt>
                <c:pt idx="14">
                  <c:v>-0.002508</c:v>
                </c:pt>
                <c:pt idx="15">
                  <c:v>-0.00231</c:v>
                </c:pt>
                <c:pt idx="16">
                  <c:v>-3.7E-05</c:v>
                </c:pt>
                <c:pt idx="17">
                  <c:v>-0.00212</c:v>
                </c:pt>
                <c:pt idx="18">
                  <c:v>-0.000907</c:v>
                </c:pt>
                <c:pt idx="19">
                  <c:v>-0.004091</c:v>
                </c:pt>
                <c:pt idx="20">
                  <c:v>-0.00218</c:v>
                </c:pt>
                <c:pt idx="21">
                  <c:v>-0.002519</c:v>
                </c:pt>
                <c:pt idx="22">
                  <c:v>-0.00708</c:v>
                </c:pt>
                <c:pt idx="23">
                  <c:v>-0.004665</c:v>
                </c:pt>
                <c:pt idx="24">
                  <c:v>0.352151</c:v>
                </c:pt>
                <c:pt idx="25">
                  <c:v>0.349188</c:v>
                </c:pt>
                <c:pt idx="26">
                  <c:v>0.391036</c:v>
                </c:pt>
                <c:pt idx="27">
                  <c:v>0.42879</c:v>
                </c:pt>
                <c:pt idx="28">
                  <c:v>0.459107</c:v>
                </c:pt>
                <c:pt idx="29">
                  <c:v>0.541659</c:v>
                </c:pt>
                <c:pt idx="30">
                  <c:v>0.661173</c:v>
                </c:pt>
                <c:pt idx="31">
                  <c:v>0.664657</c:v>
                </c:pt>
                <c:pt idx="32">
                  <c:v>0.673318</c:v>
                </c:pt>
                <c:pt idx="33">
                  <c:v>0.676648</c:v>
                </c:pt>
                <c:pt idx="34">
                  <c:v>0.70378</c:v>
                </c:pt>
                <c:pt idx="35">
                  <c:v>1</c:v>
                </c:pt>
              </c:numCache>
            </c:numRef>
          </c:val>
          <c:smooth val="0"/>
        </c:ser>
        <c:ser>
          <c:idx val="1"/>
          <c:order val="1"/>
          <c:tx>
            <c:v>Content</c:v>
          </c:tx>
          <c:spPr>
            <a:ln xmlns:a="http://schemas.openxmlformats.org/drawingml/2006/main" w="26670">
              <a:solidFill>
                <a:srgbClr val="E76F51"/>
              </a:solidFill>
              <a:prstDash val="solid"/>
            </a:ln>
          </c:spPr>
          <c:marker>
            <c:symbol val="none"/>
          </c:marker>
          <c:cat>
            <c:numRef>
              <c:f>'Chart Data'!$C$2:$C$37</c:f>
              <c:numCache>
                <c:formatCode>General</c:formatCode>
                <c:ptCount val="3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numCache>
            </c:numRef>
          </c:cat>
          <c:val>
            <c:numRef>
              <c:f>'Chart Data'!$D$2:$D$37</c:f>
              <c:numCache>
                <c:formatCode>0.00</c:formatCode>
                <c:ptCount val="36"/>
                <c:pt idx="0">
                  <c:v>0.004855</c:v>
                </c:pt>
                <c:pt idx="1">
                  <c:v>0.003375</c:v>
                </c:pt>
                <c:pt idx="2">
                  <c:v>0.004711</c:v>
                </c:pt>
                <c:pt idx="3">
                  <c:v>0.005217</c:v>
                </c:pt>
                <c:pt idx="4">
                  <c:v>0.005288</c:v>
                </c:pt>
                <c:pt idx="5">
                  <c:v>0.005486</c:v>
                </c:pt>
                <c:pt idx="6">
                  <c:v>0.004413</c:v>
                </c:pt>
                <c:pt idx="7">
                  <c:v>0.004028</c:v>
                </c:pt>
                <c:pt idx="8">
                  <c:v>0.005145</c:v>
                </c:pt>
                <c:pt idx="9">
                  <c:v>0.004642</c:v>
                </c:pt>
                <c:pt idx="10">
                  <c:v>0.00657</c:v>
                </c:pt>
                <c:pt idx="11">
                  <c:v>0.004224</c:v>
                </c:pt>
                <c:pt idx="12">
                  <c:v>0.004814</c:v>
                </c:pt>
                <c:pt idx="13">
                  <c:v>0.005019</c:v>
                </c:pt>
                <c:pt idx="14">
                  <c:v>0.003961</c:v>
                </c:pt>
                <c:pt idx="15">
                  <c:v>0.005065</c:v>
                </c:pt>
                <c:pt idx="16">
                  <c:v>0.005347</c:v>
                </c:pt>
                <c:pt idx="17">
                  <c:v>0.004367</c:v>
                </c:pt>
                <c:pt idx="18">
                  <c:v>0.003583</c:v>
                </c:pt>
                <c:pt idx="19">
                  <c:v>0.001802</c:v>
                </c:pt>
                <c:pt idx="20">
                  <c:v>0.005022</c:v>
                </c:pt>
                <c:pt idx="21">
                  <c:v>0.020349</c:v>
                </c:pt>
                <c:pt idx="22">
                  <c:v>0.038903</c:v>
                </c:pt>
                <c:pt idx="23">
                  <c:v>0.101377</c:v>
                </c:pt>
                <c:pt idx="24">
                  <c:v>0.254814</c:v>
                </c:pt>
                <c:pt idx="25">
                  <c:v>0.275628</c:v>
                </c:pt>
                <c:pt idx="26">
                  <c:v>0.320241</c:v>
                </c:pt>
                <c:pt idx="27">
                  <c:v>0.381303</c:v>
                </c:pt>
                <c:pt idx="28">
                  <c:v>0.365115</c:v>
                </c:pt>
                <c:pt idx="29">
                  <c:v>0.384492</c:v>
                </c:pt>
                <c:pt idx="30">
                  <c:v>0.473929</c:v>
                </c:pt>
                <c:pt idx="31">
                  <c:v>0.546311</c:v>
                </c:pt>
                <c:pt idx="32">
                  <c:v>0.586909</c:v>
                </c:pt>
                <c:pt idx="33">
                  <c:v>0.649685</c:v>
                </c:pt>
                <c:pt idx="34">
                  <c:v>0.886389</c:v>
                </c:pt>
                <c:pt idx="35">
                  <c:v>1</c:v>
                </c:pt>
              </c:numCache>
            </c:numRef>
          </c:val>
          <c:smooth val="0"/>
        </c:ser>
        <c:ser>
          <c:idx val="2"/>
          <c:order val="2"/>
          <c:tx>
            <c:v>Random donor</c:v>
          </c:tx>
          <c:spPr>
            <a:ln xmlns:a="http://schemas.openxmlformats.org/drawingml/2006/main" w="26670">
              <a:solidFill>
                <a:srgbClr val="5C667A"/>
              </a:solidFill>
              <a:prstDash val="dash"/>
            </a:ln>
          </c:spPr>
          <c:marker>
            <c:symbol val="none"/>
          </c:marker>
          <c:cat>
            <c:numRef>
              <c:f>'Chart Data'!$E$2:$E$37</c:f>
              <c:numCache>
                <c:formatCode>General</c:formatCode>
                <c:ptCount val="3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numCache>
            </c:numRef>
          </c:cat>
          <c:val>
            <c:numRef>
              <c:f>'Chart Data'!$F$2:$F$37</c:f>
              <c:numCache>
                <c:formatCode>0.00</c:formatCode>
                <c:ptCount val="36"/>
                <c:pt idx="0">
                  <c:v>0.002146</c:v>
                </c:pt>
                <c:pt idx="1">
                  <c:v>0.000307</c:v>
                </c:pt>
                <c:pt idx="2">
                  <c:v>0.000447</c:v>
                </c:pt>
                <c:pt idx="3">
                  <c:v>0.001209</c:v>
                </c:pt>
                <c:pt idx="4">
                  <c:v>0.000743</c:v>
                </c:pt>
                <c:pt idx="5">
                  <c:v>0.00185</c:v>
                </c:pt>
                <c:pt idx="6">
                  <c:v>0.001613</c:v>
                </c:pt>
                <c:pt idx="7">
                  <c:v>0.000933</c:v>
                </c:pt>
                <c:pt idx="8">
                  <c:v>-7.9E-05</c:v>
                </c:pt>
                <c:pt idx="9">
                  <c:v>0.001392</c:v>
                </c:pt>
                <c:pt idx="10">
                  <c:v>0.001873</c:v>
                </c:pt>
                <c:pt idx="11">
                  <c:v>0.002914</c:v>
                </c:pt>
                <c:pt idx="12">
                  <c:v>0.002775</c:v>
                </c:pt>
                <c:pt idx="13">
                  <c:v>0.003647</c:v>
                </c:pt>
                <c:pt idx="14">
                  <c:v>0.002043</c:v>
                </c:pt>
                <c:pt idx="15">
                  <c:v>0.002868</c:v>
                </c:pt>
                <c:pt idx="16">
                  <c:v>0.001444</c:v>
                </c:pt>
                <c:pt idx="17">
                  <c:v>0.00046</c:v>
                </c:pt>
                <c:pt idx="18">
                  <c:v>0.003841</c:v>
                </c:pt>
                <c:pt idx="19">
                  <c:v>0.009016</c:v>
                </c:pt>
                <c:pt idx="20">
                  <c:v>0.023175</c:v>
                </c:pt>
                <c:pt idx="21">
                  <c:v>0.053223</c:v>
                </c:pt>
                <c:pt idx="22">
                  <c:v>0.052853</c:v>
                </c:pt>
                <c:pt idx="23">
                  <c:v>0.06245</c:v>
                </c:pt>
                <c:pt idx="24">
                  <c:v>0.46703</c:v>
                </c:pt>
                <c:pt idx="25">
                  <c:v>0.511832</c:v>
                </c:pt>
                <c:pt idx="26">
                  <c:v>0.55223</c:v>
                </c:pt>
                <c:pt idx="27">
                  <c:v>0.603472</c:v>
                </c:pt>
                <c:pt idx="28">
                  <c:v>0.630876</c:v>
                </c:pt>
                <c:pt idx="29">
                  <c:v>0.682511</c:v>
                </c:pt>
                <c:pt idx="30">
                  <c:v>0.798032</c:v>
                </c:pt>
                <c:pt idx="31">
                  <c:v>0.796302</c:v>
                </c:pt>
                <c:pt idx="32">
                  <c:v>0.801721</c:v>
                </c:pt>
                <c:pt idx="33">
                  <c:v>0.803687</c:v>
                </c:pt>
                <c:pt idx="34">
                  <c:v>0.81999</c:v>
                </c:pt>
                <c:pt idx="35">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Decoder layer (zero-based)</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72768"/>
      </c:catAx>
      <c:valAx>
        <c:axId val="48672768"/>
        <c:scaling>
          <c:orientation val="minMax"/>
          <c:max val="1.1"/>
          <c:min val="-0.25"/>
        </c:scaling>
        <c:delete val="0"/>
        <c:axPos val="l"/>
        <c:majorGridlines>
          <c:spPr>
            <a:ln xmlns:a="http://schemas.openxmlformats.org/drawingml/2006/main" w="5715">
              <a:solidFill>
                <a:srgbClr val="DADFE5"/>
              </a:solidFill>
            </a:ln>
          </c:spPr>
        </c:majorGridlines>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Normalized recovery</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0.00"/>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50112"/>
        <c:crossBetween val="between"/>
        <c:majorUnit val="0.25"/>
      </c:valAx>
      <c:spPr>
        <a:solidFill xmlns:a="http://schemas.openxmlformats.org/drawingml/2006/main">
          <a:srgbClr val="F7F5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legend>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Image</c:v>
          </c:tx>
          <c:spPr>
            <a:ln xmlns:a="http://schemas.openxmlformats.org/drawingml/2006/main" w="26670">
              <a:solidFill>
                <a:srgbClr val="1967D2"/>
              </a:solidFill>
              <a:prstDash val="solid"/>
            </a:ln>
          </c:spPr>
          <c:marker>
            <c:symbol val="none"/>
          </c:marker>
          <c:cat>
            <c:numRef>
              <c:f>'Chart Data'!$A$2:$A$16</c:f>
              <c:numCache>
                <c:formatCode>General</c:formatCode>
                <c:ptCount val="15"/>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27</c:v>
                </c:pt>
              </c:numCache>
            </c:numRef>
          </c:cat>
          <c:val>
            <c:numRef>
              <c:f>'Chart Data'!$B$2:$B$16</c:f>
              <c:numCache>
                <c:formatCode>0.00</c:formatCode>
                <c:ptCount val="15"/>
                <c:pt idx="0">
                  <c:v>1.004569</c:v>
                </c:pt>
                <c:pt idx="1">
                  <c:v>1.004829</c:v>
                </c:pt>
                <c:pt idx="2">
                  <c:v>1.003976</c:v>
                </c:pt>
                <c:pt idx="3">
                  <c:v>1.004609</c:v>
                </c:pt>
                <c:pt idx="4">
                  <c:v>0.992268</c:v>
                </c:pt>
                <c:pt idx="5">
                  <c:v>0.987911</c:v>
                </c:pt>
                <c:pt idx="6">
                  <c:v>0.96927</c:v>
                </c:pt>
                <c:pt idx="7">
                  <c:v>0.727405</c:v>
                </c:pt>
                <c:pt idx="8">
                  <c:v>0.190075</c:v>
                </c:pt>
                <c:pt idx="9">
                  <c:v>0.150907</c:v>
                </c:pt>
                <c:pt idx="10">
                  <c:v>0.077684</c:v>
                </c:pt>
                <c:pt idx="11">
                  <c:v>0.066711</c:v>
                </c:pt>
                <c:pt idx="12">
                  <c:v>0.050662</c:v>
                </c:pt>
                <c:pt idx="13">
                  <c:v>0.024201</c:v>
                </c:pt>
                <c:pt idx="14">
                  <c:v>0.001946</c:v>
                </c:pt>
              </c:numCache>
            </c:numRef>
          </c:val>
          <c:smooth val="0"/>
        </c:ser>
        <c:ser>
          <c:idx val="1"/>
          <c:order val="1"/>
          <c:tx>
            <c:v>Option content</c:v>
          </c:tx>
          <c:spPr>
            <a:ln xmlns:a="http://schemas.openxmlformats.org/drawingml/2006/main" w="26670">
              <a:solidFill>
                <a:srgbClr val="18A7A0"/>
              </a:solidFill>
              <a:prstDash val="solid"/>
            </a:ln>
          </c:spPr>
          <c:marker>
            <c:symbol val="none"/>
          </c:marker>
          <c:cat>
            <c:numRef>
              <c:f>'Chart Data'!$C$2:$C$16</c:f>
              <c:numCache>
                <c:formatCode>General</c:formatCode>
                <c:ptCount val="15"/>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27</c:v>
                </c:pt>
              </c:numCache>
            </c:numRef>
          </c:cat>
          <c:val>
            <c:numRef>
              <c:f>'Chart Data'!$D$2:$D$16</c:f>
              <c:numCache>
                <c:formatCode>0.00</c:formatCode>
                <c:ptCount val="15"/>
                <c:pt idx="0">
                  <c:v>-0.004041</c:v>
                </c:pt>
                <c:pt idx="1">
                  <c:v>-0.001201</c:v>
                </c:pt>
                <c:pt idx="2">
                  <c:v>0.006577</c:v>
                </c:pt>
                <c:pt idx="3">
                  <c:v>0.006245</c:v>
                </c:pt>
                <c:pt idx="4">
                  <c:v>0.016888</c:v>
                </c:pt>
                <c:pt idx="5">
                  <c:v>0.020855</c:v>
                </c:pt>
                <c:pt idx="6">
                  <c:v>0.020506</c:v>
                </c:pt>
                <c:pt idx="7">
                  <c:v>0.102365</c:v>
                </c:pt>
                <c:pt idx="8">
                  <c:v>0.361538</c:v>
                </c:pt>
                <c:pt idx="9">
                  <c:v>0.423859</c:v>
                </c:pt>
                <c:pt idx="10">
                  <c:v>0.393789</c:v>
                </c:pt>
                <c:pt idx="11">
                  <c:v>0.377146</c:v>
                </c:pt>
                <c:pt idx="12">
                  <c:v>0.286639</c:v>
                </c:pt>
                <c:pt idx="13">
                  <c:v>0.16664</c:v>
                </c:pt>
                <c:pt idx="14">
                  <c:v>0.001946</c:v>
                </c:pt>
              </c:numCache>
            </c:numRef>
          </c:val>
          <c:smooth val="0"/>
        </c:ser>
        <c:ser>
          <c:idx val="2"/>
          <c:order val="2"/>
          <c:tx>
            <c:v>Question</c:v>
          </c:tx>
          <c:spPr>
            <a:ln xmlns:a="http://schemas.openxmlformats.org/drawingml/2006/main" w="26670">
              <a:solidFill>
                <a:srgbClr val="E76F51"/>
              </a:solidFill>
              <a:prstDash val="solid"/>
            </a:ln>
          </c:spPr>
          <c:marker>
            <c:symbol val="none"/>
          </c:marker>
          <c:cat>
            <c:numRef>
              <c:f>'Chart Data'!$E$2:$E$16</c:f>
              <c:numCache>
                <c:formatCode>General</c:formatCode>
                <c:ptCount val="15"/>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27</c:v>
                </c:pt>
              </c:numCache>
            </c:numRef>
          </c:cat>
          <c:val>
            <c:numRef>
              <c:f>'Chart Data'!$F$2:$F$16</c:f>
              <c:numCache>
                <c:formatCode>0.00</c:formatCode>
                <c:ptCount val="15"/>
                <c:pt idx="0">
                  <c:v>0.003012</c:v>
                </c:pt>
                <c:pt idx="1">
                  <c:v>0.002612</c:v>
                </c:pt>
                <c:pt idx="2">
                  <c:v>0.004797</c:v>
                </c:pt>
                <c:pt idx="3">
                  <c:v>0.004539</c:v>
                </c:pt>
                <c:pt idx="4">
                  <c:v>0.015024</c:v>
                </c:pt>
                <c:pt idx="5">
                  <c:v>0.01704</c:v>
                </c:pt>
                <c:pt idx="6">
                  <c:v>0.028948</c:v>
                </c:pt>
                <c:pt idx="7">
                  <c:v>0.147069</c:v>
                </c:pt>
                <c:pt idx="8">
                  <c:v>0.327093</c:v>
                </c:pt>
                <c:pt idx="9">
                  <c:v>0.170685</c:v>
                </c:pt>
                <c:pt idx="10">
                  <c:v>0.066173</c:v>
                </c:pt>
                <c:pt idx="11">
                  <c:v>0.057421</c:v>
                </c:pt>
                <c:pt idx="12">
                  <c:v>0.059984</c:v>
                </c:pt>
                <c:pt idx="13">
                  <c:v>0.003035</c:v>
                </c:pt>
                <c:pt idx="14">
                  <c:v>0.001946</c:v>
                </c:pt>
              </c:numCache>
            </c:numRef>
          </c:val>
          <c:smooth val="0"/>
        </c:ser>
        <c:ser>
          <c:idx val="3"/>
          <c:order val="3"/>
          <c:tx>
            <c:v>Option labels</c:v>
          </c:tx>
          <c:spPr>
            <a:ln xmlns:a="http://schemas.openxmlformats.org/drawingml/2006/main" w="26670">
              <a:solidFill>
                <a:srgbClr val="E9A23B"/>
              </a:solidFill>
              <a:prstDash val="solid"/>
            </a:ln>
          </c:spPr>
          <c:marker>
            <c:symbol val="none"/>
          </c:marker>
          <c:cat>
            <c:numRef>
              <c:f>'Chart Data'!$G$2:$G$16</c:f>
              <c:numCache>
                <c:formatCode>General</c:formatCode>
                <c:ptCount val="15"/>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27</c:v>
                </c:pt>
              </c:numCache>
            </c:numRef>
          </c:cat>
          <c:val>
            <c:numRef>
              <c:f>'Chart Data'!$H$2:$H$16</c:f>
              <c:numCache>
                <c:formatCode>0.00</c:formatCode>
                <c:ptCount val="15"/>
                <c:pt idx="0">
                  <c:v>0.002059</c:v>
                </c:pt>
                <c:pt idx="1">
                  <c:v>0.003327</c:v>
                </c:pt>
                <c:pt idx="2">
                  <c:v>0.003252</c:v>
                </c:pt>
                <c:pt idx="3">
                  <c:v>0.003259</c:v>
                </c:pt>
                <c:pt idx="4">
                  <c:v>0.003152</c:v>
                </c:pt>
                <c:pt idx="5">
                  <c:v>0.002588</c:v>
                </c:pt>
                <c:pt idx="6">
                  <c:v>0.004339</c:v>
                </c:pt>
                <c:pt idx="7">
                  <c:v>0.005176</c:v>
                </c:pt>
                <c:pt idx="8">
                  <c:v>0.005677</c:v>
                </c:pt>
                <c:pt idx="9">
                  <c:v>0.001028</c:v>
                </c:pt>
                <c:pt idx="10">
                  <c:v>0.00328</c:v>
                </c:pt>
                <c:pt idx="11">
                  <c:v>-0.002433</c:v>
                </c:pt>
                <c:pt idx="12">
                  <c:v>0.002332</c:v>
                </c:pt>
                <c:pt idx="13">
                  <c:v>0.002488</c:v>
                </c:pt>
                <c:pt idx="14">
                  <c:v>0.001946</c:v>
                </c:pt>
              </c:numCache>
            </c:numRef>
          </c: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Decoder layer (zero-based)</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72768"/>
      </c:catAx>
      <c:valAx>
        <c:axId val="48672768"/>
        <c:scaling>
          <c:orientation val="minMax"/>
          <c:max val="1.25"/>
          <c:min val="-0.25"/>
        </c:scaling>
        <c:delete val="0"/>
        <c:axPos val="l"/>
        <c:majorGridlines>
          <c:spPr>
            <a:ln xmlns:a="http://schemas.openxmlformats.org/drawingml/2006/main" w="5715">
              <a:solidFill>
                <a:srgbClr val="DADFE5"/>
              </a:solidFill>
            </a:ln>
          </c:spPr>
        </c:majorGridlines>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Normalized recovery</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0.00"/>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50112"/>
        <c:crossBetween val="between"/>
        <c:majorUnit val="0.25"/>
      </c:valAx>
      <c:spPr>
        <a:solidFill xmlns:a="http://schemas.openxmlformats.org/drawingml/2006/main">
          <a:srgbClr val="F7F5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legend>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Image</c:v>
          </c:tx>
          <c:spPr>
            <a:ln xmlns:a="http://schemas.openxmlformats.org/drawingml/2006/main" w="26670">
              <a:solidFill>
                <a:srgbClr val="1967D2"/>
              </a:solidFill>
              <a:prstDash val="solid"/>
            </a:ln>
          </c:spPr>
          <c:marker>
            <c:symbol val="none"/>
          </c:marker>
          <c:cat>
            <c:numRef>
              <c:f>'Chart Data'!$A$2:$A$20</c:f>
              <c:numCache>
                <c:formatCode>General</c:formatCode>
                <c:ptCount val="19"/>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35</c:v>
                </c:pt>
              </c:numCache>
            </c:numRef>
          </c:cat>
          <c:val>
            <c:numRef>
              <c:f>'Chart Data'!$B$2:$B$20</c:f>
              <c:numCache>
                <c:formatCode>0.00</c:formatCode>
                <c:ptCount val="19"/>
                <c:pt idx="0">
                  <c:v>1.030881</c:v>
                </c:pt>
                <c:pt idx="1">
                  <c:v>1.029388</c:v>
                </c:pt>
                <c:pt idx="2">
                  <c:v>1.032952</c:v>
                </c:pt>
                <c:pt idx="3">
                  <c:v>1.02725</c:v>
                </c:pt>
                <c:pt idx="4">
                  <c:v>1.02774</c:v>
                </c:pt>
                <c:pt idx="5">
                  <c:v>1.028107</c:v>
                </c:pt>
                <c:pt idx="6">
                  <c:v>1.024841</c:v>
                </c:pt>
                <c:pt idx="7">
                  <c:v>1.014981</c:v>
                </c:pt>
                <c:pt idx="8">
                  <c:v>0.87132</c:v>
                </c:pt>
                <c:pt idx="9">
                  <c:v>0.609743</c:v>
                </c:pt>
                <c:pt idx="10">
                  <c:v>0.23502</c:v>
                </c:pt>
                <c:pt idx="11">
                  <c:v>0.151779</c:v>
                </c:pt>
                <c:pt idx="12">
                  <c:v>0.105845</c:v>
                </c:pt>
                <c:pt idx="13">
                  <c:v>0.089646</c:v>
                </c:pt>
                <c:pt idx="14">
                  <c:v>0.097941</c:v>
                </c:pt>
                <c:pt idx="15">
                  <c:v>0.073398</c:v>
                </c:pt>
                <c:pt idx="16">
                  <c:v>0.040929</c:v>
                </c:pt>
                <c:pt idx="17">
                  <c:v>0.005206</c:v>
                </c:pt>
                <c:pt idx="18">
                  <c:v>0.005869</c:v>
                </c:pt>
              </c:numCache>
            </c:numRef>
          </c:val>
          <c:smooth val="0"/>
        </c:ser>
        <c:ser>
          <c:idx val="1"/>
          <c:order val="1"/>
          <c:tx>
            <c:v>Option content</c:v>
          </c:tx>
          <c:spPr>
            <a:ln xmlns:a="http://schemas.openxmlformats.org/drawingml/2006/main" w="26670">
              <a:solidFill>
                <a:srgbClr val="18A7A0"/>
              </a:solidFill>
              <a:prstDash val="solid"/>
            </a:ln>
          </c:spPr>
          <c:marker>
            <c:symbol val="none"/>
          </c:marker>
          <c:cat>
            <c:numRef>
              <c:f>'Chart Data'!$C$2:$C$20</c:f>
              <c:numCache>
                <c:formatCode>General</c:formatCode>
                <c:ptCount val="19"/>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35</c:v>
                </c:pt>
              </c:numCache>
            </c:numRef>
          </c:cat>
          <c:val>
            <c:numRef>
              <c:f>'Chart Data'!$D$2:$D$20</c:f>
              <c:numCache>
                <c:formatCode>0.00</c:formatCode>
                <c:ptCount val="19"/>
                <c:pt idx="0">
                  <c:v>-0.034759</c:v>
                </c:pt>
                <c:pt idx="1">
                  <c:v>-0.034385</c:v>
                </c:pt>
                <c:pt idx="2">
                  <c:v>-0.034941</c:v>
                </c:pt>
                <c:pt idx="3">
                  <c:v>-0.025184</c:v>
                </c:pt>
                <c:pt idx="4">
                  <c:v>-0.014523</c:v>
                </c:pt>
                <c:pt idx="5">
                  <c:v>-0.009305</c:v>
                </c:pt>
                <c:pt idx="6">
                  <c:v>-0.019407</c:v>
                </c:pt>
                <c:pt idx="7">
                  <c:v>-0.010554</c:v>
                </c:pt>
                <c:pt idx="8">
                  <c:v>0.083584</c:v>
                </c:pt>
                <c:pt idx="9">
                  <c:v>0.137406</c:v>
                </c:pt>
                <c:pt idx="10">
                  <c:v>0.277436</c:v>
                </c:pt>
                <c:pt idx="11">
                  <c:v>0.288906</c:v>
                </c:pt>
                <c:pt idx="12">
                  <c:v>0.208489</c:v>
                </c:pt>
                <c:pt idx="13">
                  <c:v>0.198712</c:v>
                </c:pt>
                <c:pt idx="14">
                  <c:v>0.191727</c:v>
                </c:pt>
                <c:pt idx="15">
                  <c:v>0.151226</c:v>
                </c:pt>
                <c:pt idx="16">
                  <c:v>0.078724</c:v>
                </c:pt>
                <c:pt idx="17">
                  <c:v>-0.013307</c:v>
                </c:pt>
                <c:pt idx="18">
                  <c:v>0.005869</c:v>
                </c:pt>
              </c:numCache>
            </c:numRef>
          </c:val>
          <c:smooth val="0"/>
        </c:ser>
        <c:ser>
          <c:idx val="2"/>
          <c:order val="2"/>
          <c:tx>
            <c:v>Question</c:v>
          </c:tx>
          <c:spPr>
            <a:ln xmlns:a="http://schemas.openxmlformats.org/drawingml/2006/main" w="26670">
              <a:solidFill>
                <a:srgbClr val="E76F51"/>
              </a:solidFill>
              <a:prstDash val="solid"/>
            </a:ln>
          </c:spPr>
          <c:marker>
            <c:symbol val="none"/>
          </c:marker>
          <c:cat>
            <c:numRef>
              <c:f>'Chart Data'!$E$2:$E$20</c:f>
              <c:numCache>
                <c:formatCode>General</c:formatCode>
                <c:ptCount val="19"/>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35</c:v>
                </c:pt>
              </c:numCache>
            </c:numRef>
          </c:cat>
          <c:val>
            <c:numRef>
              <c:f>'Chart Data'!$F$2:$F$20</c:f>
              <c:numCache>
                <c:formatCode>0.00</c:formatCode>
                <c:ptCount val="19"/>
                <c:pt idx="0">
                  <c:v>0.001062</c:v>
                </c:pt>
                <c:pt idx="1">
                  <c:v>0.001376</c:v>
                </c:pt>
                <c:pt idx="2">
                  <c:v>0.007035</c:v>
                </c:pt>
                <c:pt idx="3">
                  <c:v>0.012205</c:v>
                </c:pt>
                <c:pt idx="4">
                  <c:v>0.011805</c:v>
                </c:pt>
                <c:pt idx="5">
                  <c:v>0.024009</c:v>
                </c:pt>
                <c:pt idx="6">
                  <c:v>0.033937</c:v>
                </c:pt>
                <c:pt idx="7">
                  <c:v>0.050282</c:v>
                </c:pt>
                <c:pt idx="8">
                  <c:v>0.130967</c:v>
                </c:pt>
                <c:pt idx="9">
                  <c:v>0.240873</c:v>
                </c:pt>
                <c:pt idx="10">
                  <c:v>0.201781</c:v>
                </c:pt>
                <c:pt idx="11">
                  <c:v>0.073075</c:v>
                </c:pt>
                <c:pt idx="12">
                  <c:v>0.02656</c:v>
                </c:pt>
                <c:pt idx="13">
                  <c:v>0.021331</c:v>
                </c:pt>
                <c:pt idx="14">
                  <c:v>0.015905</c:v>
                </c:pt>
                <c:pt idx="15">
                  <c:v>0.013892</c:v>
                </c:pt>
                <c:pt idx="16">
                  <c:v>0.01335</c:v>
                </c:pt>
                <c:pt idx="17">
                  <c:v>0.009393</c:v>
                </c:pt>
                <c:pt idx="18">
                  <c:v>0.005869</c:v>
                </c:pt>
              </c:numCache>
            </c:numRef>
          </c:val>
          <c:smooth val="0"/>
        </c:ser>
        <c:ser>
          <c:idx val="3"/>
          <c:order val="3"/>
          <c:tx>
            <c:v>Option labels</c:v>
          </c:tx>
          <c:spPr>
            <a:ln xmlns:a="http://schemas.openxmlformats.org/drawingml/2006/main" w="26670">
              <a:solidFill>
                <a:srgbClr val="E9A23B"/>
              </a:solidFill>
              <a:prstDash val="solid"/>
            </a:ln>
          </c:spPr>
          <c:marker>
            <c:symbol val="none"/>
          </c:marker>
          <c:cat>
            <c:numRef>
              <c:f>'Chart Data'!$G$2:$G$20</c:f>
              <c:numCache>
                <c:formatCode>General</c:formatCode>
                <c:ptCount val="19"/>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35</c:v>
                </c:pt>
              </c:numCache>
            </c:numRef>
          </c:cat>
          <c:val>
            <c:numRef>
              <c:f>'Chart Data'!$H$2:$H$20</c:f>
              <c:numCache>
                <c:formatCode>0.00</c:formatCode>
                <c:ptCount val="19"/>
                <c:pt idx="0">
                  <c:v>0.001482</c:v>
                </c:pt>
                <c:pt idx="1">
                  <c:v>-9.9E-05</c:v>
                </c:pt>
                <c:pt idx="2">
                  <c:v>0.006883</c:v>
                </c:pt>
                <c:pt idx="3">
                  <c:v>0.005292</c:v>
                </c:pt>
                <c:pt idx="4">
                  <c:v>0.003204</c:v>
                </c:pt>
                <c:pt idx="5">
                  <c:v>0.001224</c:v>
                </c:pt>
                <c:pt idx="6">
                  <c:v>0.002066</c:v>
                </c:pt>
                <c:pt idx="7">
                  <c:v>0.008118</c:v>
                </c:pt>
                <c:pt idx="8">
                  <c:v>0.008488</c:v>
                </c:pt>
                <c:pt idx="9">
                  <c:v>0.005202</c:v>
                </c:pt>
                <c:pt idx="10">
                  <c:v>-0.005505</c:v>
                </c:pt>
                <c:pt idx="11">
                  <c:v>0.005094</c:v>
                </c:pt>
                <c:pt idx="12">
                  <c:v>0.00011</c:v>
                </c:pt>
                <c:pt idx="13">
                  <c:v>3.5E-05</c:v>
                </c:pt>
                <c:pt idx="14">
                  <c:v>0.004178</c:v>
                </c:pt>
                <c:pt idx="15">
                  <c:v>0.005925</c:v>
                </c:pt>
                <c:pt idx="16">
                  <c:v>0.004287</c:v>
                </c:pt>
                <c:pt idx="17">
                  <c:v>0.004622</c:v>
                </c:pt>
                <c:pt idx="18">
                  <c:v>0.005869</c:v>
                </c:pt>
              </c:numCache>
            </c:numRef>
          </c: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Decoder layer (zero-based)</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72768"/>
      </c:catAx>
      <c:valAx>
        <c:axId val="48672768"/>
        <c:scaling>
          <c:orientation val="minMax"/>
          <c:max val="1.25"/>
          <c:min val="-0.25"/>
        </c:scaling>
        <c:delete val="0"/>
        <c:axPos val="l"/>
        <c:majorGridlines>
          <c:spPr>
            <a:ln xmlns:a="http://schemas.openxmlformats.org/drawingml/2006/main" w="5715">
              <a:solidFill>
                <a:srgbClr val="DADFE5"/>
              </a:solidFill>
            </a:ln>
          </c:spPr>
        </c:majorGridlines>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Normalized recovery</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0.00"/>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50112"/>
        <c:crossBetween val="between"/>
        <c:majorUnit val="0.25"/>
      </c:valAx>
      <c:spPr>
        <a:solidFill xmlns:a="http://schemas.openxmlformats.org/drawingml/2006/main">
          <a:srgbClr val="F7F5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legend>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Attention</c:v>
          </c:tx>
          <c:spPr>
            <a:ln xmlns:a="http://schemas.openxmlformats.org/drawingml/2006/main" w="26670">
              <a:solidFill>
                <a:srgbClr val="1967D2"/>
              </a:solidFill>
              <a:prstDash val="solid"/>
            </a:ln>
          </c:spPr>
          <c:marker>
            <c:symbol val="none"/>
          </c:marker>
          <c:cat>
            <c:numRef>
              <c:f>'Chart Data'!$A$2:$A$29</c:f>
              <c:numCache>
                <c:formatCode>General</c:formatCode>
                <c:ptCount val="2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numCache>
            </c:numRef>
          </c:cat>
          <c:val>
            <c:numRef>
              <c:f>'Chart Data'!$B$2:$B$29</c:f>
              <c:numCache>
                <c:formatCode>0.00</c:formatCode>
                <c:ptCount val="28"/>
                <c:pt idx="0">
                  <c:v>-3E-05</c:v>
                </c:pt>
                <c:pt idx="1">
                  <c:v>-0.000693</c:v>
                </c:pt>
                <c:pt idx="2">
                  <c:v>-0.000341</c:v>
                </c:pt>
                <c:pt idx="3">
                  <c:v>-0.000327</c:v>
                </c:pt>
                <c:pt idx="4">
                  <c:v>-0.00052</c:v>
                </c:pt>
                <c:pt idx="5">
                  <c:v>-0.00018</c:v>
                </c:pt>
                <c:pt idx="6">
                  <c:v>-0.000342</c:v>
                </c:pt>
                <c:pt idx="7">
                  <c:v>-0.00019</c:v>
                </c:pt>
                <c:pt idx="8">
                  <c:v>-8.8E-05</c:v>
                </c:pt>
                <c:pt idx="9">
                  <c:v>-0.000237</c:v>
                </c:pt>
                <c:pt idx="10">
                  <c:v>-0.000255</c:v>
                </c:pt>
                <c:pt idx="11">
                  <c:v>-0.000508</c:v>
                </c:pt>
                <c:pt idx="12">
                  <c:v>-0.000203</c:v>
                </c:pt>
                <c:pt idx="13">
                  <c:v>-0.000251</c:v>
                </c:pt>
                <c:pt idx="14">
                  <c:v>-0.000162</c:v>
                </c:pt>
                <c:pt idx="15">
                  <c:v>0.000244</c:v>
                </c:pt>
                <c:pt idx="16">
                  <c:v>0.000102</c:v>
                </c:pt>
                <c:pt idx="17">
                  <c:v>-0.000146</c:v>
                </c:pt>
                <c:pt idx="18">
                  <c:v>0.001385</c:v>
                </c:pt>
                <c:pt idx="19">
                  <c:v>0.039589</c:v>
                </c:pt>
                <c:pt idx="20">
                  <c:v>0.002614</c:v>
                </c:pt>
                <c:pt idx="21">
                  <c:v>-0.00465</c:v>
                </c:pt>
                <c:pt idx="22">
                  <c:v>0.023179</c:v>
                </c:pt>
                <c:pt idx="23">
                  <c:v>0.027221</c:v>
                </c:pt>
                <c:pt idx="24">
                  <c:v>0.438844</c:v>
                </c:pt>
                <c:pt idx="25">
                  <c:v>-0.039709</c:v>
                </c:pt>
                <c:pt idx="26">
                  <c:v>0.083888</c:v>
                </c:pt>
                <c:pt idx="27">
                  <c:v>0.076598</c:v>
                </c:pt>
              </c:numCache>
            </c:numRef>
          </c:val>
          <c:smooth val="0"/>
        </c:ser>
        <c:ser>
          <c:idx val="1"/>
          <c:order val="1"/>
          <c:tx>
            <c:v>MLP</c:v>
          </c:tx>
          <c:spPr>
            <a:ln xmlns:a="http://schemas.openxmlformats.org/drawingml/2006/main" w="26670">
              <a:solidFill>
                <a:srgbClr val="E9A23B"/>
              </a:solidFill>
              <a:prstDash val="solid"/>
            </a:ln>
          </c:spPr>
          <c:marker>
            <c:symbol val="none"/>
          </c:marker>
          <c:cat>
            <c:numRef>
              <c:f>'Chart Data'!$C$2:$C$29</c:f>
              <c:numCache>
                <c:formatCode>General</c:formatCode>
                <c:ptCount val="2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numCache>
            </c:numRef>
          </c:cat>
          <c:val>
            <c:numRef>
              <c:f>'Chart Data'!$D$2:$D$29</c:f>
              <c:numCache>
                <c:formatCode>0.00</c:formatCode>
                <c:ptCount val="28"/>
                <c:pt idx="0">
                  <c:v>-0.000307</c:v>
                </c:pt>
                <c:pt idx="1">
                  <c:v>-0.000134</c:v>
                </c:pt>
                <c:pt idx="2">
                  <c:v>-0.000446</c:v>
                </c:pt>
                <c:pt idx="3">
                  <c:v>-2.8E-05</c:v>
                </c:pt>
                <c:pt idx="4">
                  <c:v>-0.000306</c:v>
                </c:pt>
                <c:pt idx="5">
                  <c:v>-0.000137</c:v>
                </c:pt>
                <c:pt idx="6">
                  <c:v>-0.00029</c:v>
                </c:pt>
                <c:pt idx="7">
                  <c:v>-0.000217</c:v>
                </c:pt>
                <c:pt idx="8">
                  <c:v>8.8E-05</c:v>
                </c:pt>
                <c:pt idx="9">
                  <c:v>-0.000329</c:v>
                </c:pt>
                <c:pt idx="10">
                  <c:v>-2.6E-05</c:v>
                </c:pt>
                <c:pt idx="11">
                  <c:v>0.000109</c:v>
                </c:pt>
                <c:pt idx="12">
                  <c:v>-0.000321</c:v>
                </c:pt>
                <c:pt idx="13">
                  <c:v>-1.9E-05</c:v>
                </c:pt>
                <c:pt idx="14">
                  <c:v>-0.000184</c:v>
                </c:pt>
                <c:pt idx="15">
                  <c:v>-0.00059</c:v>
                </c:pt>
                <c:pt idx="16">
                  <c:v>4.4E-05</c:v>
                </c:pt>
                <c:pt idx="17">
                  <c:v>-4E-06</c:v>
                </c:pt>
                <c:pt idx="18">
                  <c:v>4.3E-05</c:v>
                </c:pt>
                <c:pt idx="19">
                  <c:v>0.011909</c:v>
                </c:pt>
                <c:pt idx="20">
                  <c:v>0.013582</c:v>
                </c:pt>
                <c:pt idx="21">
                  <c:v>0.014288</c:v>
                </c:pt>
                <c:pt idx="22">
                  <c:v>0.00627</c:v>
                </c:pt>
                <c:pt idx="23">
                  <c:v>0.005439</c:v>
                </c:pt>
                <c:pt idx="24">
                  <c:v>0.045434</c:v>
                </c:pt>
                <c:pt idx="25">
                  <c:v>0.053348</c:v>
                </c:pt>
                <c:pt idx="26">
                  <c:v>0.040471</c:v>
                </c:pt>
                <c:pt idx="27">
                  <c:v>0.10585</c:v>
                </c:pt>
              </c:numCache>
            </c:numRef>
          </c: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Decoder layer (zero-based)</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72768"/>
      </c:catAx>
      <c:valAx>
        <c:axId val="48672768"/>
        <c:scaling>
          <c:orientation val="minMax"/>
          <c:max val="0.5"/>
          <c:min val="-0.1"/>
        </c:scaling>
        <c:delete val="0"/>
        <c:axPos val="l"/>
        <c:majorGridlines>
          <c:spPr>
            <a:ln xmlns:a="http://schemas.openxmlformats.org/drawingml/2006/main" w="5715">
              <a:solidFill>
                <a:srgbClr val="DADFE5"/>
              </a:solidFill>
            </a:ln>
          </c:spPr>
        </c:majorGridlines>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Normalized recovery</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0.00"/>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50112"/>
        <c:crossBetween val="between"/>
        <c:majorUnit val="0.1"/>
      </c:valAx>
      <c:spPr>
        <a:solidFill xmlns:a="http://schemas.openxmlformats.org/drawingml/2006/main">
          <a:srgbClr val="F7F5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legend>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Attention</c:v>
          </c:tx>
          <c:spPr>
            <a:ln xmlns:a="http://schemas.openxmlformats.org/drawingml/2006/main" w="26670">
              <a:solidFill>
                <a:srgbClr val="1967D2"/>
              </a:solidFill>
              <a:prstDash val="solid"/>
            </a:ln>
          </c:spPr>
          <c:marker>
            <c:symbol val="none"/>
          </c:marker>
          <c:cat>
            <c:numRef>
              <c:f>'Chart Data'!$A$2:$A$37</c:f>
              <c:numCache>
                <c:formatCode>General</c:formatCode>
                <c:ptCount val="3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numCache>
            </c:numRef>
          </c:cat>
          <c:val>
            <c:numRef>
              <c:f>'Chart Data'!$B$2:$B$37</c:f>
              <c:numCache>
                <c:formatCode>0.00</c:formatCode>
                <c:ptCount val="36"/>
                <c:pt idx="0">
                  <c:v>-0.001238</c:v>
                </c:pt>
                <c:pt idx="1">
                  <c:v>-0.003082</c:v>
                </c:pt>
                <c:pt idx="2">
                  <c:v>-0.002263</c:v>
                </c:pt>
                <c:pt idx="3">
                  <c:v>-0.001252</c:v>
                </c:pt>
                <c:pt idx="4">
                  <c:v>-0.003586</c:v>
                </c:pt>
                <c:pt idx="5">
                  <c:v>-0.000567</c:v>
                </c:pt>
                <c:pt idx="6">
                  <c:v>-0.002454</c:v>
                </c:pt>
                <c:pt idx="7">
                  <c:v>-0.002109</c:v>
                </c:pt>
                <c:pt idx="8">
                  <c:v>-0.002918</c:v>
                </c:pt>
                <c:pt idx="9">
                  <c:v>-0.002041</c:v>
                </c:pt>
                <c:pt idx="10">
                  <c:v>-0.002527</c:v>
                </c:pt>
                <c:pt idx="11">
                  <c:v>-0.002634</c:v>
                </c:pt>
                <c:pt idx="12">
                  <c:v>-0.003393</c:v>
                </c:pt>
                <c:pt idx="13">
                  <c:v>-0.00291</c:v>
                </c:pt>
                <c:pt idx="14">
                  <c:v>-0.002478</c:v>
                </c:pt>
                <c:pt idx="15">
                  <c:v>-0.002552</c:v>
                </c:pt>
                <c:pt idx="16">
                  <c:v>-0.002111</c:v>
                </c:pt>
                <c:pt idx="17">
                  <c:v>-0.002201</c:v>
                </c:pt>
                <c:pt idx="18">
                  <c:v>-0.002223</c:v>
                </c:pt>
                <c:pt idx="19">
                  <c:v>-0.001947</c:v>
                </c:pt>
                <c:pt idx="20">
                  <c:v>-0.001085</c:v>
                </c:pt>
                <c:pt idx="21">
                  <c:v>-0.003449</c:v>
                </c:pt>
                <c:pt idx="22">
                  <c:v>-0.006909</c:v>
                </c:pt>
                <c:pt idx="23">
                  <c:v>0.00127</c:v>
                </c:pt>
                <c:pt idx="24">
                  <c:v>0.349576</c:v>
                </c:pt>
                <c:pt idx="25">
                  <c:v>-0.027044</c:v>
                </c:pt>
                <c:pt idx="26">
                  <c:v>0.022633</c:v>
                </c:pt>
                <c:pt idx="27">
                  <c:v>0.024993</c:v>
                </c:pt>
                <c:pt idx="28">
                  <c:v>-0.000418</c:v>
                </c:pt>
                <c:pt idx="29">
                  <c:v>0.091365</c:v>
                </c:pt>
                <c:pt idx="30">
                  <c:v>0.055198</c:v>
                </c:pt>
                <c:pt idx="31">
                  <c:v>-0.008547</c:v>
                </c:pt>
                <c:pt idx="32">
                  <c:v>0.023414</c:v>
                </c:pt>
                <c:pt idx="33">
                  <c:v>0.008545</c:v>
                </c:pt>
                <c:pt idx="34">
                  <c:v>0.03035</c:v>
                </c:pt>
                <c:pt idx="35">
                  <c:v>0.116554</c:v>
                </c:pt>
              </c:numCache>
            </c:numRef>
          </c:val>
          <c:smooth val="0"/>
        </c:ser>
        <c:ser>
          <c:idx val="1"/>
          <c:order val="1"/>
          <c:tx>
            <c:v>MLP</c:v>
          </c:tx>
          <c:spPr>
            <a:ln xmlns:a="http://schemas.openxmlformats.org/drawingml/2006/main" w="26670">
              <a:solidFill>
                <a:srgbClr val="E9A23B"/>
              </a:solidFill>
              <a:prstDash val="solid"/>
            </a:ln>
          </c:spPr>
          <c:marker>
            <c:symbol val="none"/>
          </c:marker>
          <c:cat>
            <c:numRef>
              <c:f>'Chart Data'!$C$2:$C$37</c:f>
              <c:numCache>
                <c:formatCode>General</c:formatCode>
                <c:ptCount val="3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numCache>
            </c:numRef>
          </c:cat>
          <c:val>
            <c:numRef>
              <c:f>'Chart Data'!$D$2:$D$37</c:f>
              <c:numCache>
                <c:formatCode>0.00</c:formatCode>
                <c:ptCount val="36"/>
                <c:pt idx="0">
                  <c:v>-0.00199</c:v>
                </c:pt>
                <c:pt idx="1">
                  <c:v>-0.001614</c:v>
                </c:pt>
                <c:pt idx="2">
                  <c:v>-0.001148</c:v>
                </c:pt>
                <c:pt idx="3">
                  <c:v>-0.002111</c:v>
                </c:pt>
                <c:pt idx="4">
                  <c:v>-0.001768</c:v>
                </c:pt>
                <c:pt idx="5">
                  <c:v>-0.0028</c:v>
                </c:pt>
                <c:pt idx="6">
                  <c:v>-0.00206</c:v>
                </c:pt>
                <c:pt idx="7">
                  <c:v>-0.001439</c:v>
                </c:pt>
                <c:pt idx="8">
                  <c:v>-0.002371</c:v>
                </c:pt>
                <c:pt idx="9">
                  <c:v>-0.001085</c:v>
                </c:pt>
                <c:pt idx="10">
                  <c:v>-0.001994</c:v>
                </c:pt>
                <c:pt idx="11">
                  <c:v>-0.001162</c:v>
                </c:pt>
                <c:pt idx="12">
                  <c:v>-0.001845</c:v>
                </c:pt>
                <c:pt idx="13">
                  <c:v>-0.001835</c:v>
                </c:pt>
                <c:pt idx="14">
                  <c:v>-0.001349</c:v>
                </c:pt>
                <c:pt idx="15">
                  <c:v>-0.002958</c:v>
                </c:pt>
                <c:pt idx="16">
                  <c:v>-0.002605</c:v>
                </c:pt>
                <c:pt idx="17">
                  <c:v>-0.001108</c:v>
                </c:pt>
                <c:pt idx="18">
                  <c:v>-0.002618</c:v>
                </c:pt>
                <c:pt idx="19">
                  <c:v>-0.001888</c:v>
                </c:pt>
                <c:pt idx="20">
                  <c:v>-0.001905</c:v>
                </c:pt>
                <c:pt idx="21">
                  <c:v>-0.004026</c:v>
                </c:pt>
                <c:pt idx="22">
                  <c:v>-0.001309</c:v>
                </c:pt>
                <c:pt idx="23">
                  <c:v>-0.004069</c:v>
                </c:pt>
                <c:pt idx="24">
                  <c:v>-0.013481</c:v>
                </c:pt>
                <c:pt idx="25">
                  <c:v>-0.006722</c:v>
                </c:pt>
                <c:pt idx="26">
                  <c:v>0.005062</c:v>
                </c:pt>
                <c:pt idx="27">
                  <c:v>0.005747</c:v>
                </c:pt>
                <c:pt idx="28">
                  <c:v>0.00449</c:v>
                </c:pt>
                <c:pt idx="29">
                  <c:v>-0.001277</c:v>
                </c:pt>
                <c:pt idx="30">
                  <c:v>-0.010669</c:v>
                </c:pt>
                <c:pt idx="31">
                  <c:v>0.046245</c:v>
                </c:pt>
                <c:pt idx="32">
                  <c:v>0.012431</c:v>
                </c:pt>
                <c:pt idx="33">
                  <c:v>0.017038</c:v>
                </c:pt>
                <c:pt idx="34">
                  <c:v>0.02475</c:v>
                </c:pt>
                <c:pt idx="35">
                  <c:v>-0.000916</c:v>
                </c:pt>
              </c:numCache>
            </c:numRef>
          </c: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Decoder layer (zero-based)</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72768"/>
      </c:catAx>
      <c:valAx>
        <c:axId val="48672768"/>
        <c:scaling>
          <c:orientation val="minMax"/>
          <c:max val="0.5"/>
          <c:min val="-0.1"/>
        </c:scaling>
        <c:delete val="0"/>
        <c:axPos val="l"/>
        <c:majorGridlines>
          <c:spPr>
            <a:ln xmlns:a="http://schemas.openxmlformats.org/drawingml/2006/main" w="5715">
              <a:solidFill>
                <a:srgbClr val="DADFE5"/>
              </a:solidFill>
            </a:ln>
          </c:spPr>
        </c:majorGridlines>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Normalized recovery</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0.00"/>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50112"/>
        <c:crossBetween val="between"/>
        <c:majorUnit val="0.1"/>
      </c:valAx>
      <c:spPr>
        <a:solidFill xmlns:a="http://schemas.openxmlformats.org/drawingml/2006/main">
          <a:srgbClr val="F7F5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legend>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Frozen top-K</c:v>
          </c:tx>
          <c:spPr>
            <a:ln xmlns:a="http://schemas.openxmlformats.org/drawingml/2006/main" w="33338">
              <a:solidFill>
                <a:srgbClr val="1967D2"/>
              </a:solidFill>
              <a:prstDash val="solid"/>
            </a:ln>
          </c:spPr>
          <c:marker>
            <c:symbol val="none"/>
          </c:marker>
          <c:cat>
            <c:numRef>
              <c:f>'Chart Data'!$A$2:$A$6</c:f>
              <c:numCache>
                <c:formatCode>General</c:formatCode>
                <c:ptCount val="5"/>
                <c:pt idx="0">
                  <c:v>1</c:v>
                </c:pt>
                <c:pt idx="1">
                  <c:v>2</c:v>
                </c:pt>
                <c:pt idx="2">
                  <c:v>4</c:v>
                </c:pt>
                <c:pt idx="3">
                  <c:v>8</c:v>
                </c:pt>
                <c:pt idx="4">
                  <c:v>16</c:v>
                </c:pt>
              </c:numCache>
            </c:numRef>
          </c:cat>
          <c:val>
            <c:numRef>
              <c:f>'Chart Data'!$B$2:$B$6</c:f>
              <c:numCache>
                <c:formatCode>0.00</c:formatCode>
                <c:ptCount val="5"/>
                <c:pt idx="0">
                  <c:v>0.11556</c:v>
                </c:pt>
                <c:pt idx="1">
                  <c:v>0.244082</c:v>
                </c:pt>
                <c:pt idx="2">
                  <c:v>0.417044</c:v>
                </c:pt>
                <c:pt idx="3">
                  <c:v>0.683652</c:v>
                </c:pt>
                <c:pt idx="4">
                  <c:v>0.894855</c:v>
                </c:pt>
              </c:numCache>
            </c:numRef>
          </c:val>
          <c:smooth val="0"/>
        </c:ser>
        <c:ser>
          <c:idx val="1"/>
          <c:order val="1"/>
          <c:tx>
            <c:v>Matched-random p95</c:v>
          </c:tx>
          <c:spPr>
            <a:ln xmlns:a="http://schemas.openxmlformats.org/drawingml/2006/main" w="26670">
              <a:solidFill>
                <a:srgbClr val="5C667A"/>
              </a:solidFill>
              <a:prstDash val="dash"/>
            </a:ln>
          </c:spPr>
          <c:marker>
            <c:symbol val="none"/>
          </c:marker>
          <c:cat>
            <c:numRef>
              <c:f>'Chart Data'!$C$2:$C$6</c:f>
              <c:numCache>
                <c:formatCode>General</c:formatCode>
                <c:ptCount val="5"/>
                <c:pt idx="0">
                  <c:v>1</c:v>
                </c:pt>
                <c:pt idx="1">
                  <c:v>2</c:v>
                </c:pt>
                <c:pt idx="2">
                  <c:v>4</c:v>
                </c:pt>
                <c:pt idx="3">
                  <c:v>8</c:v>
                </c:pt>
                <c:pt idx="4">
                  <c:v>16</c:v>
                </c:pt>
              </c:numCache>
            </c:numRef>
          </c:cat>
          <c:val>
            <c:numRef>
              <c:f>'Chart Data'!$D$2:$D$6</c:f>
              <c:numCache>
                <c:formatCode>0.00</c:formatCode>
                <c:ptCount val="5"/>
                <c:pt idx="0">
                  <c:v>0.013711</c:v>
                </c:pt>
                <c:pt idx="1">
                  <c:v>0.069404</c:v>
                </c:pt>
                <c:pt idx="2">
                  <c:v>0.069131</c:v>
                </c:pt>
                <c:pt idx="3">
                  <c:v>0.012863</c:v>
                </c:pt>
                <c:pt idx="4">
                  <c:v>0.004914</c:v>
                </c:pt>
              </c:numCache>
            </c:numRef>
          </c:val>
          <c:smooth val="0"/>
        </c:ser>
        <c:ser>
          <c:idx val="2"/>
          <c:order val="2"/>
          <c:tx>
            <c:v>112-head reference</c:v>
          </c:tx>
          <c:spPr>
            <a:ln xmlns:a="http://schemas.openxmlformats.org/drawingml/2006/main" w="26670">
              <a:solidFill>
                <a:srgbClr val="18A7A0"/>
              </a:solidFill>
              <a:prstDash val="dash"/>
            </a:ln>
          </c:spPr>
          <c:marker>
            <c:symbol val="none"/>
          </c:marker>
          <c:cat>
            <c:numRef>
              <c:f>'Chart Data'!$E$2:$E$6</c:f>
              <c:numCache>
                <c:formatCode>General</c:formatCode>
                <c:ptCount val="5"/>
                <c:pt idx="0">
                  <c:v>1</c:v>
                </c:pt>
                <c:pt idx="1">
                  <c:v>2</c:v>
                </c:pt>
                <c:pt idx="2">
                  <c:v>4</c:v>
                </c:pt>
                <c:pt idx="3">
                  <c:v>8</c:v>
                </c:pt>
                <c:pt idx="4">
                  <c:v>16</c:v>
                </c:pt>
              </c:numCache>
            </c:numRef>
          </c:cat>
          <c:val>
            <c:numRef>
              <c:f>'Chart Data'!$F$2:$F$6</c:f>
              <c:numCache>
                <c:formatCode>0.00</c:formatCode>
                <c:ptCount val="5"/>
                <c:pt idx="0">
                  <c:v>0.791319</c:v>
                </c:pt>
                <c:pt idx="1">
                  <c:v>0.791319</c:v>
                </c:pt>
                <c:pt idx="2">
                  <c:v>0.791319</c:v>
                </c:pt>
                <c:pt idx="3">
                  <c:v>0.791319</c:v>
                </c:pt>
                <c:pt idx="4">
                  <c:v>0.791319</c:v>
                </c:pt>
              </c:numCache>
            </c:numRef>
          </c: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Frozen heads patched (K)</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72768"/>
      </c:catAx>
      <c:valAx>
        <c:axId val="48672768"/>
        <c:scaling>
          <c:orientation val="minMax"/>
          <c:max val="1"/>
          <c:min val="0"/>
        </c:scaling>
        <c:delete val="0"/>
        <c:axPos val="l"/>
        <c:majorGridlines>
          <c:spPr>
            <a:ln xmlns:a="http://schemas.openxmlformats.org/drawingml/2006/main" w="5715">
              <a:solidFill>
                <a:srgbClr val="DADFE5"/>
              </a:solidFill>
            </a:ln>
          </c:spPr>
        </c:majorGridlines>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Normalized recovery</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0.00"/>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50112"/>
        <c:crossBetween val="between"/>
        <c:majorUnit val="0.25"/>
      </c:valAx>
      <c:spPr>
        <a:solidFill xmlns:a="http://schemas.openxmlformats.org/drawingml/2006/main">
          <a:srgbClr val="F7F5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legend>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varyColors val="0"/>
        <c:ser>
          <c:idx val="0"/>
          <c:order val="0"/>
          <c:tx>
            <c:v>Frozen top-K</c:v>
          </c:tx>
          <c:spPr>
            <a:ln xmlns:a="http://schemas.openxmlformats.org/drawingml/2006/main" w="33338">
              <a:solidFill>
                <a:srgbClr val="E76F51"/>
              </a:solidFill>
              <a:prstDash val="solid"/>
            </a:ln>
          </c:spPr>
          <c:marker>
            <c:symbol val="none"/>
          </c:marker>
          <c:cat>
            <c:numRef>
              <c:f>'Chart Data'!$A$2:$A$6</c:f>
              <c:numCache>
                <c:formatCode>General</c:formatCode>
                <c:ptCount val="5"/>
                <c:pt idx="0">
                  <c:v>1</c:v>
                </c:pt>
                <c:pt idx="1">
                  <c:v>2</c:v>
                </c:pt>
                <c:pt idx="2">
                  <c:v>4</c:v>
                </c:pt>
                <c:pt idx="3">
                  <c:v>8</c:v>
                </c:pt>
                <c:pt idx="4">
                  <c:v>16</c:v>
                </c:pt>
              </c:numCache>
            </c:numRef>
          </c:cat>
          <c:val>
            <c:numRef>
              <c:f>'Chart Data'!$B$2:$B$6</c:f>
              <c:numCache>
                <c:formatCode>0.00</c:formatCode>
                <c:ptCount val="5"/>
                <c:pt idx="0">
                  <c:v>0.20359</c:v>
                </c:pt>
                <c:pt idx="1">
                  <c:v>0.282665</c:v>
                </c:pt>
                <c:pt idx="2">
                  <c:v>0.430532</c:v>
                </c:pt>
                <c:pt idx="3">
                  <c:v>0.745926</c:v>
                </c:pt>
                <c:pt idx="4">
                  <c:v>0.923566</c:v>
                </c:pt>
              </c:numCache>
            </c:numRef>
          </c:val>
          <c:smooth val="0"/>
        </c:ser>
        <c:ser>
          <c:idx val="1"/>
          <c:order val="1"/>
          <c:tx>
            <c:v>Matched-random p95</c:v>
          </c:tx>
          <c:spPr>
            <a:ln xmlns:a="http://schemas.openxmlformats.org/drawingml/2006/main" w="26670">
              <a:solidFill>
                <a:srgbClr val="5C667A"/>
              </a:solidFill>
              <a:prstDash val="dash"/>
            </a:ln>
          </c:spPr>
          <c:marker>
            <c:symbol val="none"/>
          </c:marker>
          <c:cat>
            <c:numRef>
              <c:f>'Chart Data'!$C$2:$C$6</c:f>
              <c:numCache>
                <c:formatCode>General</c:formatCode>
                <c:ptCount val="5"/>
                <c:pt idx="0">
                  <c:v>1</c:v>
                </c:pt>
                <c:pt idx="1">
                  <c:v>2</c:v>
                </c:pt>
                <c:pt idx="2">
                  <c:v>4</c:v>
                </c:pt>
                <c:pt idx="3">
                  <c:v>8</c:v>
                </c:pt>
                <c:pt idx="4">
                  <c:v>16</c:v>
                </c:pt>
              </c:numCache>
            </c:numRef>
          </c:cat>
          <c:val>
            <c:numRef>
              <c:f>'Chart Data'!$D$2:$D$6</c:f>
              <c:numCache>
                <c:formatCode>0.00</c:formatCode>
                <c:ptCount val="5"/>
                <c:pt idx="0">
                  <c:v>0.015605</c:v>
                </c:pt>
                <c:pt idx="1">
                  <c:v>0.062076</c:v>
                </c:pt>
                <c:pt idx="2">
                  <c:v>0.050821</c:v>
                </c:pt>
                <c:pt idx="3">
                  <c:v>0.041992</c:v>
                </c:pt>
                <c:pt idx="4">
                  <c:v>0.003527</c:v>
                </c:pt>
              </c:numCache>
            </c:numRef>
          </c:val>
          <c:smooth val="0"/>
        </c:ser>
        <c:ser>
          <c:idx val="2"/>
          <c:order val="2"/>
          <c:tx>
            <c:v>128-head reference</c:v>
          </c:tx>
          <c:spPr>
            <a:ln xmlns:a="http://schemas.openxmlformats.org/drawingml/2006/main" w="26670">
              <a:solidFill>
                <a:srgbClr val="18A7A0"/>
              </a:solidFill>
              <a:prstDash val="dash"/>
            </a:ln>
          </c:spPr>
          <c:marker>
            <c:symbol val="none"/>
          </c:marker>
          <c:cat>
            <c:numRef>
              <c:f>'Chart Data'!$E$2:$E$6</c:f>
              <c:numCache>
                <c:formatCode>General</c:formatCode>
                <c:ptCount val="5"/>
                <c:pt idx="0">
                  <c:v>1</c:v>
                </c:pt>
                <c:pt idx="1">
                  <c:v>2</c:v>
                </c:pt>
                <c:pt idx="2">
                  <c:v>4</c:v>
                </c:pt>
                <c:pt idx="3">
                  <c:v>8</c:v>
                </c:pt>
                <c:pt idx="4">
                  <c:v>16</c:v>
                </c:pt>
              </c:numCache>
            </c:numRef>
          </c:cat>
          <c:val>
            <c:numRef>
              <c:f>'Chart Data'!$F$2:$F$6</c:f>
              <c:numCache>
                <c:formatCode>0.00</c:formatCode>
                <c:ptCount val="5"/>
                <c:pt idx="0">
                  <c:v>0.846727</c:v>
                </c:pt>
                <c:pt idx="1">
                  <c:v>0.846727</c:v>
                </c:pt>
                <c:pt idx="2">
                  <c:v>0.846727</c:v>
                </c:pt>
                <c:pt idx="3">
                  <c:v>0.846727</c:v>
                </c:pt>
                <c:pt idx="4">
                  <c:v>0.846727</c:v>
                </c:pt>
              </c:numCache>
            </c:numRef>
          </c: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Frozen heads patched (K)</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72768"/>
      </c:catAx>
      <c:valAx>
        <c:axId val="48672768"/>
        <c:scaling>
          <c:orientation val="minMax"/>
          <c:max val="1"/>
          <c:min val="0"/>
        </c:scaling>
        <c:delete val="0"/>
        <c:axPos val="l"/>
        <c:majorGridlines>
          <c:spPr>
            <a:ln xmlns:a="http://schemas.openxmlformats.org/drawingml/2006/main" w="5715">
              <a:solidFill>
                <a:srgbClr val="DADFE5"/>
              </a:solidFill>
            </a:ln>
          </c:spPr>
        </c:majorGridlines>
        <c:title>
          <c:tx>
            <c:rich>
              <a:bodyPr xmlns:a="http://schemas.openxmlformats.org/drawingml/2006/main"/>
              <a:lstStyle xmlns:a="http://schemas.openxmlformats.org/drawingml/2006/main"/>
              <a:p xmlns:a="http://schemas.openxmlformats.org/drawingml/2006/main">
                <a:r>
                  <a:rPr sz="1425">
                    <a:solidFill>
                      <a:srgbClr val="5C667A"/>
                    </a:solidFill>
                    <a:latin typeface="Liberation Sans"/>
                    <a:ea typeface="Liberation Sans"/>
                    <a:cs typeface="Liberation Sans"/>
                  </a:rPr>
                  <a:t>Normalized recovery</a:t>
                </a:r>
              </a:p>
            </c:rich>
          </c:tx>
          <c:overlay val="0"/>
          <c:txPr>
            <a:bodyPr xmlns:a="http://schemas.openxmlformats.org/drawingml/2006/main" anchorCtr="1"/>
            <a:lstStyle xmlns:a="http://schemas.openxmlformats.org/drawingml/2006/main"/>
            <a:p xmlns:a="http://schemas.openxmlformats.org/drawingml/2006/main">
              <a:pPr>
                <a:defRPr sz="1425">
                  <a:solidFill>
                    <a:srgbClr val="5C667A"/>
                  </a:solidFill>
                  <a:latin typeface="Liberation Sans"/>
                  <a:ea typeface="Liberation Sans"/>
                  <a:cs typeface="Liberation Sans"/>
                </a:defRPr>
              </a:pPr>
            </a:p>
          </c:txPr>
        </c:title>
        <c:numFmt formatCode="0.00"/>
        <c:majorTickMark val="none"/>
        <c:minorTickMark val="none"/>
        <c:spPr>
          <a:ln xmlns:a="http://schemas.openxmlformats.org/drawingml/2006/main" w="9525">
            <a:solidFill>
              <a:srgbClr val="C9CED7"/>
            </a:solidFill>
          </a:ln>
        </c:spPr>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crossAx val="48650112"/>
        <c:crossBetween val="between"/>
        <c:majorUnit val="0.25"/>
      </c:valAx>
      <c:spPr>
        <a:solidFill xmlns:a="http://schemas.openxmlformats.org/drawingml/2006/main">
          <a:srgbClr val="F7F5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C667A"/>
              </a:solidFill>
              <a:latin typeface="Liberation Sans"/>
              <a:ea typeface="Liberation Sans"/>
              <a:cs typeface="Liberation Sans"/>
            </a:defRPr>
          </a:pPr>
        </a:p>
      </c:txPr>
    </c:legend>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4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C98BDA-B027-46C0-AB93-B9461314B3E8}"/>
              </a:ext>
            </a:extLst>
          </p:cNvPr>
          <p:cNvSpPr>
            <a:spLocks xmlns:a="http://schemas.openxmlformats.org/drawingml/2006/main" noGrp="1"/>
          </p:cNvSpPr>
          <p:nvPr/>
        </p:nvSpPr>
        <p:spPr>
          <a:xfrm xmlns:a="http://schemas.openxmlformats.org/drawingml/2006/main">
            <a:off x="590550" y="504825"/>
            <a:ext cx="1009650" cy="76200"/>
          </a:xfrm>
          <a:prstGeom xmlns:a="http://schemas.openxmlformats.org/drawingml/2006/main" prst="rect">
            <a:avLst/>
          </a:prstGeom>
          <a:solidFill xmlns:a="http://schemas.openxmlformats.org/drawingml/2006/main">
            <a:srgbClr val="18A7A0"/>
          </a:solidFill>
          <a:ln xmlns:a="http://schemas.openxmlformats.org/drawingml/2006/main" w="0">
            <a:noFill/>
          </a:ln>
        </p:spPr>
      </p:sp>
      <p:sp>
        <p:nvSpPr>
          <p:cNvPr id="2" name="What is the price&#10;of a model’s eye?">
            <a:extLst xmlns:a="http://schemas.openxmlformats.org/drawingml/2006/main">
              <a:ext uri="{FF2B5EF4-FFF2-40B4-BE49-F238E27FC236}">
                <a16:creationId xmlns:a16="http://schemas.microsoft.com/office/drawing/2014/main" id="{E2F1FE6D-E1EA-4C15-BDA3-3ACF043866AF}"/>
              </a:ext>
            </a:extLst>
          </p:cNvPr>
          <p:cNvSpPr>
            <a:spLocks xmlns:a="http://schemas.openxmlformats.org/drawingml/2006/main" noGrp="1"/>
          </p:cNvSpPr>
          <p:nvPr/>
        </p:nvSpPr>
        <p:spPr>
          <a:xfrm xmlns:a="http://schemas.openxmlformats.org/drawingml/2006/main">
            <a:off x="590550" y="1047750"/>
            <a:ext cx="10715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400" b="1">
                <a:solidFill>
                  <a:srgbClr val="FFFFFF"/>
                </a:solidFill>
                <a:latin typeface="Liberation Sans"/>
                <a:ea typeface="Liberation Sans"/>
                <a:cs typeface="Liberation Sans"/>
              </a:defRPr>
            </a:pPr>
            <a:r>
              <a:rPr sz="4400" b="1">
                <a:solidFill>
                  <a:srgbClr val="FFFFFF"/>
                </a:solidFill>
                <a:latin typeface="Liberation Sans"/>
                <a:ea typeface="Liberation Sans"/>
                <a:cs typeface="Liberation Sans"/>
              </a:rPr>
              <a:t>What is the price</a:t>
            </a:r>
          </a:p>
          <a:p xmlns:a="http://schemas.openxmlformats.org/drawingml/2006/main">
            <a:pPr algn="l">
              <a:defRPr sz="4400" b="1">
                <a:solidFill>
                  <a:srgbClr val="FFFFFF"/>
                </a:solidFill>
                <a:latin typeface="Liberation Sans"/>
                <a:ea typeface="Liberation Sans"/>
                <a:cs typeface="Liberation Sans"/>
              </a:defRPr>
            </a:pPr>
            <a:r>
              <a:rPr sz="4400" b="1">
                <a:solidFill>
                  <a:srgbClr val="FFFFFF"/>
                </a:solidFill>
                <a:latin typeface="Liberation Sans"/>
                <a:ea typeface="Liberation Sans"/>
                <a:cs typeface="Liberation Sans"/>
              </a:rPr>
              <a:t>of a model’s eye?</a:t>
            </a:r>
          </a:p>
        </p:txBody>
      </p:sp>
      <p:sp>
        <p:nvSpPr>
          <p:cNvPr id="3" name="Visual answers, option positions and output s">
            <a:extLst xmlns:a="http://schemas.openxmlformats.org/drawingml/2006/main">
              <a:ext uri="{FF2B5EF4-FFF2-40B4-BE49-F238E27FC236}">
                <a16:creationId xmlns:a16="http://schemas.microsoft.com/office/drawing/2014/main" id="{BF1F8E16-B834-4018-88E4-B0DF3F1E3A31}"/>
              </a:ext>
            </a:extLst>
          </p:cNvPr>
          <p:cNvSpPr>
            <a:spLocks xmlns:a="http://schemas.openxmlformats.org/drawingml/2006/main" noGrp="1"/>
          </p:cNvSpPr>
          <p:nvPr/>
        </p:nvSpPr>
        <p:spPr>
          <a:xfrm xmlns:a="http://schemas.openxmlformats.org/drawingml/2006/main">
            <a:off x="619125" y="322897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DBE5F5"/>
                </a:solidFill>
                <a:latin typeface="Liberation Sans"/>
                <a:ea typeface="Liberation Sans"/>
                <a:cs typeface="Liberation Sans"/>
              </a:defRPr>
            </a:pPr>
            <a:r>
              <a:rPr sz="2400" b="0">
                <a:solidFill>
                  <a:srgbClr val="DBE5F5"/>
                </a:solidFill>
                <a:latin typeface="Liberation Sans"/>
                <a:ea typeface="Liberation Sans"/>
                <a:cs typeface="Liberation Sans"/>
              </a:rPr>
              <a:t>Visual answers, option positions and output symbols</a:t>
            </a:r>
          </a:p>
        </p:txBody>
      </p:sp>
      <p:sp>
        <p:nvSpPr>
          <p:cNvPr id="4" name="Divyanshu Giri · Rachit Mehta · Yashav Bhatna">
            <a:extLst xmlns:a="http://schemas.openxmlformats.org/drawingml/2006/main">
              <a:ext uri="{FF2B5EF4-FFF2-40B4-BE49-F238E27FC236}">
                <a16:creationId xmlns:a16="http://schemas.microsoft.com/office/drawing/2014/main" id="{57CD7596-AF67-4ACC-A02D-DB1BDFC85F63}"/>
              </a:ext>
            </a:extLst>
          </p:cNvPr>
          <p:cNvSpPr>
            <a:spLocks xmlns:a="http://schemas.openxmlformats.org/drawingml/2006/main" noGrp="1"/>
          </p:cNvSpPr>
          <p:nvPr/>
        </p:nvSpPr>
        <p:spPr>
          <a:xfrm xmlns:a="http://schemas.openxmlformats.org/drawingml/2006/main">
            <a:off x="619125" y="426720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DBE5F5"/>
                </a:solidFill>
                <a:latin typeface="Liberation Sans"/>
                <a:ea typeface="Liberation Sans"/>
                <a:cs typeface="Liberation Sans"/>
              </a:defRPr>
            </a:pPr>
            <a:r>
              <a:rPr sz="1725" b="0">
                <a:solidFill>
                  <a:srgbClr val="DBE5F5"/>
                </a:solidFill>
                <a:latin typeface="Liberation Sans"/>
                <a:ea typeface="Liberation Sans"/>
                <a:cs typeface="Liberation Sans"/>
              </a:rPr>
              <a:t>Divyanshu Giri · Rachit Mehta · Yashav Bhatnagar</a:t>
            </a:r>
          </a:p>
          <a:p xmlns:a="http://schemas.openxmlformats.org/drawingml/2006/main">
            <a:pPr algn="l">
              <a:defRPr sz="1725" b="0">
                <a:solidFill>
                  <a:srgbClr val="DBE5F5"/>
                </a:solidFill>
                <a:latin typeface="Liberation Sans"/>
                <a:ea typeface="Liberation Sans"/>
                <a:cs typeface="Liberation Sans"/>
              </a:defRPr>
            </a:pPr>
            <a:r>
              <a:rPr sz="1725" b="0">
                <a:solidFill>
                  <a:srgbClr val="DBE5F5"/>
                </a:solidFill>
                <a:latin typeface="Liberation Sans"/>
                <a:ea typeface="Liberation Sans"/>
                <a:cs typeface="Liberation Sans"/>
              </a:rPr>
              <a:t>IIIT Hyderabad</a:t>
            </a:r>
          </a:p>
        </p:txBody>
      </p:sp>
      <p:sp>
        <p:nvSpPr>
          <p:cNvPr id="5" name="ANLP mid-submission     2 October 2026">
            <a:extLst xmlns:a="http://schemas.openxmlformats.org/drawingml/2006/main">
              <a:ext uri="{FF2B5EF4-FFF2-40B4-BE49-F238E27FC236}">
                <a16:creationId xmlns:a16="http://schemas.microsoft.com/office/drawing/2014/main" id="{331E1AD1-6798-47D1-8AB2-56C593501B11}"/>
              </a:ext>
            </a:extLst>
          </p:cNvPr>
          <p:cNvSpPr>
            <a:spLocks xmlns:a="http://schemas.openxmlformats.org/drawingml/2006/main" noGrp="1"/>
          </p:cNvSpPr>
          <p:nvPr/>
        </p:nvSpPr>
        <p:spPr>
          <a:xfrm xmlns:a="http://schemas.openxmlformats.org/drawingml/2006/main">
            <a:off x="619125" y="58864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DBE5F5"/>
                </a:solidFill>
                <a:latin typeface="Liberation Sans"/>
                <a:ea typeface="Liberation Sans"/>
                <a:cs typeface="Liberation Sans"/>
              </a:defRPr>
            </a:pPr>
            <a:r>
              <a:rPr sz="1500" b="0">
                <a:solidFill>
                  <a:srgbClr val="DBE5F5"/>
                </a:solidFill>
                <a:latin typeface="Liberation Sans"/>
                <a:ea typeface="Liberation Sans"/>
                <a:cs typeface="Liberation Sans"/>
              </a:rPr>
              <a:t>ANLP mid-submission     2 October 2026</a:t>
            </a:r>
          </a:p>
        </p:txBody>
      </p:sp>
    </p:spTree>
    <p:extLst>
      <p:ext uri="{BB962C8B-B14F-4D97-AF65-F5344CB8AC3E}">
        <p14:creationId xmlns:p14="http://schemas.microsoft.com/office/powerpoint/2010/main" val="1883892946"/>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MCQA requires an answer and its assigned labe">
            <a:extLst xmlns:a="http://schemas.openxmlformats.org/drawingml/2006/main">
              <a:ext uri="{FF2B5EF4-FFF2-40B4-BE49-F238E27FC236}">
                <a16:creationId xmlns:a16="http://schemas.microsoft.com/office/drawing/2014/main" id="{70C1D66E-0685-4005-906D-188986AFAA8A}"/>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MCQA requires an answer and its assigned label</a:t>
            </a:r>
          </a:p>
        </p:txBody>
      </p:sp>
      <p:sp>
        <p:nvSpPr>
          <p:cNvPr id="2" name="">
            <a:extLst xmlns:a="http://schemas.openxmlformats.org/drawingml/2006/main">
              <a:ext uri="{FF2B5EF4-FFF2-40B4-BE49-F238E27FC236}">
                <a16:creationId xmlns:a16="http://schemas.microsoft.com/office/drawing/2014/main" id="{677800BD-247C-46DB-B0A6-0542DC13ED71}"/>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ANLP mid-submission / 2 October 2026">
            <a:extLst xmlns:a="http://schemas.openxmlformats.org/drawingml/2006/main">
              <a:ext uri="{FF2B5EF4-FFF2-40B4-BE49-F238E27FC236}">
                <a16:creationId xmlns:a16="http://schemas.microsoft.com/office/drawing/2014/main" id="{C728996A-3EE9-4AD0-AA13-4D02A6386392}"/>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ANLP mid-submission / 2 October 2026</a:t>
            </a:r>
          </a:p>
        </p:txBody>
      </p:sp>
      <p:sp>
        <p:nvSpPr>
          <p:cNvPr id="4" name="2">
            <a:extLst xmlns:a="http://schemas.openxmlformats.org/drawingml/2006/main">
              <a:ext uri="{FF2B5EF4-FFF2-40B4-BE49-F238E27FC236}">
                <a16:creationId xmlns:a16="http://schemas.microsoft.com/office/drawing/2014/main" id="{C3F35D21-CB83-43C7-A529-EA700EA4DF09}"/>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2</a:t>
            </a:r>
          </a:p>
        </p:txBody>
      </p:sp>
      <p:sp>
        <p:nvSpPr>
          <p:cNvPr id="5" name="A correct visual answer still has to be mappe">
            <a:extLst xmlns:a="http://schemas.openxmlformats.org/drawingml/2006/main">
              <a:ext uri="{FF2B5EF4-FFF2-40B4-BE49-F238E27FC236}">
                <a16:creationId xmlns:a16="http://schemas.microsoft.com/office/drawing/2014/main" id="{3169CB6D-5B9C-4C76-9A00-614C3DA88BDB}"/>
              </a:ext>
            </a:extLst>
          </p:cNvPr>
          <p:cNvSpPr>
            <a:spLocks xmlns:a="http://schemas.openxmlformats.org/drawingml/2006/main" noGrp="1"/>
          </p:cNvSpPr>
          <p:nvPr/>
        </p:nvSpPr>
        <p:spPr>
          <a:xfrm xmlns:a="http://schemas.openxmlformats.org/drawingml/2006/main">
            <a:off x="628650" y="1362075"/>
            <a:ext cx="10915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243A"/>
                </a:solidFill>
                <a:latin typeface="Liberation Sans"/>
                <a:ea typeface="Liberation Sans"/>
                <a:cs typeface="Liberation Sans"/>
              </a:defRPr>
            </a:pPr>
            <a:r>
              <a:rPr sz="2400" b="1">
                <a:solidFill>
                  <a:srgbClr val="17243A"/>
                </a:solidFill>
                <a:latin typeface="Liberation Sans"/>
                <a:ea typeface="Liberation Sans"/>
                <a:cs typeface="Liberation Sans"/>
              </a:rPr>
              <a:t>A correct visual answer still has to be mapped to the prompt’s format</a:t>
            </a:r>
          </a:p>
        </p:txBody>
      </p:sp>
      <p:graphicFrame>
        <p:nvGraphicFramePr>
          <p:cNvPr id="13" name=""/>
          <p:cNvGraphicFramePr/>
          <p:nvPr/>
        </p:nvGraphicFramePr>
        <p:xfrm>
          <a:off xmlns:a="http://schemas.openxmlformats.org/drawingml/2006/main" x="628650" y="2495550"/>
          <a:ext xmlns:a="http://schemas.openxmlformats.org/drawingml/2006/main" cx="10925175" cy="2571750"/>
        </p:xfrm>
        <a:graphic xmlns:a="http://schemas.openxmlformats.org/drawingml/2006/main">
          <a:graphicData uri="http://schemas.openxmlformats.org/drawingml/2006/table">
            <a:tbl>
              <a:tblPr/>
              <a:tblGrid>
                <a:gridCol w="3143250"/>
                <a:gridCol w="4095750"/>
                <a:gridCol w="3686175"/>
              </a:tblGrid>
              <a:tr h="642938">
                <a:tc>
                  <a:txBody>
                    <a:bodyPr lIns="114300" tIns="85725" rIns="95250" bIns="85725"/>
                    <a:lstStyle/>
                    <a:p>
                      <a:r>
                        <a:rPr sz="1875" b="1">
                          <a:solidFill>
                            <a:srgbClr val="FFFFFF"/>
                          </a:solidFill>
                          <a:latin typeface="Liberation Sans"/>
                          <a:ea typeface="Liberation Sans"/>
                          <a:cs typeface="Liberation Sans"/>
                        </a:rPr>
                        <a:t>What changes?</a:t>
                      </a:r>
                    </a:p>
                  </a:txBody>
                  <a:tcPr marL="91440" marR="91440" marT="45720" marB="45720" anchor="ctr">
                    <a:solidFill>
                      <a:srgbClr val="17243A"/>
                    </a:solidFill>
                  </a:tcPr>
                </a:tc>
                <a:tc>
                  <a:txBody>
                    <a:bodyPr lIns="114300" tIns="85725" rIns="95250" bIns="85725"/>
                    <a:lstStyle/>
                    <a:p>
                      <a:r>
                        <a:rPr sz="1875" b="1">
                          <a:solidFill>
                            <a:srgbClr val="FFFFFF"/>
                          </a:solidFill>
                          <a:latin typeface="Liberation Sans"/>
                          <a:ea typeface="Liberation Sans"/>
                          <a:cs typeface="Liberation Sans"/>
                        </a:rPr>
                        <a:t>What should stay fixed?</a:t>
                      </a:r>
                    </a:p>
                  </a:txBody>
                  <a:tcPr marL="91440" marR="91440" marT="45720" marB="45720" anchor="ctr">
                    <a:solidFill>
                      <a:srgbClr val="17243A"/>
                    </a:solidFill>
                  </a:tcPr>
                </a:tc>
                <a:tc>
                  <a:txBody>
                    <a:bodyPr lIns="114300" tIns="85725" rIns="95250" bIns="85725"/>
                    <a:lstStyle/>
                    <a:p>
                      <a:r>
                        <a:rPr sz="1875" b="1">
                          <a:solidFill>
                            <a:srgbClr val="FFFFFF"/>
                          </a:solidFill>
                          <a:latin typeface="Liberation Sans"/>
                          <a:ea typeface="Liberation Sans"/>
                          <a:cs typeface="Liberation Sans"/>
                        </a:rPr>
                        <a:t>What must change?</a:t>
                      </a:r>
                    </a:p>
                  </a:txBody>
                  <a:tcPr marL="91440" marR="91440" marT="45720" marB="45720" anchor="ctr">
                    <a:solidFill>
                      <a:srgbClr val="17243A"/>
                    </a:solidFill>
                  </a:tcPr>
                </a:tc>
              </a:tr>
              <a:tr h="642938">
                <a:tc>
                  <a:txBody>
                    <a:bodyPr lIns="114300" tIns="85725" rIns="95250" bIns="85725"/>
                    <a:lstStyle/>
                    <a:p>
                      <a:r>
                        <a:rPr sz="1875" b="0">
                          <a:solidFill>
                            <a:srgbClr val="17243A"/>
                          </a:solidFill>
                          <a:latin typeface="Liberation Sans"/>
                          <a:ea typeface="Liberation Sans"/>
                          <a:cs typeface="Liberation Sans"/>
                        </a:rPr>
                        <a:t>Option order</a:t>
                      </a:r>
                    </a:p>
                  </a:txBody>
                  <a:tcPr marL="91440" marR="91440" marT="45720" marB="45720" anchor="ctr">
                    <a:solidFill>
                      <a:srgbClr val="FFFFFF"/>
                    </a:solidFill>
                  </a:tcPr>
                </a:tc>
                <a:tc>
                  <a:txBody>
                    <a:bodyPr lIns="114300" tIns="85725" rIns="95250" bIns="85725"/>
                    <a:lstStyle/>
                    <a:p>
                      <a:r>
                        <a:rPr sz="1875" b="0">
                          <a:solidFill>
                            <a:srgbClr val="17243A"/>
                          </a:solidFill>
                          <a:latin typeface="Liberation Sans"/>
                          <a:ea typeface="Liberation Sans"/>
                          <a:cs typeface="Liberation Sans"/>
                        </a:rPr>
                        <a:t>Image and answer “two”</a:t>
                      </a:r>
                    </a:p>
                  </a:txBody>
                  <a:tcPr marL="91440" marR="91440" marT="45720" marB="45720" anchor="ctr">
                    <a:solidFill>
                      <a:srgbClr val="FFFFFF"/>
                    </a:solidFill>
                  </a:tcPr>
                </a:tc>
                <a:tc>
                  <a:txBody>
                    <a:bodyPr lIns="114300" tIns="85725" rIns="95250" bIns="85725"/>
                    <a:lstStyle/>
                    <a:p>
                      <a:r>
                        <a:rPr sz="1875" b="0">
                          <a:solidFill>
                            <a:srgbClr val="17243A"/>
                          </a:solidFill>
                          <a:latin typeface="Liberation Sans"/>
                          <a:ea typeface="Liberation Sans"/>
                          <a:cs typeface="Liberation Sans"/>
                        </a:rPr>
                        <a:t>Correct label: C → A</a:t>
                      </a:r>
                    </a:p>
                  </a:txBody>
                  <a:tcPr marL="91440" marR="91440" marT="45720" marB="45720" anchor="ctr">
                    <a:solidFill>
                      <a:srgbClr val="FFFFFF"/>
                    </a:solidFill>
                  </a:tcPr>
                </a:tc>
              </a:tr>
              <a:tr h="642938">
                <a:tc>
                  <a:txBody>
                    <a:bodyPr lIns="114300" tIns="85725" rIns="95250" bIns="85725"/>
                    <a:lstStyle/>
                    <a:p>
                      <a:r>
                        <a:rPr sz="1875" b="0">
                          <a:solidFill>
                            <a:srgbClr val="17243A"/>
                          </a:solidFill>
                          <a:latin typeface="Liberation Sans"/>
                          <a:ea typeface="Liberation Sans"/>
                          <a:cs typeface="Liberation Sans"/>
                        </a:rPr>
                        <a:t>Label alphabet</a:t>
                      </a:r>
                    </a:p>
                  </a:txBody>
                  <a:tcPr marL="91440" marR="91440" marT="45720" marB="45720" anchor="ctr">
                    <a:solidFill>
                      <a:srgbClr val="E9EEF6"/>
                    </a:solidFill>
                  </a:tcPr>
                </a:tc>
                <a:tc>
                  <a:txBody>
                    <a:bodyPr lIns="114300" tIns="85725" rIns="95250" bIns="85725"/>
                    <a:lstStyle/>
                    <a:p>
                      <a:r>
                        <a:rPr sz="1875" b="0">
                          <a:solidFill>
                            <a:srgbClr val="17243A"/>
                          </a:solidFill>
                          <a:latin typeface="Liberation Sans"/>
                          <a:ea typeface="Liberation Sans"/>
                          <a:cs typeface="Liberation Sans"/>
                        </a:rPr>
                        <a:t>Image and answer “two”</a:t>
                      </a:r>
                    </a:p>
                  </a:txBody>
                  <a:tcPr marL="91440" marR="91440" marT="45720" marB="45720" anchor="ctr">
                    <a:solidFill>
                      <a:srgbClr val="E9EEF6"/>
                    </a:solidFill>
                  </a:tcPr>
                </a:tc>
                <a:tc>
                  <a:txBody>
                    <a:bodyPr lIns="114300" tIns="85725" rIns="95250" bIns="85725"/>
                    <a:lstStyle/>
                    <a:p>
                      <a:r>
                        <a:rPr sz="1875" b="0">
                          <a:solidFill>
                            <a:srgbClr val="17243A"/>
                          </a:solidFill>
                          <a:latin typeface="Liberation Sans"/>
                          <a:ea typeface="Liberation Sans"/>
                          <a:cs typeface="Liberation Sans"/>
                        </a:rPr>
                        <a:t>Output token: C → 3</a:t>
                      </a:r>
                    </a:p>
                  </a:txBody>
                  <a:tcPr marL="91440" marR="91440" marT="45720" marB="45720" anchor="ctr">
                    <a:solidFill>
                      <a:srgbClr val="E9EEF6"/>
                    </a:solidFill>
                  </a:tcPr>
                </a:tc>
              </a:tr>
              <a:tr h="642938">
                <a:tc>
                  <a:txBody>
                    <a:bodyPr lIns="114300" tIns="85725" rIns="95250" bIns="85725"/>
                    <a:lstStyle/>
                    <a:p>
                      <a:r>
                        <a:rPr sz="1875" b="0">
                          <a:solidFill>
                            <a:srgbClr val="17243A"/>
                          </a:solidFill>
                          <a:latin typeface="Liberation Sans"/>
                          <a:ea typeface="Liberation Sans"/>
                          <a:cs typeface="Liberation Sans"/>
                        </a:rPr>
                        <a:t>Visual evidence</a:t>
                      </a:r>
                    </a:p>
                  </a:txBody>
                  <a:tcPr marL="91440" marR="91440" marT="45720" marB="45720" anchor="ctr">
                    <a:solidFill>
                      <a:srgbClr val="FFFFFF"/>
                    </a:solidFill>
                  </a:tcPr>
                </a:tc>
                <a:tc>
                  <a:txBody>
                    <a:bodyPr lIns="114300" tIns="85725" rIns="95250" bIns="85725"/>
                    <a:lstStyle/>
                    <a:p>
                      <a:r>
                        <a:rPr sz="1875" b="0">
                          <a:solidFill>
                            <a:srgbClr val="17243A"/>
                          </a:solidFill>
                          <a:latin typeface="Liberation Sans"/>
                          <a:ea typeface="Liberation Sans"/>
                          <a:cs typeface="Liberation Sans"/>
                        </a:rPr>
                        <a:t>Question and option text</a:t>
                      </a:r>
                    </a:p>
                  </a:txBody>
                  <a:tcPr marL="91440" marR="91440" marT="45720" marB="45720" anchor="ctr">
                    <a:solidFill>
                      <a:srgbClr val="FFFFFF"/>
                    </a:solidFill>
                  </a:tcPr>
                </a:tc>
                <a:tc>
                  <a:txBody>
                    <a:bodyPr lIns="114300" tIns="85725" rIns="95250" bIns="85725"/>
                    <a:lstStyle/>
                    <a:p>
                      <a:r>
                        <a:rPr sz="1875" b="0">
                          <a:solidFill>
                            <a:srgbClr val="17243A"/>
                          </a:solidFill>
                          <a:latin typeface="Liberation Sans"/>
                          <a:ea typeface="Liberation Sans"/>
                          <a:cs typeface="Liberation Sans"/>
                        </a:rPr>
                        <a:t>Answer: “two” → “one”</a:t>
                      </a:r>
                    </a:p>
                  </a:txBody>
                  <a:tcPr marL="91440" marR="91440" marT="45720" marB="45720" anchor="ctr">
                    <a:solidFill>
                      <a:srgbClr val="FFFFFF"/>
                    </a:solidFill>
                  </a:tcPr>
                </a:tc>
              </a:tr>
            </a:tbl>
          </a:graphicData>
        </a:graphic>
      </p:graphicFrame>
      <p:sp>
        <p:nvSpPr>
          <p:cNvPr id="7" name="Which internal states connect visual evidence">
            <a:extLst xmlns:a="http://schemas.openxmlformats.org/drawingml/2006/main">
              <a:ext uri="{FF2B5EF4-FFF2-40B4-BE49-F238E27FC236}">
                <a16:creationId xmlns:a16="http://schemas.microsoft.com/office/drawing/2014/main" id="{33A63587-F158-4EF6-8366-B4F69411D195}"/>
              </a:ext>
            </a:extLst>
          </p:cNvPr>
          <p:cNvSpPr>
            <a:spLocks xmlns:a="http://schemas.openxmlformats.org/drawingml/2006/main" noGrp="1"/>
          </p:cNvSpPr>
          <p:nvPr/>
        </p:nvSpPr>
        <p:spPr>
          <a:xfrm xmlns:a="http://schemas.openxmlformats.org/drawingml/2006/main">
            <a:off x="647700" y="55626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967D2"/>
                </a:solidFill>
                <a:latin typeface="Liberation Sans"/>
                <a:ea typeface="Liberation Sans"/>
                <a:cs typeface="Liberation Sans"/>
              </a:defRPr>
            </a:pPr>
            <a:r>
              <a:rPr sz="2325" b="0">
                <a:solidFill>
                  <a:srgbClr val="1967D2"/>
                </a:solidFill>
                <a:latin typeface="Liberation Sans"/>
                <a:ea typeface="Liberation Sans"/>
                <a:cs typeface="Liberation Sans"/>
              </a:rPr>
              <a:t>Which internal states connect visual evidence to the emitted label?</a:t>
            </a:r>
          </a:p>
        </p:txBody>
      </p:sp>
    </p:spTree>
    <p:extLst>
      <p:ext uri="{BB962C8B-B14F-4D97-AF65-F5344CB8AC3E}">
        <p14:creationId xmlns:p14="http://schemas.microsoft.com/office/powerpoint/2010/main" val="758936067"/>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Related work motivates the answer-to-label qu">
            <a:extLst xmlns:a="http://schemas.openxmlformats.org/drawingml/2006/main">
              <a:ext uri="{FF2B5EF4-FFF2-40B4-BE49-F238E27FC236}">
                <a16:creationId xmlns:a16="http://schemas.microsoft.com/office/drawing/2014/main" id="{DF6C87B4-AD1E-4C2C-A215-F9FAE091798A}"/>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Related work motivates the answer-to-label question</a:t>
            </a:r>
          </a:p>
        </p:txBody>
      </p:sp>
      <p:sp>
        <p:nvSpPr>
          <p:cNvPr id="2" name="">
            <a:extLst xmlns:a="http://schemas.openxmlformats.org/drawingml/2006/main">
              <a:ext uri="{FF2B5EF4-FFF2-40B4-BE49-F238E27FC236}">
                <a16:creationId xmlns:a16="http://schemas.microsoft.com/office/drawing/2014/main" id="{AEE4977D-5E40-46DB-AE5A-9CB3AA80CDDA}"/>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ANLP mid-submission / 2 October 2026">
            <a:extLst xmlns:a="http://schemas.openxmlformats.org/drawingml/2006/main">
              <a:ext uri="{FF2B5EF4-FFF2-40B4-BE49-F238E27FC236}">
                <a16:creationId xmlns:a16="http://schemas.microsoft.com/office/drawing/2014/main" id="{CA3F4696-BA86-4036-BDBF-4B0EF989E345}"/>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ANLP mid-submission / 2 October 2026</a:t>
            </a:r>
          </a:p>
        </p:txBody>
      </p:sp>
      <p:sp>
        <p:nvSpPr>
          <p:cNvPr id="4" name="3">
            <a:extLst xmlns:a="http://schemas.openxmlformats.org/drawingml/2006/main">
              <a:ext uri="{FF2B5EF4-FFF2-40B4-BE49-F238E27FC236}">
                <a16:creationId xmlns:a16="http://schemas.microsoft.com/office/drawing/2014/main" id="{6E0EB796-D759-4110-81AB-A63298F00F8D}"/>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3</a:t>
            </a:r>
          </a:p>
        </p:txBody>
      </p:sp>
      <p:sp>
        <p:nvSpPr>
          <p:cNvPr id="5" name="">
            <a:extLst xmlns:a="http://schemas.openxmlformats.org/drawingml/2006/main">
              <a:ext uri="{FF2B5EF4-FFF2-40B4-BE49-F238E27FC236}">
                <a16:creationId xmlns:a16="http://schemas.microsoft.com/office/drawing/2014/main" id="{9340190D-988F-4CFC-A6D8-3DA24456EC67}"/>
              </a:ext>
            </a:extLst>
          </p:cNvPr>
          <p:cNvSpPr>
            <a:spLocks xmlns:a="http://schemas.openxmlformats.org/drawingml/2006/main" noGrp="1"/>
          </p:cNvSpPr>
          <p:nvPr/>
        </p:nvSpPr>
        <p:spPr>
          <a:xfrm xmlns:a="http://schemas.openxmlformats.org/drawingml/2006/main">
            <a:off x="619125" y="1304925"/>
            <a:ext cx="10925175" cy="1162050"/>
          </a:xfrm>
          <a:prstGeom xmlns:a="http://schemas.openxmlformats.org/drawingml/2006/main" prst="roundRect">
            <a:avLst>
              <a:gd name="adj" fmla="val 8197"/>
            </a:avLst>
          </a:prstGeom>
          <a:solidFill xmlns:a="http://schemas.openxmlformats.org/drawingml/2006/main">
            <a:srgbClr val="E8F3F2"/>
          </a:solidFill>
          <a:ln xmlns:a="http://schemas.openxmlformats.org/drawingml/2006/main" w="0">
            <a:noFill/>
          </a:ln>
        </p:spPr>
      </p:sp>
      <p:sp>
        <p:nvSpPr>
          <p:cNvPr id="6" name="Which decoder states and heads causally media">
            <a:extLst xmlns:a="http://schemas.openxmlformats.org/drawingml/2006/main">
              <a:ext uri="{FF2B5EF4-FFF2-40B4-BE49-F238E27FC236}">
                <a16:creationId xmlns:a16="http://schemas.microsoft.com/office/drawing/2014/main" id="{5A1E9011-8C19-424B-A33B-2E79CEAAC049}"/>
              </a:ext>
            </a:extLst>
          </p:cNvPr>
          <p:cNvSpPr>
            <a:spLocks xmlns:a="http://schemas.openxmlformats.org/drawingml/2006/main" noGrp="1"/>
          </p:cNvSpPr>
          <p:nvPr/>
        </p:nvSpPr>
        <p:spPr>
          <a:xfrm xmlns:a="http://schemas.openxmlformats.org/drawingml/2006/main">
            <a:off x="857250" y="1524000"/>
            <a:ext cx="1038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243A"/>
                </a:solidFill>
                <a:latin typeface="Liberation Sans"/>
                <a:ea typeface="Liberation Sans"/>
                <a:cs typeface="Liberation Sans"/>
              </a:defRPr>
            </a:pPr>
            <a:r>
              <a:rPr sz="2400" b="1">
                <a:solidFill>
                  <a:srgbClr val="17243A"/>
                </a:solidFill>
                <a:latin typeface="Liberation Sans"/>
                <a:ea typeface="Liberation Sans"/>
                <a:cs typeface="Liberation Sans"/>
              </a:rPr>
              <a:t>Which decoder states and heads causally mediate</a:t>
            </a:r>
          </a:p>
          <a:p xmlns:a="http://schemas.openxmlformats.org/drawingml/2006/main">
            <a:pPr algn="l">
              <a:defRPr sz="2400" b="1">
                <a:solidFill>
                  <a:srgbClr val="17243A"/>
                </a:solidFill>
                <a:latin typeface="Liberation Sans"/>
                <a:ea typeface="Liberation Sans"/>
                <a:cs typeface="Liberation Sans"/>
              </a:defRPr>
            </a:pPr>
            <a:r>
              <a:rPr sz="2400" b="1">
                <a:solidFill>
                  <a:srgbClr val="17243A"/>
                </a:solidFill>
                <a:latin typeface="Liberation Sans"/>
                <a:ea typeface="Liberation Sans"/>
                <a:cs typeface="Liberation Sans"/>
              </a:rPr>
              <a:t>image-dependent answers and position-dependent labels?</a:t>
            </a:r>
          </a:p>
        </p:txBody>
      </p:sp>
      <p:graphicFrame>
        <p:nvGraphicFramePr>
          <p:cNvPr id="15" name=""/>
          <p:cNvGraphicFramePr/>
          <p:nvPr/>
        </p:nvGraphicFramePr>
        <p:xfrm>
          <a:off xmlns:a="http://schemas.openxmlformats.org/drawingml/2006/main" x="628650" y="2886075"/>
          <a:ext xmlns:a="http://schemas.openxmlformats.org/drawingml/2006/main" cx="10858500" cy="2457450"/>
        </p:xfrm>
        <a:graphic xmlns:a="http://schemas.openxmlformats.org/drawingml/2006/main">
          <a:graphicData uri="http://schemas.openxmlformats.org/drawingml/2006/table">
            <a:tbl>
              <a:tblPr/>
              <a:tblGrid>
                <a:gridCol w="2667000"/>
                <a:gridCol w="8191500"/>
              </a:tblGrid>
              <a:tr h="614363">
                <a:tc>
                  <a:txBody>
                    <a:bodyPr lIns="114300" tIns="85725" rIns="95250" bIns="85725"/>
                    <a:lstStyle/>
                    <a:p>
                      <a:r>
                        <a:rPr sz="1800" b="1">
                          <a:solidFill>
                            <a:srgbClr val="FFFFFF"/>
                          </a:solidFill>
                          <a:latin typeface="Liberation Sans"/>
                          <a:ea typeface="Liberation Sans"/>
                          <a:cs typeface="Liberation Sans"/>
                        </a:rPr>
                        <a:t>Prior work</a:t>
                      </a:r>
                    </a:p>
                  </a:txBody>
                  <a:tcPr marL="91440" marR="91440" marT="45720" marB="45720" anchor="ctr">
                    <a:solidFill>
                      <a:srgbClr val="17243A"/>
                    </a:solidFill>
                  </a:tcPr>
                </a:tc>
                <a:tc>
                  <a:txBody>
                    <a:bodyPr lIns="114300" tIns="85725" rIns="95250" bIns="85725"/>
                    <a:lstStyle/>
                    <a:p>
                      <a:r>
                        <a:rPr sz="1800" b="1">
                          <a:solidFill>
                            <a:srgbClr val="FFFFFF"/>
                          </a:solidFill>
                          <a:latin typeface="Liberation Sans"/>
                          <a:ea typeface="Liberation Sans"/>
                          <a:cs typeface="Liberation Sans"/>
                        </a:rPr>
                        <a:t>What we build on</a:t>
                      </a:r>
                    </a:p>
                  </a:txBody>
                  <a:tcPr marL="91440" marR="91440" marT="45720" marB="45720" anchor="ctr">
                    <a:solidFill>
                      <a:srgbClr val="17243A"/>
                    </a:solidFill>
                  </a:tcPr>
                </a:tc>
              </a:tr>
              <a:tr h="614363">
                <a:tc>
                  <a:txBody>
                    <a:bodyPr lIns="114300" tIns="85725" rIns="95250" bIns="85725"/>
                    <a:lstStyle/>
                    <a:p>
                      <a:r>
                        <a:rPr sz="1800" b="0">
                          <a:solidFill>
                            <a:srgbClr val="17243A"/>
                          </a:solidFill>
                          <a:latin typeface="Liberation Sans"/>
                          <a:ea typeface="Liberation Sans"/>
                          <a:cs typeface="Liberation Sans"/>
                        </a:rPr>
                        <a:t>AAA</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Answer representations and output-label assembly</a:t>
                      </a:r>
                    </a:p>
                  </a:txBody>
                  <a:tcPr marL="91440" marR="91440" marT="45720" marB="45720" anchor="ctr">
                    <a:solidFill>
                      <a:srgbClr val="FFFFFF"/>
                    </a:solidFill>
                  </a:tcPr>
                </a:tc>
              </a:tr>
              <a:tr h="614363">
                <a:tc>
                  <a:txBody>
                    <a:bodyPr lIns="114300" tIns="85725" rIns="95250" bIns="85725"/>
                    <a:lstStyle/>
                    <a:p>
                      <a:r>
                        <a:rPr sz="1800" b="0">
                          <a:solidFill>
                            <a:srgbClr val="17243A"/>
                          </a:solidFill>
                          <a:latin typeface="Liberation Sans"/>
                          <a:ea typeface="Liberation Sans"/>
                          <a:cs typeface="Liberation Sans"/>
                        </a:rPr>
                        <a:t>NOTICE</a:t>
                      </a:r>
                    </a:p>
                  </a:txBody>
                  <a:tcPr marL="91440" marR="91440" marT="45720" marB="45720" anchor="ctr">
                    <a:solidFill>
                      <a:srgbClr val="E9EEF6"/>
                    </a:solidFill>
                  </a:tcPr>
                </a:tc>
                <a:tc>
                  <a:txBody>
                    <a:bodyPr lIns="114300" tIns="85725" rIns="95250" bIns="85725"/>
                    <a:lstStyle/>
                    <a:p>
                      <a:r>
                        <a:rPr sz="1800" b="0">
                          <a:solidFill>
                            <a:srgbClr val="17243A"/>
                          </a:solidFill>
                          <a:latin typeface="Liberation Sans"/>
                          <a:ea typeface="Liberation Sans"/>
                          <a:cs typeface="Liberation Sans"/>
                        </a:rPr>
                        <a:t>Semantic image-pair interventions</a:t>
                      </a:r>
                    </a:p>
                  </a:txBody>
                  <a:tcPr marL="91440" marR="91440" marT="45720" marB="45720" anchor="ctr">
                    <a:solidFill>
                      <a:srgbClr val="E9EEF6"/>
                    </a:solidFill>
                  </a:tcPr>
                </a:tc>
              </a:tr>
              <a:tr h="614363">
                <a:tc>
                  <a:txBody>
                    <a:bodyPr lIns="114300" tIns="85725" rIns="95250" bIns="85725"/>
                    <a:lstStyle/>
                    <a:p>
                      <a:r>
                        <a:rPr sz="1800" b="0">
                          <a:solidFill>
                            <a:srgbClr val="17243A"/>
                          </a:solidFill>
                          <a:latin typeface="Liberation Sans"/>
                          <a:ea typeface="Liberation Sans"/>
                          <a:cs typeface="Liberation Sans"/>
                        </a:rPr>
                        <a:t>Wong / Palacios</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Answer accessibility versus late symbol alignment</a:t>
                      </a:r>
                    </a:p>
                  </a:txBody>
                  <a:tcPr marL="91440" marR="91440" marT="45720" marB="45720" anchor="ctr">
                    <a:solidFill>
                      <a:srgbClr val="FFFFFF"/>
                    </a:solidFill>
                  </a:tcPr>
                </a:tc>
              </a:tr>
            </a:tbl>
          </a:graphicData>
        </a:graphic>
      </p:graphicFrame>
      <p:sp>
        <p:nvSpPr>
          <p:cNvPr id="8" name="Adapt AAA’s answer-to-label analysis and NOTI">
            <a:extLst xmlns:a="http://schemas.openxmlformats.org/drawingml/2006/main">
              <a:ext uri="{FF2B5EF4-FFF2-40B4-BE49-F238E27FC236}">
                <a16:creationId xmlns:a16="http://schemas.microsoft.com/office/drawing/2014/main" id="{805B5B25-06BB-418F-BD93-70054A4C63FF}"/>
              </a:ext>
            </a:extLst>
          </p:cNvPr>
          <p:cNvSpPr>
            <a:spLocks xmlns:a="http://schemas.openxmlformats.org/drawingml/2006/main" noGrp="1"/>
          </p:cNvSpPr>
          <p:nvPr/>
        </p:nvSpPr>
        <p:spPr>
          <a:xfrm xmlns:a="http://schemas.openxmlformats.org/drawingml/2006/main">
            <a:off x="647700" y="56959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967D2"/>
                </a:solidFill>
                <a:latin typeface="Liberation Sans"/>
                <a:ea typeface="Liberation Sans"/>
                <a:cs typeface="Liberation Sans"/>
              </a:defRPr>
            </a:pPr>
            <a:r>
              <a:rPr sz="2025" b="0">
                <a:solidFill>
                  <a:srgbClr val="1967D2"/>
                </a:solidFill>
                <a:latin typeface="Liberation Sans"/>
                <a:ea typeface="Liberation Sans"/>
                <a:cs typeface="Liberation Sans"/>
              </a:rPr>
              <a:t>Adapt AAA’s answer-to-label analysis and NOTICE’s image interventions</a:t>
            </a:r>
          </a:p>
        </p:txBody>
      </p:sp>
    </p:spTree>
    <p:extLst>
      <p:ext uri="{BB962C8B-B14F-4D97-AF65-F5344CB8AC3E}">
        <p14:creationId xmlns:p14="http://schemas.microsoft.com/office/powerpoint/2010/main" val="1097206327"/>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Early exploration: label promotion and answer">
            <a:extLst xmlns:a="http://schemas.openxmlformats.org/drawingml/2006/main">
              <a:ext uri="{FF2B5EF4-FFF2-40B4-BE49-F238E27FC236}">
                <a16:creationId xmlns:a16="http://schemas.microsoft.com/office/drawing/2014/main" id="{C7FEF07A-9C89-484B-B4D0-9615FE1F4752}"/>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Early exploration: label promotion and answer selection</a:t>
            </a:r>
          </a:p>
        </p:txBody>
      </p:sp>
      <p:sp>
        <p:nvSpPr>
          <p:cNvPr id="2" name="">
            <a:extLst xmlns:a="http://schemas.openxmlformats.org/drawingml/2006/main">
              <a:ext uri="{FF2B5EF4-FFF2-40B4-BE49-F238E27FC236}">
                <a16:creationId xmlns:a16="http://schemas.microsoft.com/office/drawing/2014/main" id="{FEFE4068-512C-4C9B-9823-29D58275B162}"/>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Early exploration / Qwen2.5-VL-3B / 64 Shapes">
            <a:extLst xmlns:a="http://schemas.openxmlformats.org/drawingml/2006/main">
              <a:ext uri="{FF2B5EF4-FFF2-40B4-BE49-F238E27FC236}">
                <a16:creationId xmlns:a16="http://schemas.microsoft.com/office/drawing/2014/main" id="{95231B66-175C-4CD3-8493-0D5C3980D5CD}"/>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Early exploration / Qwen2.5-VL-3B / 64 Shapes pairs / 2,560 prompts</a:t>
            </a:r>
          </a:p>
        </p:txBody>
      </p:sp>
      <p:sp>
        <p:nvSpPr>
          <p:cNvPr id="4" name="4">
            <a:extLst xmlns:a="http://schemas.openxmlformats.org/drawingml/2006/main">
              <a:ext uri="{FF2B5EF4-FFF2-40B4-BE49-F238E27FC236}">
                <a16:creationId xmlns:a16="http://schemas.microsoft.com/office/drawing/2014/main" id="{E3DB337D-EFA4-4871-9A5B-B67BE2B6E423}"/>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f2e9e03196d4e36"/>
          <a:stretch xmlns:a="http://schemas.openxmlformats.org/drawingml/2006/main"/>
        </p:blipFill>
        <p:spPr>
          <a:xfrm xmlns:a="http://schemas.openxmlformats.org/drawingml/2006/main">
            <a:off x="789295" y="1409700"/>
            <a:ext cx="6746259" cy="4352925"/>
          </a:xfrm>
          <a:prstGeom xmlns:a="http://schemas.openxmlformats.org/drawingml/2006/main" prst="rect">
            <a:avLst/>
          </a:prstGeom>
        </p:spPr>
      </p:pic>
      <p:sp>
        <p:nvSpPr>
          <p:cNvPr id="6" name="All four labels rise late">
            <a:extLst xmlns:a="http://schemas.openxmlformats.org/drawingml/2006/main">
              <a:ext uri="{FF2B5EF4-FFF2-40B4-BE49-F238E27FC236}">
                <a16:creationId xmlns:a16="http://schemas.microsoft.com/office/drawing/2014/main" id="{148BE1E1-5A15-45EB-A315-E05E5E2174C2}"/>
              </a:ext>
            </a:extLst>
          </p:cNvPr>
          <p:cNvSpPr>
            <a:spLocks xmlns:a="http://schemas.openxmlformats.org/drawingml/2006/main" noGrp="1"/>
          </p:cNvSpPr>
          <p:nvPr/>
        </p:nvSpPr>
        <p:spPr>
          <a:xfrm xmlns:a="http://schemas.openxmlformats.org/drawingml/2006/main">
            <a:off x="8105775" y="1695450"/>
            <a:ext cx="3381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43A"/>
                </a:solidFill>
                <a:latin typeface="Liberation Sans"/>
                <a:ea typeface="Liberation Sans"/>
                <a:cs typeface="Liberation Sans"/>
              </a:defRPr>
            </a:pPr>
            <a:r>
              <a:rPr sz="2175" b="1">
                <a:solidFill>
                  <a:srgbClr val="17243A"/>
                </a:solidFill>
                <a:latin typeface="Liberation Sans"/>
                <a:ea typeface="Liberation Sans"/>
                <a:cs typeface="Liberation Sans"/>
              </a:rPr>
              <a:t>All four labels rise late</a:t>
            </a:r>
          </a:p>
        </p:txBody>
      </p:sp>
      <p:sp>
        <p:nvSpPr>
          <p:cNvPr id="7" name="The correct label gains&#10;an additional advanta">
            <a:extLst xmlns:a="http://schemas.openxmlformats.org/drawingml/2006/main">
              <a:ext uri="{FF2B5EF4-FFF2-40B4-BE49-F238E27FC236}">
                <a16:creationId xmlns:a16="http://schemas.microsoft.com/office/drawing/2014/main" id="{A67B35D4-DD8A-4C8B-9515-2C5E3AC6A959}"/>
              </a:ext>
            </a:extLst>
          </p:cNvPr>
          <p:cNvSpPr>
            <a:spLocks xmlns:a="http://schemas.openxmlformats.org/drawingml/2006/main" noGrp="1"/>
          </p:cNvSpPr>
          <p:nvPr/>
        </p:nvSpPr>
        <p:spPr>
          <a:xfrm xmlns:a="http://schemas.openxmlformats.org/drawingml/2006/main">
            <a:off x="8105775" y="2838450"/>
            <a:ext cx="3381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967D2"/>
                </a:solidFill>
                <a:latin typeface="Liberation Sans"/>
                <a:ea typeface="Liberation Sans"/>
                <a:cs typeface="Liberation Sans"/>
              </a:defRPr>
            </a:pPr>
            <a:r>
              <a:rPr sz="2100" b="1">
                <a:solidFill>
                  <a:srgbClr val="1967D2"/>
                </a:solidFill>
                <a:latin typeface="Liberation Sans"/>
                <a:ea typeface="Liberation Sans"/>
                <a:cs typeface="Liberation Sans"/>
              </a:rPr>
              <a:t>The correct label gains</a:t>
            </a:r>
          </a:p>
          <a:p xmlns:a="http://schemas.openxmlformats.org/drawingml/2006/main">
            <a:pPr algn="l">
              <a:defRPr sz="2100" b="1">
                <a:solidFill>
                  <a:srgbClr val="1967D2"/>
                </a:solidFill>
                <a:latin typeface="Liberation Sans"/>
                <a:ea typeface="Liberation Sans"/>
                <a:cs typeface="Liberation Sans"/>
              </a:defRPr>
            </a:pPr>
            <a:r>
              <a:rPr sz="2100" b="1">
                <a:solidFill>
                  <a:srgbClr val="1967D2"/>
                </a:solidFill>
                <a:latin typeface="Liberation Sans"/>
                <a:ea typeface="Liberation Sans"/>
                <a:cs typeface="Liberation Sans"/>
              </a:rPr>
              <a:t>an additional advantage</a:t>
            </a:r>
          </a:p>
        </p:txBody>
      </p:sp>
      <p:sp>
        <p:nvSpPr>
          <p:cNvPr id="8" name="Valid full-vocabulary top label:&#10;A/B/C/D  100">
            <a:extLst xmlns:a="http://schemas.openxmlformats.org/drawingml/2006/main">
              <a:ext uri="{FF2B5EF4-FFF2-40B4-BE49-F238E27FC236}">
                <a16:creationId xmlns:a16="http://schemas.microsoft.com/office/drawing/2014/main" id="{FD17EBA1-AC79-4945-9E81-9375AF667A6B}"/>
              </a:ext>
            </a:extLst>
          </p:cNvPr>
          <p:cNvSpPr>
            <a:spLocks xmlns:a="http://schemas.openxmlformats.org/drawingml/2006/main" noGrp="1"/>
          </p:cNvSpPr>
          <p:nvPr/>
        </p:nvSpPr>
        <p:spPr>
          <a:xfrm xmlns:a="http://schemas.openxmlformats.org/drawingml/2006/main">
            <a:off x="8105775" y="4314825"/>
            <a:ext cx="338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C667A"/>
                </a:solidFill>
                <a:latin typeface="Liberation Sans"/>
                <a:ea typeface="Liberation Sans"/>
                <a:cs typeface="Liberation Sans"/>
              </a:defRPr>
            </a:pPr>
            <a:r>
              <a:rPr sz="1650" b="0">
                <a:solidFill>
                  <a:srgbClr val="5C667A"/>
                </a:solidFill>
                <a:latin typeface="Liberation Sans"/>
                <a:ea typeface="Liberation Sans"/>
                <a:cs typeface="Liberation Sans"/>
              </a:rPr>
              <a:t>Valid full-vocabulary top label:</a:t>
            </a:r>
          </a:p>
          <a:p xmlns:a="http://schemas.openxmlformats.org/drawingml/2006/main">
            <a:pPr algn="l">
              <a:defRPr sz="1650" b="0">
                <a:solidFill>
                  <a:srgbClr val="5C667A"/>
                </a:solidFill>
                <a:latin typeface="Liberation Sans"/>
                <a:ea typeface="Liberation Sans"/>
                <a:cs typeface="Liberation Sans"/>
              </a:defRPr>
            </a:pPr>
            <a:r>
              <a:rPr sz="1650" b="0">
                <a:solidFill>
                  <a:srgbClr val="5C667A"/>
                </a:solidFill>
                <a:latin typeface="Liberation Sans"/>
                <a:ea typeface="Liberation Sans"/>
                <a:cs typeface="Liberation Sans"/>
              </a:rPr>
              <a:t>A/B/C/D  100%</a:t>
            </a:r>
          </a:p>
          <a:p xmlns:a="http://schemas.openxmlformats.org/drawingml/2006/main">
            <a:pPr algn="l">
              <a:defRPr sz="1650" b="0">
                <a:solidFill>
                  <a:srgbClr val="5C667A"/>
                </a:solidFill>
                <a:latin typeface="Liberation Sans"/>
                <a:ea typeface="Liberation Sans"/>
                <a:cs typeface="Liberation Sans"/>
              </a:defRPr>
            </a:pPr>
            <a:r>
              <a:rPr sz="1650" b="0">
                <a:solidFill>
                  <a:srgbClr val="5C667A"/>
                </a:solidFill>
                <a:latin typeface="Liberation Sans"/>
                <a:ea typeface="Liberation Sans"/>
                <a:cs typeface="Liberation Sans"/>
              </a:rPr>
              <a:t>Q/Z/R/X  69.7%</a:t>
            </a:r>
          </a:p>
          <a:p xmlns:a="http://schemas.openxmlformats.org/drawingml/2006/main">
            <a:pPr algn="l">
              <a:defRPr sz="1650" b="0">
                <a:solidFill>
                  <a:srgbClr val="5C667A"/>
                </a:solidFill>
                <a:latin typeface="Liberation Sans"/>
                <a:ea typeface="Liberation Sans"/>
                <a:cs typeface="Liberation Sans"/>
              </a:defRPr>
            </a:pPr>
            <a:r>
              <a:rPr sz="1650" b="0">
                <a:solidFill>
                  <a:srgbClr val="5C667A"/>
                </a:solidFill>
                <a:latin typeface="Liberation Sans"/>
                <a:ea typeface="Liberation Sans"/>
                <a:cs typeface="Liberation Sans"/>
              </a:rPr>
              <a:t>!/@/#/$  25.5%</a:t>
            </a:r>
          </a:p>
        </p:txBody>
      </p:sp>
      <p:sp>
        <p:nvSpPr>
          <p:cNvPr id="9" name="A vocabulary readout shows what is readable; ">
            <a:extLst xmlns:a="http://schemas.openxmlformats.org/drawingml/2006/main">
              <a:ext uri="{FF2B5EF4-FFF2-40B4-BE49-F238E27FC236}">
                <a16:creationId xmlns:a16="http://schemas.microsoft.com/office/drawing/2014/main" id="{A57DA0DD-42DD-41C1-86C6-5F3B61DB328F}"/>
              </a:ext>
            </a:extLst>
          </p:cNvPr>
          <p:cNvSpPr>
            <a:spLocks xmlns:a="http://schemas.openxmlformats.org/drawingml/2006/main" noGrp="1"/>
          </p:cNvSpPr>
          <p:nvPr/>
        </p:nvSpPr>
        <p:spPr>
          <a:xfrm xmlns:a="http://schemas.openxmlformats.org/drawingml/2006/main">
            <a:off x="647700" y="5857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C667A"/>
                </a:solidFill>
                <a:latin typeface="Liberation Sans"/>
                <a:ea typeface="Liberation Sans"/>
                <a:cs typeface="Liberation Sans"/>
              </a:defRPr>
            </a:pPr>
            <a:r>
              <a:rPr sz="1800" b="0">
                <a:solidFill>
                  <a:srgbClr val="5C667A"/>
                </a:solidFill>
                <a:latin typeface="Liberation Sans"/>
                <a:ea typeface="Liberation Sans"/>
                <a:cs typeface="Liberation Sans"/>
              </a:rPr>
              <a:t>A vocabulary readout shows what is readable; interventions test causal effects</a:t>
            </a:r>
          </a:p>
        </p:txBody>
      </p:sp>
    </p:spTree>
    <p:extLst>
      <p:ext uri="{BB962C8B-B14F-4D97-AF65-F5344CB8AC3E}">
        <p14:creationId xmlns:p14="http://schemas.microsoft.com/office/powerpoint/2010/main" val="1755671561"/>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Early interventions suggest a staged route">
            <a:extLst xmlns:a="http://schemas.openxmlformats.org/drawingml/2006/main">
              <a:ext uri="{FF2B5EF4-FFF2-40B4-BE49-F238E27FC236}">
                <a16:creationId xmlns:a16="http://schemas.microsoft.com/office/drawing/2014/main" id="{507485EA-6BD9-4A32-9860-2180A7E30340}"/>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Early interventions suggest a staged route</a:t>
            </a:r>
          </a:p>
        </p:txBody>
      </p:sp>
      <p:sp>
        <p:nvSpPr>
          <p:cNvPr id="2" name="">
            <a:extLst xmlns:a="http://schemas.openxmlformats.org/drawingml/2006/main">
              <a:ext uri="{FF2B5EF4-FFF2-40B4-BE49-F238E27FC236}">
                <a16:creationId xmlns:a16="http://schemas.microsoft.com/office/drawing/2014/main" id="{44DE9BF6-9754-4030-8E6A-1E8C17B83B9C}"/>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Early exploration / Qwen2.5-VL-3B Shapes / re">
            <a:extLst xmlns:a="http://schemas.openxmlformats.org/drawingml/2006/main">
              <a:ext uri="{FF2B5EF4-FFF2-40B4-BE49-F238E27FC236}">
                <a16:creationId xmlns:a16="http://schemas.microsoft.com/office/drawing/2014/main" id="{04D4D2B7-BA99-4385-B4BE-047916D231D2}"/>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Early exploration / Qwen2.5-VL-3B Shapes / report Table 2</a:t>
            </a:r>
          </a:p>
        </p:txBody>
      </p:sp>
      <p:sp>
        <p:nvSpPr>
          <p:cNvPr id="4" name="5">
            <a:extLst xmlns:a="http://schemas.openxmlformats.org/drawingml/2006/main">
              <a:ext uri="{FF2B5EF4-FFF2-40B4-BE49-F238E27FC236}">
                <a16:creationId xmlns:a16="http://schemas.microsoft.com/office/drawing/2014/main" id="{9625EF12-31AD-4DD8-8D4B-4856CD4B2ED9}"/>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5</a:t>
            </a:r>
          </a:p>
        </p:txBody>
      </p:sp>
      <p:sp>
        <p:nvSpPr>
          <p:cNvPr id="5" name="Replace a recipient state with a donor’s stat">
            <a:extLst xmlns:a="http://schemas.openxmlformats.org/drawingml/2006/main">
              <a:ext uri="{FF2B5EF4-FFF2-40B4-BE49-F238E27FC236}">
                <a16:creationId xmlns:a16="http://schemas.microsoft.com/office/drawing/2014/main" id="{2C91CAD8-ACA7-4FCD-AD68-F81E7E2435C7}"/>
              </a:ext>
            </a:extLst>
          </p:cNvPr>
          <p:cNvSpPr>
            <a:spLocks xmlns:a="http://schemas.openxmlformats.org/drawingml/2006/main" noGrp="1"/>
          </p:cNvSpPr>
          <p:nvPr/>
        </p:nvSpPr>
        <p:spPr>
          <a:xfrm xmlns:a="http://schemas.openxmlformats.org/drawingml/2006/main">
            <a:off x="647700" y="1304925"/>
            <a:ext cx="108489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7243A"/>
                </a:solidFill>
                <a:latin typeface="Liberation Sans"/>
                <a:ea typeface="Liberation Sans"/>
                <a:cs typeface="Liberation Sans"/>
              </a:defRPr>
            </a:pPr>
            <a:r>
              <a:rPr sz="2100" b="1">
                <a:solidFill>
                  <a:srgbClr val="17243A"/>
                </a:solidFill>
                <a:latin typeface="Liberation Sans"/>
                <a:ea typeface="Liberation Sans"/>
                <a:cs typeface="Liberation Sans"/>
              </a:rPr>
              <a:t>Replace a recipient state with a donor’s state and measure answer transfer</a:t>
            </a:r>
          </a:p>
        </p:txBody>
      </p:sp>
      <p:sp>
        <p:nvSpPr>
          <p:cNvPr id="6" name="Normalized recovery: 0 means no transfer; 1 m">
            <a:extLst xmlns:a="http://schemas.openxmlformats.org/drawingml/2006/main">
              <a:ext uri="{FF2B5EF4-FFF2-40B4-BE49-F238E27FC236}">
                <a16:creationId xmlns:a16="http://schemas.microsoft.com/office/drawing/2014/main" id="{C9D918C5-AB9E-4C51-8949-53E2B93F9EB1}"/>
              </a:ext>
            </a:extLst>
          </p:cNvPr>
          <p:cNvSpPr>
            <a:spLocks xmlns:a="http://schemas.openxmlformats.org/drawingml/2006/main" noGrp="1"/>
          </p:cNvSpPr>
          <p:nvPr/>
        </p:nvSpPr>
        <p:spPr>
          <a:xfrm xmlns:a="http://schemas.openxmlformats.org/drawingml/2006/main">
            <a:off x="647700" y="1943100"/>
            <a:ext cx="10848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C667A"/>
                </a:solidFill>
                <a:latin typeface="Liberation Sans"/>
                <a:ea typeface="Liberation Sans"/>
                <a:cs typeface="Liberation Sans"/>
              </a:defRPr>
            </a:pPr>
            <a:r>
              <a:rPr sz="1800" b="0">
                <a:solidFill>
                  <a:srgbClr val="5C667A"/>
                </a:solidFill>
                <a:latin typeface="Liberation Sans"/>
                <a:ea typeface="Liberation Sans"/>
                <a:cs typeface="Liberation Sans"/>
              </a:rPr>
              <a:t>Normalized recovery: 0 means no transfer; 1 means full donor transfer</a:t>
            </a:r>
          </a:p>
        </p:txBody>
      </p:sp>
      <p:graphicFrame>
        <p:nvGraphicFramePr>
          <p:cNvPr id="15" name=""/>
          <p:cNvGraphicFramePr/>
          <p:nvPr/>
        </p:nvGraphicFramePr>
        <p:xfrm>
          <a:off xmlns:a="http://schemas.openxmlformats.org/drawingml/2006/main" x="628650" y="2495550"/>
          <a:ext xmlns:a="http://schemas.openxmlformats.org/drawingml/2006/main" cx="10925175" cy="3009900"/>
        </p:xfrm>
        <a:graphic xmlns:a="http://schemas.openxmlformats.org/drawingml/2006/main">
          <a:graphicData uri="http://schemas.openxmlformats.org/drawingml/2006/table">
            <a:tbl>
              <a:tblPr/>
              <a:tblGrid>
                <a:gridCol w="1905000"/>
                <a:gridCol w="1038225"/>
                <a:gridCol w="4210050"/>
                <a:gridCol w="3771900"/>
              </a:tblGrid>
              <a:tr h="501650">
                <a:tc>
                  <a:txBody>
                    <a:bodyPr lIns="114300" tIns="85725" rIns="95250" bIns="85725"/>
                    <a:lstStyle/>
                    <a:p>
                      <a:r>
                        <a:rPr sz="1613" b="1">
                          <a:solidFill>
                            <a:srgbClr val="FFFFFF"/>
                          </a:solidFill>
                          <a:latin typeface="Liberation Sans"/>
                          <a:ea typeface="Liberation Sans"/>
                          <a:cs typeface="Liberation Sans"/>
                        </a:rPr>
                        <a:t>Patched site</a:t>
                      </a:r>
                    </a:p>
                  </a:txBody>
                  <a:tcPr marL="91440" marR="91440" marT="45720" marB="45720" anchor="ctr">
                    <a:solidFill>
                      <a:srgbClr val="17243A"/>
                    </a:solidFill>
                  </a:tcPr>
                </a:tc>
                <a:tc>
                  <a:txBody>
                    <a:bodyPr lIns="114300" tIns="85725" rIns="95250" bIns="85725"/>
                    <a:lstStyle/>
                    <a:p>
                      <a:r>
                        <a:rPr sz="1613" b="1">
                          <a:solidFill>
                            <a:srgbClr val="FFFFFF"/>
                          </a:solidFill>
                          <a:latin typeface="Liberation Sans"/>
                          <a:ea typeface="Liberation Sans"/>
                          <a:cs typeface="Liberation Sans"/>
                        </a:rPr>
                        <a:t>Layers</a:t>
                      </a:r>
                    </a:p>
                  </a:txBody>
                  <a:tcPr marL="91440" marR="91440" marT="45720" marB="45720" anchor="ctr">
                    <a:solidFill>
                      <a:srgbClr val="17243A"/>
                    </a:solidFill>
                  </a:tcPr>
                </a:tc>
                <a:tc>
                  <a:txBody>
                    <a:bodyPr lIns="114300" tIns="85725" rIns="95250" bIns="85725"/>
                    <a:lstStyle/>
                    <a:p>
                      <a:r>
                        <a:rPr sz="1613" b="1">
                          <a:solidFill>
                            <a:srgbClr val="FFFFFF"/>
                          </a:solidFill>
                          <a:latin typeface="Liberation Sans"/>
                          <a:ea typeface="Liberation Sans"/>
                          <a:cs typeface="Liberation Sans"/>
                        </a:rPr>
                        <a:t>Representative result</a:t>
                      </a:r>
                    </a:p>
                  </a:txBody>
                  <a:tcPr marL="91440" marR="91440" marT="45720" marB="45720" anchor="ctr">
                    <a:solidFill>
                      <a:srgbClr val="17243A"/>
                    </a:solidFill>
                  </a:tcPr>
                </a:tc>
                <a:tc>
                  <a:txBody>
                    <a:bodyPr lIns="114300" tIns="85725" rIns="95250" bIns="85725"/>
                    <a:lstStyle/>
                    <a:p>
                      <a:r>
                        <a:rPr sz="1613" b="1">
                          <a:solidFill>
                            <a:srgbClr val="FFFFFF"/>
                          </a:solidFill>
                          <a:latin typeface="Liberation Sans"/>
                          <a:ea typeface="Liberation Sans"/>
                          <a:cs typeface="Liberation Sans"/>
                        </a:rPr>
                        <a:t>Supported reading</a:t>
                      </a:r>
                    </a:p>
                  </a:txBody>
                  <a:tcPr marL="91440" marR="91440" marT="45720" marB="45720" anchor="ctr">
                    <a:solidFill>
                      <a:srgbClr val="17243A"/>
                    </a:solidFill>
                  </a:tcPr>
                </a:tc>
              </a:tr>
              <a:tr h="501650">
                <a:tc>
                  <a:txBody>
                    <a:bodyPr lIns="114300" tIns="85725" rIns="95250" bIns="85725"/>
                    <a:lstStyle/>
                    <a:p>
                      <a:r>
                        <a:rPr sz="1613" b="0">
                          <a:solidFill>
                            <a:srgbClr val="17243A"/>
                          </a:solidFill>
                          <a:latin typeface="Liberation Sans"/>
                          <a:ea typeface="Liberation Sans"/>
                          <a:cs typeface="Liberation Sans"/>
                        </a:rPr>
                        <a:t>Image tokens</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0–16</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Recovery 0.87–0.93</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Visual content is present early</a:t>
                      </a:r>
                    </a:p>
                  </a:txBody>
                  <a:tcPr marL="91440" marR="91440" marT="45720" marB="45720" anchor="ctr">
                    <a:solidFill>
                      <a:srgbClr val="FFFFFF"/>
                    </a:solidFill>
                  </a:tcPr>
                </a:tc>
              </a:tr>
              <a:tr h="501650">
                <a:tc>
                  <a:txBody>
                    <a:bodyPr lIns="114300" tIns="85725" rIns="95250" bIns="85725"/>
                    <a:lstStyle/>
                    <a:p>
                      <a:r>
                        <a:rPr sz="1613" b="0">
                          <a:solidFill>
                            <a:srgbClr val="17243A"/>
                          </a:solidFill>
                          <a:latin typeface="Liberation Sans"/>
                          <a:ea typeface="Liberation Sans"/>
                          <a:cs typeface="Liberation Sans"/>
                        </a:rPr>
                        <a:t>Option content</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20–25</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Content peak ≈ 0.48</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Options carry answer content</a:t>
                      </a:r>
                    </a:p>
                  </a:txBody>
                  <a:tcPr marL="91440" marR="91440" marT="45720" marB="45720" anchor="ctr">
                    <a:solidFill>
                      <a:srgbClr val="E9EEF6"/>
                    </a:solidFill>
                  </a:tcPr>
                </a:tc>
              </a:tr>
              <a:tr h="501650">
                <a:tc>
                  <a:txBody>
                    <a:bodyPr lIns="114300" tIns="85725" rIns="95250" bIns="85725"/>
                    <a:lstStyle/>
                    <a:p>
                      <a:r>
                        <a:rPr sz="1613" b="0">
                          <a:solidFill>
                            <a:srgbClr val="17243A"/>
                          </a:solidFill>
                          <a:latin typeface="Liberation Sans"/>
                          <a:ea typeface="Liberation Sans"/>
                          <a:cs typeface="Liberation Sans"/>
                        </a:rPr>
                        <a:t>Option labels</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26</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Position recovery ≈ 0.46</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Displayed label is transferable</a:t>
                      </a:r>
                    </a:p>
                  </a:txBody>
                  <a:tcPr marL="91440" marR="91440" marT="45720" marB="45720" anchor="ctr">
                    <a:solidFill>
                      <a:srgbClr val="FFFFFF"/>
                    </a:solidFill>
                  </a:tcPr>
                </a:tc>
              </a:tr>
              <a:tr h="501650">
                <a:tc>
                  <a:txBody>
                    <a:bodyPr lIns="114300" tIns="85725" rIns="95250" bIns="85725"/>
                    <a:lstStyle/>
                    <a:p>
                      <a:r>
                        <a:rPr sz="1613" b="0">
                          <a:solidFill>
                            <a:srgbClr val="17243A"/>
                          </a:solidFill>
                          <a:latin typeface="Liberation Sans"/>
                          <a:ea typeface="Liberation Sans"/>
                          <a:cs typeface="Liberation Sans"/>
                        </a:rPr>
                        <a:t>Final token</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27</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Symbol 0.76; attn 0.68, MLP 0.27</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Late attention affects the label</a:t>
                      </a:r>
                    </a:p>
                  </a:txBody>
                  <a:tcPr marL="91440" marR="91440" marT="45720" marB="45720" anchor="ctr">
                    <a:solidFill>
                      <a:srgbClr val="E9EEF6"/>
                    </a:solidFill>
                  </a:tcPr>
                </a:tc>
              </a:tr>
              <a:tr h="501650">
                <a:tc>
                  <a:txBody>
                    <a:bodyPr lIns="114300" tIns="85725" rIns="95250" bIns="85725"/>
                    <a:lstStyle/>
                    <a:p>
                      <a:r>
                        <a:rPr sz="1613" b="0">
                          <a:solidFill>
                            <a:srgbClr val="17243A"/>
                          </a:solidFill>
                          <a:latin typeface="Liberation Sans"/>
                          <a:ea typeface="Liberation Sans"/>
                          <a:cs typeface="Liberation Sans"/>
                        </a:rPr>
                        <a:t>Final token</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33</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Content recovery 0.95</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Answer word becomes readable</a:t>
                      </a:r>
                    </a:p>
                  </a:txBody>
                  <a:tcPr marL="91440" marR="91440" marT="45720" marB="45720" anchor="ctr">
                    <a:solidFill>
                      <a:srgbClr val="FFFFFF"/>
                    </a:solidFill>
                  </a:tcPr>
                </a:tc>
              </a:tr>
            </a:tbl>
          </a:graphicData>
        </a:graphic>
      </p:graphicFrame>
      <p:sp>
        <p:nvSpPr>
          <p:cNvPr id="8" name="Working hypothesis: image content → option co">
            <a:extLst xmlns:a="http://schemas.openxmlformats.org/drawingml/2006/main">
              <a:ext uri="{FF2B5EF4-FFF2-40B4-BE49-F238E27FC236}">
                <a16:creationId xmlns:a16="http://schemas.microsoft.com/office/drawing/2014/main" id="{0E6406C4-966A-47AC-B56A-CE58BB509342}"/>
              </a:ext>
            </a:extLst>
          </p:cNvPr>
          <p:cNvSpPr>
            <a:spLocks xmlns:a="http://schemas.openxmlformats.org/drawingml/2006/main" noGrp="1"/>
          </p:cNvSpPr>
          <p:nvPr/>
        </p:nvSpPr>
        <p:spPr>
          <a:xfrm xmlns:a="http://schemas.openxmlformats.org/drawingml/2006/main">
            <a:off x="647700" y="57912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967D2"/>
                </a:solidFill>
                <a:latin typeface="Liberation Sans"/>
                <a:ea typeface="Liberation Sans"/>
                <a:cs typeface="Liberation Sans"/>
              </a:defRPr>
            </a:pPr>
            <a:r>
              <a:rPr sz="2025" b="0">
                <a:solidFill>
                  <a:srgbClr val="1967D2"/>
                </a:solidFill>
                <a:latin typeface="Liberation Sans"/>
                <a:ea typeface="Liberation Sans"/>
                <a:cs typeface="Liberation Sans"/>
              </a:rPr>
              <a:t>Working hypothesis: image content → option content → late output label</a:t>
            </a:r>
          </a:p>
        </p:txBody>
      </p:sp>
    </p:spTree>
    <p:extLst>
      <p:ext uri="{BB962C8B-B14F-4D97-AF65-F5344CB8AC3E}">
        <p14:creationId xmlns:p14="http://schemas.microsoft.com/office/powerpoint/2010/main" val="1856624013"/>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Dataset: controlled CLEVR-MCQ-4 reasoning">
            <a:extLst xmlns:a="http://schemas.openxmlformats.org/drawingml/2006/main">
              <a:ext uri="{FF2B5EF4-FFF2-40B4-BE49-F238E27FC236}">
                <a16:creationId xmlns:a16="http://schemas.microsoft.com/office/drawing/2014/main" id="{A6309D57-AA19-47E8-9B2D-AE9D5B4883C7}"/>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Dataset: controlled CLEVR-MCQ-4 reasoning</a:t>
            </a:r>
          </a:p>
        </p:txBody>
      </p:sp>
      <p:sp>
        <p:nvSpPr>
          <p:cNvPr id="2" name="">
            <a:extLst xmlns:a="http://schemas.openxmlformats.org/drawingml/2006/main">
              <a:ext uri="{FF2B5EF4-FFF2-40B4-BE49-F238E27FC236}">
                <a16:creationId xmlns:a16="http://schemas.microsoft.com/office/drawing/2014/main" id="{E7B04B0B-487C-46CE-96D4-99033FB05B78}"/>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ANLP mid-submission / 2 October 2026">
            <a:extLst xmlns:a="http://schemas.openxmlformats.org/drawingml/2006/main">
              <a:ext uri="{FF2B5EF4-FFF2-40B4-BE49-F238E27FC236}">
                <a16:creationId xmlns:a16="http://schemas.microsoft.com/office/drawing/2014/main" id="{8862A0C6-D228-45CF-8463-2CE6B4FB9AB6}"/>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ANLP mid-submission / 2 October 2026</a:t>
            </a:r>
          </a:p>
        </p:txBody>
      </p:sp>
      <p:sp>
        <p:nvSpPr>
          <p:cNvPr id="4" name="6">
            <a:extLst xmlns:a="http://schemas.openxmlformats.org/drawingml/2006/main">
              <a:ext uri="{FF2B5EF4-FFF2-40B4-BE49-F238E27FC236}">
                <a16:creationId xmlns:a16="http://schemas.microsoft.com/office/drawing/2014/main" id="{4AFF20DD-A2CD-4772-A513-79AB17FAA755}"/>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6</a:t>
            </a:r>
          </a:p>
        </p:txBody>
      </p:sp>
      <p:sp>
        <p:nvSpPr>
          <p:cNvPr id="5" name="1,252 items · 288 counterfactual pairs · 9 re">
            <a:extLst xmlns:a="http://schemas.openxmlformats.org/drawingml/2006/main">
              <a:ext uri="{FF2B5EF4-FFF2-40B4-BE49-F238E27FC236}">
                <a16:creationId xmlns:a16="http://schemas.microsoft.com/office/drawing/2014/main" id="{D4F6C718-DB0B-4E64-9046-FACC8366A47C}"/>
              </a:ext>
            </a:extLst>
          </p:cNvPr>
          <p:cNvSpPr>
            <a:spLocks xmlns:a="http://schemas.openxmlformats.org/drawingml/2006/main" noGrp="1"/>
          </p:cNvSpPr>
          <p:nvPr/>
        </p:nvSpPr>
        <p:spPr>
          <a:xfrm xmlns:a="http://schemas.openxmlformats.org/drawingml/2006/main">
            <a:off x="647700" y="13335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967D2"/>
                </a:solidFill>
                <a:latin typeface="Liberation Sans"/>
                <a:ea typeface="Liberation Sans"/>
                <a:cs typeface="Liberation Sans"/>
              </a:defRPr>
            </a:pPr>
            <a:r>
              <a:rPr sz="2325" b="1">
                <a:solidFill>
                  <a:srgbClr val="1967D2"/>
                </a:solidFill>
                <a:latin typeface="Liberation Sans"/>
                <a:ea typeface="Liberation Sans"/>
                <a:cs typeface="Liberation Sans"/>
              </a:rPr>
              <a:t>1,252 items · 288 counterfactual pairs · 9 reasoning families</a:t>
            </a:r>
          </a:p>
        </p:txBody>
      </p:sp>
      <p:sp>
        <p:nvSpPr>
          <p:cNvPr id="6" name="Four meaningful options and three answer alph">
            <a:extLst xmlns:a="http://schemas.openxmlformats.org/drawingml/2006/main">
              <a:ext uri="{FF2B5EF4-FFF2-40B4-BE49-F238E27FC236}">
                <a16:creationId xmlns:a16="http://schemas.microsoft.com/office/drawing/2014/main" id="{D0A5238A-86FD-44B6-B23C-A1AE9111C2A4}"/>
              </a:ext>
            </a:extLst>
          </p:cNvPr>
          <p:cNvSpPr>
            <a:spLocks xmlns:a="http://schemas.openxmlformats.org/drawingml/2006/main" noGrp="1"/>
          </p:cNvSpPr>
          <p:nvPr/>
        </p:nvSpPr>
        <p:spPr>
          <a:xfrm xmlns:a="http://schemas.openxmlformats.org/drawingml/2006/main">
            <a:off x="647700" y="2000250"/>
            <a:ext cx="108299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7243A"/>
                </a:solidFill>
                <a:latin typeface="Liberation Sans"/>
                <a:ea typeface="Liberation Sans"/>
                <a:cs typeface="Liberation Sans"/>
              </a:defRPr>
            </a:pPr>
            <a:r>
              <a:rPr sz="2100" b="0">
                <a:solidFill>
                  <a:srgbClr val="17243A"/>
                </a:solidFill>
                <a:latin typeface="Liberation Sans"/>
                <a:ea typeface="Liberation Sans"/>
                <a:cs typeface="Liberation Sans"/>
              </a:rPr>
              <a:t>Four meaningful options and three answer alphabets</a:t>
            </a:r>
          </a:p>
        </p:txBody>
      </p:sp>
      <p:graphicFrame>
        <p:nvGraphicFramePr>
          <p:cNvPr id="15" name=""/>
          <p:cNvGraphicFramePr/>
          <p:nvPr/>
        </p:nvGraphicFramePr>
        <p:xfrm>
          <a:off xmlns:a="http://schemas.openxmlformats.org/drawingml/2006/main" x="628650" y="2667000"/>
          <a:ext xmlns:a="http://schemas.openxmlformats.org/drawingml/2006/main" cx="10925175" cy="2600325"/>
        </p:xfrm>
        <a:graphic xmlns:a="http://schemas.openxmlformats.org/drawingml/2006/main">
          <a:graphicData uri="http://schemas.openxmlformats.org/drawingml/2006/table">
            <a:tbl>
              <a:tblPr/>
              <a:tblGrid>
                <a:gridCol w="2552700"/>
                <a:gridCol w="4019550"/>
                <a:gridCol w="4352925"/>
              </a:tblGrid>
              <a:tr h="520065">
                <a:tc>
                  <a:txBody>
                    <a:bodyPr lIns="114300" tIns="85725" rIns="95250" bIns="85725"/>
                    <a:lstStyle/>
                    <a:p>
                      <a:r>
                        <a:rPr sz="1800" b="1">
                          <a:solidFill>
                            <a:srgbClr val="FFFFFF"/>
                          </a:solidFill>
                          <a:latin typeface="Liberation Sans"/>
                          <a:ea typeface="Liberation Sans"/>
                          <a:cs typeface="Liberation Sans"/>
                        </a:rPr>
                        <a:t>Contrast</a:t>
                      </a:r>
                    </a:p>
                  </a:txBody>
                  <a:tcPr marL="91440" marR="91440" marT="45720" marB="45720" anchor="ctr">
                    <a:solidFill>
                      <a:srgbClr val="17243A"/>
                    </a:solidFill>
                  </a:tcPr>
                </a:tc>
                <a:tc>
                  <a:txBody>
                    <a:bodyPr lIns="114300" tIns="85725" rIns="95250" bIns="85725"/>
                    <a:lstStyle/>
                    <a:p>
                      <a:r>
                        <a:rPr sz="1800" b="1">
                          <a:solidFill>
                            <a:srgbClr val="FFFFFF"/>
                          </a:solidFill>
                          <a:latin typeface="Liberation Sans"/>
                          <a:ea typeface="Liberation Sans"/>
                          <a:cs typeface="Liberation Sans"/>
                        </a:rPr>
                        <a:t>Held fixed</a:t>
                      </a:r>
                    </a:p>
                  </a:txBody>
                  <a:tcPr marL="91440" marR="91440" marT="45720" marB="45720" anchor="ctr">
                    <a:solidFill>
                      <a:srgbClr val="17243A"/>
                    </a:solidFill>
                  </a:tcPr>
                </a:tc>
                <a:tc>
                  <a:txBody>
                    <a:bodyPr lIns="114300" tIns="85725" rIns="95250" bIns="85725"/>
                    <a:lstStyle/>
                    <a:p>
                      <a:r>
                        <a:rPr sz="1800" b="1">
                          <a:solidFill>
                            <a:srgbClr val="FFFFFF"/>
                          </a:solidFill>
                          <a:latin typeface="Liberation Sans"/>
                          <a:ea typeface="Liberation Sans"/>
                          <a:cs typeface="Liberation Sans"/>
                        </a:rPr>
                        <a:t>Changed</a:t>
                      </a:r>
                    </a:p>
                  </a:txBody>
                  <a:tcPr marL="91440" marR="91440" marT="45720" marB="45720" anchor="ctr">
                    <a:solidFill>
                      <a:srgbClr val="17243A"/>
                    </a:solidFill>
                  </a:tcPr>
                </a:tc>
              </a:tr>
              <a:tr h="520065">
                <a:tc>
                  <a:txBody>
                    <a:bodyPr lIns="114300" tIns="85725" rIns="95250" bIns="85725"/>
                    <a:lstStyle/>
                    <a:p>
                      <a:r>
                        <a:rPr sz="1800" b="0">
                          <a:solidFill>
                            <a:srgbClr val="17243A"/>
                          </a:solidFill>
                          <a:latin typeface="Liberation Sans"/>
                          <a:ea typeface="Liberation Sans"/>
                          <a:cs typeface="Liberation Sans"/>
                        </a:rPr>
                        <a:t>Position</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Image and semantic answer</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Option order</a:t>
                      </a:r>
                    </a:p>
                  </a:txBody>
                  <a:tcPr marL="91440" marR="91440" marT="45720" marB="45720" anchor="ctr">
                    <a:solidFill>
                      <a:srgbClr val="FFFFFF"/>
                    </a:solidFill>
                  </a:tcPr>
                </a:tc>
              </a:tr>
              <a:tr h="520065">
                <a:tc>
                  <a:txBody>
                    <a:bodyPr lIns="114300" tIns="85725" rIns="95250" bIns="85725"/>
                    <a:lstStyle/>
                    <a:p>
                      <a:r>
                        <a:rPr sz="1800" b="0">
                          <a:solidFill>
                            <a:srgbClr val="17243A"/>
                          </a:solidFill>
                          <a:latin typeface="Liberation Sans"/>
                          <a:ea typeface="Liberation Sans"/>
                          <a:cs typeface="Liberation Sans"/>
                        </a:rPr>
                        <a:t>Content</a:t>
                      </a:r>
                    </a:p>
                  </a:txBody>
                  <a:tcPr marL="91440" marR="91440" marT="45720" marB="45720" anchor="ctr">
                    <a:solidFill>
                      <a:srgbClr val="E9EEF6"/>
                    </a:solidFill>
                  </a:tcPr>
                </a:tc>
                <a:tc>
                  <a:txBody>
                    <a:bodyPr lIns="114300" tIns="85725" rIns="95250" bIns="85725"/>
                    <a:lstStyle/>
                    <a:p>
                      <a:r>
                        <a:rPr sz="1800" b="0">
                          <a:solidFill>
                            <a:srgbClr val="17243A"/>
                          </a:solidFill>
                          <a:latin typeface="Liberation Sans"/>
                          <a:ea typeface="Liberation Sans"/>
                          <a:cs typeface="Liberation Sans"/>
                        </a:rPr>
                        <a:t>Question and output symbol</a:t>
                      </a:r>
                    </a:p>
                  </a:txBody>
                  <a:tcPr marL="91440" marR="91440" marT="45720" marB="45720" anchor="ctr">
                    <a:solidFill>
                      <a:srgbClr val="E9EEF6"/>
                    </a:solidFill>
                  </a:tcPr>
                </a:tc>
                <a:tc>
                  <a:txBody>
                    <a:bodyPr lIns="114300" tIns="85725" rIns="95250" bIns="85725"/>
                    <a:lstStyle/>
                    <a:p>
                      <a:r>
                        <a:rPr sz="1800" b="0">
                          <a:solidFill>
                            <a:srgbClr val="17243A"/>
                          </a:solidFill>
                          <a:latin typeface="Liberation Sans"/>
                          <a:ea typeface="Liberation Sans"/>
                          <a:cs typeface="Liberation Sans"/>
                        </a:rPr>
                        <a:t>Image + option content</a:t>
                      </a:r>
                    </a:p>
                  </a:txBody>
                  <a:tcPr marL="91440" marR="91440" marT="45720" marB="45720" anchor="ctr">
                    <a:solidFill>
                      <a:srgbClr val="E9EEF6"/>
                    </a:solidFill>
                  </a:tcPr>
                </a:tc>
              </a:tr>
              <a:tr h="520065">
                <a:tc>
                  <a:txBody>
                    <a:bodyPr lIns="114300" tIns="85725" rIns="95250" bIns="85725"/>
                    <a:lstStyle/>
                    <a:p>
                      <a:r>
                        <a:rPr sz="1800" b="0">
                          <a:solidFill>
                            <a:srgbClr val="17243A"/>
                          </a:solidFill>
                          <a:latin typeface="Liberation Sans"/>
                          <a:ea typeface="Liberation Sans"/>
                          <a:cs typeface="Liberation Sans"/>
                        </a:rPr>
                        <a:t>Content + position</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Question</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Image + correct position</a:t>
                      </a:r>
                    </a:p>
                  </a:txBody>
                  <a:tcPr marL="91440" marR="91440" marT="45720" marB="45720" anchor="ctr">
                    <a:solidFill>
                      <a:srgbClr val="FFFFFF"/>
                    </a:solidFill>
                  </a:tcPr>
                </a:tc>
              </a:tr>
              <a:tr h="520065">
                <a:tc>
                  <a:txBody>
                    <a:bodyPr lIns="114300" tIns="85725" rIns="95250" bIns="85725"/>
                    <a:lstStyle/>
                    <a:p>
                      <a:r>
                        <a:rPr sz="1800" b="0">
                          <a:solidFill>
                            <a:srgbClr val="17243A"/>
                          </a:solidFill>
                          <a:latin typeface="Liberation Sans"/>
                          <a:ea typeface="Liberation Sans"/>
                          <a:cs typeface="Liberation Sans"/>
                        </a:rPr>
                        <a:t>Alphabet</a:t>
                      </a:r>
                    </a:p>
                  </a:txBody>
                  <a:tcPr marL="91440" marR="91440" marT="45720" marB="45720" anchor="ctr">
                    <a:solidFill>
                      <a:srgbClr val="E9EEF6"/>
                    </a:solidFill>
                  </a:tcPr>
                </a:tc>
                <a:tc>
                  <a:txBody>
                    <a:bodyPr lIns="114300" tIns="85725" rIns="95250" bIns="85725"/>
                    <a:lstStyle/>
                    <a:p>
                      <a:r>
                        <a:rPr sz="1800" b="0">
                          <a:solidFill>
                            <a:srgbClr val="17243A"/>
                          </a:solidFill>
                          <a:latin typeface="Liberation Sans"/>
                          <a:ea typeface="Liberation Sans"/>
                          <a:cs typeface="Liberation Sans"/>
                        </a:rPr>
                        <a:t>Image and option contents</a:t>
                      </a:r>
                    </a:p>
                  </a:txBody>
                  <a:tcPr marL="91440" marR="91440" marT="45720" marB="45720" anchor="ctr">
                    <a:solidFill>
                      <a:srgbClr val="E9EEF6"/>
                    </a:solidFill>
                  </a:tcPr>
                </a:tc>
                <a:tc>
                  <a:txBody>
                    <a:bodyPr lIns="114300" tIns="85725" rIns="95250" bIns="85725"/>
                    <a:lstStyle/>
                    <a:p>
                      <a:r>
                        <a:rPr sz="1800" b="0">
                          <a:solidFill>
                            <a:srgbClr val="17243A"/>
                          </a:solidFill>
                          <a:latin typeface="Liberation Sans"/>
                          <a:ea typeface="Liberation Sans"/>
                          <a:cs typeface="Liberation Sans"/>
                        </a:rPr>
                        <a:t>A/B/C/D → 1/2/3/4 → Q/Z/R/X</a:t>
                      </a:r>
                    </a:p>
                  </a:txBody>
                  <a:tcPr marL="91440" marR="91440" marT="45720" marB="45720" anchor="ctr">
                    <a:solidFill>
                      <a:srgbClr val="E9EEF6"/>
                    </a:solidFill>
                  </a:tcPr>
                </a:tc>
              </a:tr>
            </a:tbl>
          </a:graphicData>
        </a:graphic>
      </p:graphicFrame>
      <p:sp>
        <p:nvSpPr>
          <p:cNvPr id="8" name="Scene-disjoint discovery and confirmation; id">
            <a:extLst xmlns:a="http://schemas.openxmlformats.org/drawingml/2006/main">
              <a:ext uri="{FF2B5EF4-FFF2-40B4-BE49-F238E27FC236}">
                <a16:creationId xmlns:a16="http://schemas.microsoft.com/office/drawing/2014/main" id="{E430E491-DA32-4B1A-A5D9-5415B263DBA5}"/>
              </a:ext>
            </a:extLst>
          </p:cNvPr>
          <p:cNvSpPr>
            <a:spLocks xmlns:a="http://schemas.openxmlformats.org/drawingml/2006/main" noGrp="1"/>
          </p:cNvSpPr>
          <p:nvPr/>
        </p:nvSpPr>
        <p:spPr>
          <a:xfrm xmlns:a="http://schemas.openxmlformats.org/drawingml/2006/main">
            <a:off x="647700" y="5562600"/>
            <a:ext cx="10848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243A"/>
                </a:solidFill>
                <a:latin typeface="Liberation Sans"/>
                <a:ea typeface="Liberation Sans"/>
                <a:cs typeface="Liberation Sans"/>
              </a:defRPr>
            </a:pPr>
            <a:r>
              <a:rPr sz="2025" b="1">
                <a:solidFill>
                  <a:srgbClr val="17243A"/>
                </a:solidFill>
                <a:latin typeface="Liberation Sans"/>
                <a:ea typeface="Liberation Sans"/>
                <a:cs typeface="Liberation Sans"/>
              </a:rPr>
              <a:t>Scene-disjoint discovery and confirmation; identity and random-pair controls</a:t>
            </a:r>
          </a:p>
        </p:txBody>
      </p:sp>
    </p:spTree>
    <p:extLst>
      <p:ext uri="{BB962C8B-B14F-4D97-AF65-F5344CB8AC3E}">
        <p14:creationId xmlns:p14="http://schemas.microsoft.com/office/powerpoint/2010/main" val="1841415126"/>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 counterfactual image edit changes the answe">
            <a:extLst xmlns:a="http://schemas.openxmlformats.org/drawingml/2006/main">
              <a:ext uri="{FF2B5EF4-FFF2-40B4-BE49-F238E27FC236}">
                <a16:creationId xmlns:a16="http://schemas.microsoft.com/office/drawing/2014/main" id="{6EF0193D-ABAE-42DC-B947-D25D65669E04}"/>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A counterfactual image edit changes the answer</a:t>
            </a:r>
          </a:p>
        </p:txBody>
      </p:sp>
      <p:sp>
        <p:nvSpPr>
          <p:cNvPr id="2" name="">
            <a:extLst xmlns:a="http://schemas.openxmlformats.org/drawingml/2006/main">
              <a:ext uri="{FF2B5EF4-FFF2-40B4-BE49-F238E27FC236}">
                <a16:creationId xmlns:a16="http://schemas.microsoft.com/office/drawing/2014/main" id="{9B2F28FF-3788-484E-8111-6E193EF532EB}"/>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CLEVR-MCQ-4 / verified discovery example">
            <a:extLst xmlns:a="http://schemas.openxmlformats.org/drawingml/2006/main">
              <a:ext uri="{FF2B5EF4-FFF2-40B4-BE49-F238E27FC236}">
                <a16:creationId xmlns:a16="http://schemas.microsoft.com/office/drawing/2014/main" id="{A10856A7-1CB3-4F94-959F-29807643975B}"/>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CLEVR-MCQ-4 / verified discovery example</a:t>
            </a:r>
          </a:p>
        </p:txBody>
      </p:sp>
      <p:sp>
        <p:nvSpPr>
          <p:cNvPr id="4" name="7">
            <a:extLst xmlns:a="http://schemas.openxmlformats.org/drawingml/2006/main">
              <a:ext uri="{FF2B5EF4-FFF2-40B4-BE49-F238E27FC236}">
                <a16:creationId xmlns:a16="http://schemas.microsoft.com/office/drawing/2014/main" id="{B0FADA76-0879-47DE-BDE8-E729E93C641C}"/>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7</a:t>
            </a:r>
          </a:p>
        </p:txBody>
      </p:sp>
      <p:sp>
        <p:nvSpPr>
          <p:cNvPr id="5" name="How many spheres are behind the cyan cube?">
            <a:extLst xmlns:a="http://schemas.openxmlformats.org/drawingml/2006/main">
              <a:ext uri="{FF2B5EF4-FFF2-40B4-BE49-F238E27FC236}">
                <a16:creationId xmlns:a16="http://schemas.microsoft.com/office/drawing/2014/main" id="{54B957CE-5852-4C0C-B2B9-512019EBD607}"/>
              </a:ext>
            </a:extLst>
          </p:cNvPr>
          <p:cNvSpPr>
            <a:spLocks xmlns:a="http://schemas.openxmlformats.org/drawingml/2006/main" noGrp="1"/>
          </p:cNvSpPr>
          <p:nvPr/>
        </p:nvSpPr>
        <p:spPr>
          <a:xfrm xmlns:a="http://schemas.openxmlformats.org/drawingml/2006/main">
            <a:off x="609600" y="1219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243A"/>
                </a:solidFill>
                <a:latin typeface="Liberation Sans"/>
                <a:ea typeface="Liberation Sans"/>
                <a:cs typeface="Liberation Sans"/>
              </a:defRPr>
            </a:pPr>
            <a:r>
              <a:rPr sz="2400" b="1">
                <a:solidFill>
                  <a:srgbClr val="17243A"/>
                </a:solidFill>
                <a:latin typeface="Liberation Sans"/>
                <a:ea typeface="Liberation Sans"/>
                <a:cs typeface="Liberation Sans"/>
              </a:rPr>
              <a:t>How many spheres are behind the cyan cube?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dd002191be24937"/>
          <a:stretch xmlns:a="http://schemas.openxmlformats.org/drawingml/2006/main"/>
        </p:blipFill>
        <p:spPr>
          <a:xfrm xmlns:a="http://schemas.openxmlformats.org/drawingml/2006/main">
            <a:off x="631031" y="1885950"/>
            <a:ext cx="5214938" cy="34766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09bfc7252ca408c"/>
          <a:stretch xmlns:a="http://schemas.openxmlformats.org/drawingml/2006/main"/>
        </p:blipFill>
        <p:spPr>
          <a:xfrm xmlns:a="http://schemas.openxmlformats.org/drawingml/2006/main">
            <a:off x="6336506" y="1885950"/>
            <a:ext cx="5214938" cy="3476625"/>
          </a:xfrm>
          <a:prstGeom xmlns:a="http://schemas.openxmlformats.org/drawingml/2006/main" prst="rect">
            <a:avLst/>
          </a:prstGeom>
        </p:spPr>
      </p:pic>
      <p:sp>
        <p:nvSpPr>
          <p:cNvPr id="8" name="Original: two spheres">
            <a:extLst xmlns:a="http://schemas.openxmlformats.org/drawingml/2006/main">
              <a:ext uri="{FF2B5EF4-FFF2-40B4-BE49-F238E27FC236}">
                <a16:creationId xmlns:a16="http://schemas.microsoft.com/office/drawing/2014/main" id="{944934F5-837A-41B0-ACFD-D97818216F60}"/>
              </a:ext>
            </a:extLst>
          </p:cNvPr>
          <p:cNvSpPr>
            <a:spLocks xmlns:a="http://schemas.openxmlformats.org/drawingml/2006/main" noGrp="1"/>
          </p:cNvSpPr>
          <p:nvPr/>
        </p:nvSpPr>
        <p:spPr>
          <a:xfrm xmlns:a="http://schemas.openxmlformats.org/drawingml/2006/main">
            <a:off x="628650" y="540067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00" b="1">
                <a:solidFill>
                  <a:srgbClr val="1967D2"/>
                </a:solidFill>
                <a:latin typeface="Liberation Sans"/>
                <a:ea typeface="Liberation Sans"/>
                <a:cs typeface="Liberation Sans"/>
              </a:defRPr>
            </a:pPr>
            <a:r>
              <a:rPr sz="2100" b="1">
                <a:solidFill>
                  <a:srgbClr val="1967D2"/>
                </a:solidFill>
                <a:latin typeface="Liberation Sans"/>
                <a:ea typeface="Liberation Sans"/>
                <a:cs typeface="Liberation Sans"/>
              </a:rPr>
              <a:t>Original: two spheres</a:t>
            </a:r>
          </a:p>
        </p:txBody>
      </p:sp>
      <p:sp>
        <p:nvSpPr>
          <p:cNvPr id="9" name="Edited: one sphere">
            <a:extLst xmlns:a="http://schemas.openxmlformats.org/drawingml/2006/main">
              <a:ext uri="{FF2B5EF4-FFF2-40B4-BE49-F238E27FC236}">
                <a16:creationId xmlns:a16="http://schemas.microsoft.com/office/drawing/2014/main" id="{28029A7F-9927-4BB3-9107-B9A78EC2E00C}"/>
              </a:ext>
            </a:extLst>
          </p:cNvPr>
          <p:cNvSpPr>
            <a:spLocks xmlns:a="http://schemas.openxmlformats.org/drawingml/2006/main" noGrp="1"/>
          </p:cNvSpPr>
          <p:nvPr/>
        </p:nvSpPr>
        <p:spPr>
          <a:xfrm xmlns:a="http://schemas.openxmlformats.org/drawingml/2006/main">
            <a:off x="6334125" y="540067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00" b="1">
                <a:solidFill>
                  <a:srgbClr val="E76F51"/>
                </a:solidFill>
                <a:latin typeface="Liberation Sans"/>
                <a:ea typeface="Liberation Sans"/>
                <a:cs typeface="Liberation Sans"/>
              </a:defRPr>
            </a:pPr>
            <a:r>
              <a:rPr sz="2100" b="1">
                <a:solidFill>
                  <a:srgbClr val="E76F51"/>
                </a:solidFill>
                <a:latin typeface="Liberation Sans"/>
                <a:ea typeface="Liberation Sans"/>
                <a:cs typeface="Liberation Sans"/>
              </a:rPr>
              <a:t>Edited: one sphere</a:t>
            </a:r>
          </a:p>
        </p:txBody>
      </p:sp>
      <p:sp>
        <p:nvSpPr>
          <p:cNvPr id="10" name="A  three      B  four      C  two      D  one">
            <a:extLst xmlns:a="http://schemas.openxmlformats.org/drawingml/2006/main">
              <a:ext uri="{FF2B5EF4-FFF2-40B4-BE49-F238E27FC236}">
                <a16:creationId xmlns:a16="http://schemas.microsoft.com/office/drawing/2014/main" id="{2596E231-065F-443E-ABA0-7F9AF271331D}"/>
              </a:ext>
            </a:extLst>
          </p:cNvPr>
          <p:cNvSpPr>
            <a:spLocks xmlns:a="http://schemas.openxmlformats.org/drawingml/2006/main" noGrp="1"/>
          </p:cNvSpPr>
          <p:nvPr/>
        </p:nvSpPr>
        <p:spPr>
          <a:xfrm xmlns:a="http://schemas.openxmlformats.org/drawingml/2006/main">
            <a:off x="1714500" y="5953125"/>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17243A"/>
                </a:solidFill>
                <a:latin typeface="Liberation Sans"/>
                <a:ea typeface="Liberation Sans"/>
                <a:cs typeface="Liberation Sans"/>
              </a:defRPr>
            </a:pPr>
            <a:r>
              <a:rPr sz="1875" b="0">
                <a:solidFill>
                  <a:srgbClr val="17243A"/>
                </a:solidFill>
                <a:latin typeface="Liberation Sans"/>
                <a:ea typeface="Liberation Sans"/>
                <a:cs typeface="Liberation Sans"/>
              </a:rPr>
              <a:t>A  three      B  four      C  two      D  one</a:t>
            </a:r>
          </a:p>
        </p:txBody>
      </p:sp>
    </p:spTree>
    <p:extLst>
      <p:ext uri="{BB962C8B-B14F-4D97-AF65-F5344CB8AC3E}">
        <p14:creationId xmlns:p14="http://schemas.microsoft.com/office/powerpoint/2010/main" val="123735048"/>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Small-dataset smoke test: 12 models, four fam">
            <a:extLst xmlns:a="http://schemas.openxmlformats.org/drawingml/2006/main">
              <a:ext uri="{FF2B5EF4-FFF2-40B4-BE49-F238E27FC236}">
                <a16:creationId xmlns:a16="http://schemas.microsoft.com/office/drawing/2014/main" id="{EE62E8DD-9188-49FD-8486-72DCD4B71950}"/>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Small-dataset smoke test: 12 models, four families</a:t>
            </a:r>
          </a:p>
        </p:txBody>
      </p:sp>
      <p:sp>
        <p:nvSpPr>
          <p:cNvPr id="2" name="">
            <a:extLst xmlns:a="http://schemas.openxmlformats.org/drawingml/2006/main">
              <a:ext uri="{FF2B5EF4-FFF2-40B4-BE49-F238E27FC236}">
                <a16:creationId xmlns:a16="http://schemas.microsoft.com/office/drawing/2014/main" id="{72B05885-C32D-45BC-91B2-C1207183A172}"/>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Model screening / 24 unique items in the earl">
            <a:extLst xmlns:a="http://schemas.openxmlformats.org/drawingml/2006/main">
              <a:ext uri="{FF2B5EF4-FFF2-40B4-BE49-F238E27FC236}">
                <a16:creationId xmlns:a16="http://schemas.microsoft.com/office/drawing/2014/main" id="{6A9AFF9F-9C64-4AA2-9D15-08889BBFA43A}"/>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Model screening / 24 unique items in the earlier smoke build</a:t>
            </a:r>
          </a:p>
        </p:txBody>
      </p:sp>
      <p:sp>
        <p:nvSpPr>
          <p:cNvPr id="4" name="8">
            <a:extLst xmlns:a="http://schemas.openxmlformats.org/drawingml/2006/main">
              <a:ext uri="{FF2B5EF4-FFF2-40B4-BE49-F238E27FC236}">
                <a16:creationId xmlns:a16="http://schemas.microsoft.com/office/drawing/2014/main" id="{18B4DE20-561B-4DDB-9DDA-B80CEA2430AD}"/>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8</a:t>
            </a:r>
          </a:p>
        </p:txBody>
      </p:sp>
      <p:sp>
        <p:nvSpPr>
          <p:cNvPr id="5" name="Qwen · InternVL">
            <a:extLst xmlns:a="http://schemas.openxmlformats.org/drawingml/2006/main">
              <a:ext uri="{FF2B5EF4-FFF2-40B4-BE49-F238E27FC236}">
                <a16:creationId xmlns:a16="http://schemas.microsoft.com/office/drawing/2014/main" id="{E464816F-9FEF-440D-8E70-EF3E80678DC5}"/>
              </a:ext>
            </a:extLst>
          </p:cNvPr>
          <p:cNvSpPr>
            <a:spLocks xmlns:a="http://schemas.openxmlformats.org/drawingml/2006/main" noGrp="1"/>
          </p:cNvSpPr>
          <p:nvPr/>
        </p:nvSpPr>
        <p:spPr>
          <a:xfrm xmlns:a="http://schemas.openxmlformats.org/drawingml/2006/main">
            <a:off x="666750" y="1285875"/>
            <a:ext cx="5229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967D2"/>
                </a:solidFill>
                <a:latin typeface="Liberation Sans"/>
                <a:ea typeface="Liberation Sans"/>
                <a:cs typeface="Liberation Sans"/>
              </a:defRPr>
            </a:pPr>
            <a:r>
              <a:rPr sz="2100" b="1">
                <a:solidFill>
                  <a:srgbClr val="1967D2"/>
                </a:solidFill>
                <a:latin typeface="Liberation Sans"/>
                <a:ea typeface="Liberation Sans"/>
                <a:cs typeface="Liberation Sans"/>
              </a:rPr>
              <a:t>Qwen · InternVL</a:t>
            </a:r>
          </a:p>
        </p:txBody>
      </p:sp>
      <p:sp>
        <p:nvSpPr>
          <p:cNvPr id="6" name="LLaVA-OneVision · PaliGemma">
            <a:extLst xmlns:a="http://schemas.openxmlformats.org/drawingml/2006/main">
              <a:ext uri="{FF2B5EF4-FFF2-40B4-BE49-F238E27FC236}">
                <a16:creationId xmlns:a16="http://schemas.microsoft.com/office/drawing/2014/main" id="{E3E85976-AE9B-47B8-895D-4A17D51A7657}"/>
              </a:ext>
            </a:extLst>
          </p:cNvPr>
          <p:cNvSpPr>
            <a:spLocks xmlns:a="http://schemas.openxmlformats.org/drawingml/2006/main" noGrp="1"/>
          </p:cNvSpPr>
          <p:nvPr/>
        </p:nvSpPr>
        <p:spPr>
          <a:xfrm xmlns:a="http://schemas.openxmlformats.org/drawingml/2006/main">
            <a:off x="6353175" y="1285875"/>
            <a:ext cx="5248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8A7A0"/>
                </a:solidFill>
                <a:latin typeface="Liberation Sans"/>
                <a:ea typeface="Liberation Sans"/>
                <a:cs typeface="Liberation Sans"/>
              </a:defRPr>
            </a:pPr>
            <a:r>
              <a:rPr sz="2100" b="1">
                <a:solidFill>
                  <a:srgbClr val="18A7A0"/>
                </a:solidFill>
                <a:latin typeface="Liberation Sans"/>
                <a:ea typeface="Liberation Sans"/>
                <a:cs typeface="Liberation Sans"/>
              </a:rPr>
              <a:t>LLaVA-OneVision · PaliGemma</a:t>
            </a:r>
          </a:p>
        </p:txBody>
      </p:sp>
      <p:graphicFrame>
        <p:nvGraphicFramePr>
          <p:cNvPr id="17" name=""/>
          <p:cNvGraphicFramePr/>
          <p:nvPr/>
        </p:nvGraphicFramePr>
        <p:xfrm>
          <a:off xmlns:a="http://schemas.openxmlformats.org/drawingml/2006/main" x="628650" y="1857375"/>
          <a:ext xmlns:a="http://schemas.openxmlformats.org/drawingml/2006/main" cx="5257800" cy="3200400"/>
        </p:xfrm>
        <a:graphic xmlns:a="http://schemas.openxmlformats.org/drawingml/2006/main">
          <a:graphicData uri="http://schemas.openxmlformats.org/drawingml/2006/table">
            <a:tbl>
              <a:tblPr/>
              <a:tblGrid>
                <a:gridCol w="2695575"/>
                <a:gridCol w="876300"/>
                <a:gridCol w="876300"/>
                <a:gridCol w="809625"/>
              </a:tblGrid>
              <a:tr h="457200">
                <a:tc>
                  <a:txBody>
                    <a:bodyPr lIns="114300" tIns="85725" rIns="95250" bIns="85725"/>
                    <a:lstStyle/>
                    <a:p>
                      <a:r>
                        <a:rPr sz="1613" b="1">
                          <a:solidFill>
                            <a:srgbClr val="FFFFFF"/>
                          </a:solidFill>
                          <a:latin typeface="Liberation Sans"/>
                          <a:ea typeface="Liberation Sans"/>
                          <a:cs typeface="Liberation Sans"/>
                        </a:rPr>
                        <a:t>Model</a:t>
                      </a:r>
                    </a:p>
                  </a:txBody>
                  <a:tcPr marL="91440" marR="91440" marT="45720" marB="45720" anchor="ctr">
                    <a:solidFill>
                      <a:srgbClr val="17243A"/>
                    </a:solidFill>
                  </a:tcPr>
                </a:tc>
                <a:tc>
                  <a:txBody>
                    <a:bodyPr lIns="114300" tIns="85725" rIns="95250" bIns="85725"/>
                    <a:lstStyle/>
                    <a:p>
                      <a:r>
                        <a:rPr sz="1613" b="1">
                          <a:solidFill>
                            <a:srgbClr val="FFFFFF"/>
                          </a:solidFill>
                          <a:latin typeface="Liberation Sans"/>
                          <a:ea typeface="Liberation Sans"/>
                          <a:cs typeface="Liberation Sans"/>
                        </a:rPr>
                        <a:t>Acc. %</a:t>
                      </a:r>
                    </a:p>
                  </a:txBody>
                  <a:tcPr marL="91440" marR="91440" marT="45720" marB="45720" anchor="ctr">
                    <a:solidFill>
                      <a:srgbClr val="17243A"/>
                    </a:solidFill>
                  </a:tcPr>
                </a:tc>
                <a:tc>
                  <a:txBody>
                    <a:bodyPr lIns="114300" tIns="85725" rIns="95250" bIns="85725"/>
                    <a:lstStyle/>
                    <a:p>
                      <a:r>
                        <a:rPr sz="1613" b="1">
                          <a:solidFill>
                            <a:srgbClr val="FFFFFF"/>
                          </a:solidFill>
                          <a:latin typeface="Liberation Sans"/>
                          <a:ea typeface="Liberation Sans"/>
                          <a:cs typeface="Liberation Sans"/>
                        </a:rPr>
                        <a:t>Gap pp</a:t>
                      </a:r>
                    </a:p>
                  </a:txBody>
                  <a:tcPr marL="91440" marR="91440" marT="45720" marB="45720" anchor="ctr">
                    <a:solidFill>
                      <a:srgbClr val="17243A"/>
                    </a:solidFill>
                  </a:tcPr>
                </a:tc>
                <a:tc>
                  <a:txBody>
                    <a:bodyPr lIns="114300" tIns="85725" rIns="95250" bIns="85725"/>
                    <a:lstStyle/>
                    <a:p>
                      <a:r>
                        <a:rPr sz="1613" b="1">
                          <a:solidFill>
                            <a:srgbClr val="FFFFFF"/>
                          </a:solidFill>
                          <a:latin typeface="Liberation Sans"/>
                          <a:ea typeface="Liberation Sans"/>
                          <a:cs typeface="Liberation Sans"/>
                        </a:rPr>
                        <a:t>D / C</a:t>
                      </a:r>
                    </a:p>
                  </a:txBody>
                  <a:tcPr marL="91440" marR="91440" marT="45720" marB="45720" anchor="ctr">
                    <a:solidFill>
                      <a:srgbClr val="17243A"/>
                    </a:solidFill>
                  </a:tcPr>
                </a:tc>
              </a:tr>
              <a:tr h="457200">
                <a:tc>
                  <a:txBody>
                    <a:bodyPr lIns="114300" tIns="85725" rIns="95250" bIns="85725"/>
                    <a:lstStyle/>
                    <a:p>
                      <a:r>
                        <a:rPr sz="1613" b="0">
                          <a:solidFill>
                            <a:srgbClr val="17243A"/>
                          </a:solidFill>
                          <a:latin typeface="Liberation Sans"/>
                          <a:ea typeface="Liberation Sans"/>
                          <a:cs typeface="Liberation Sans"/>
                        </a:rPr>
                        <a:t>Qwen2-VL-2B</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72.92</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41.67</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6 / 4</a:t>
                      </a:r>
                    </a:p>
                  </a:txBody>
                  <a:tcPr marL="91440" marR="91440" marT="45720" marB="45720" anchor="ctr">
                    <a:solidFill>
                      <a:srgbClr val="FFFFFF"/>
                    </a:solidFill>
                  </a:tcPr>
                </a:tc>
              </a:tr>
              <a:tr h="457200">
                <a:tc>
                  <a:txBody>
                    <a:bodyPr lIns="114300" tIns="85725" rIns="95250" bIns="85725"/>
                    <a:lstStyle/>
                    <a:p>
                      <a:r>
                        <a:rPr sz="1613" b="0">
                          <a:solidFill>
                            <a:srgbClr val="17243A"/>
                          </a:solidFill>
                          <a:latin typeface="Liberation Sans"/>
                          <a:ea typeface="Liberation Sans"/>
                          <a:cs typeface="Liberation Sans"/>
                        </a:rPr>
                        <a:t>Qwen2.5-VL-3B</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84.38</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57.29</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6 / 6</a:t>
                      </a:r>
                    </a:p>
                  </a:txBody>
                  <a:tcPr marL="91440" marR="91440" marT="45720" marB="45720" anchor="ctr">
                    <a:solidFill>
                      <a:srgbClr val="E9EEF6"/>
                    </a:solidFill>
                  </a:tcPr>
                </a:tc>
              </a:tr>
              <a:tr h="457200">
                <a:tc>
                  <a:txBody>
                    <a:bodyPr lIns="114300" tIns="85725" rIns="95250" bIns="85725"/>
                    <a:lstStyle/>
                    <a:p>
                      <a:r>
                        <a:rPr sz="1613" b="1">
                          <a:solidFill>
                            <a:srgbClr val="1967D2"/>
                          </a:solidFill>
                          <a:latin typeface="Liberation Sans"/>
                          <a:ea typeface="Liberation Sans"/>
                          <a:cs typeface="Liberation Sans"/>
                        </a:rPr>
                        <a:t>Qwen2.5-VL-7B</a:t>
                      </a:r>
                    </a:p>
                  </a:txBody>
                  <a:tcPr marL="91440" marR="91440" marT="45720" marB="45720" anchor="ctr">
                    <a:solidFill>
                      <a:srgbClr val="FFFFFF"/>
                    </a:solidFill>
                  </a:tcPr>
                </a:tc>
                <a:tc>
                  <a:txBody>
                    <a:bodyPr lIns="114300" tIns="85725" rIns="95250" bIns="85725"/>
                    <a:lstStyle/>
                    <a:p>
                      <a:r>
                        <a:rPr sz="1613" b="1">
                          <a:solidFill>
                            <a:srgbClr val="1967D2"/>
                          </a:solidFill>
                          <a:latin typeface="Liberation Sans"/>
                          <a:ea typeface="Liberation Sans"/>
                          <a:cs typeface="Liberation Sans"/>
                        </a:rPr>
                        <a:t>93.75</a:t>
                      </a:r>
                    </a:p>
                  </a:txBody>
                  <a:tcPr marL="91440" marR="91440" marT="45720" marB="45720" anchor="ctr">
                    <a:solidFill>
                      <a:srgbClr val="FFFFFF"/>
                    </a:solidFill>
                  </a:tcPr>
                </a:tc>
                <a:tc>
                  <a:txBody>
                    <a:bodyPr lIns="114300" tIns="85725" rIns="95250" bIns="85725"/>
                    <a:lstStyle/>
                    <a:p>
                      <a:r>
                        <a:rPr sz="1613" b="1">
                          <a:solidFill>
                            <a:srgbClr val="1967D2"/>
                          </a:solidFill>
                          <a:latin typeface="Liberation Sans"/>
                          <a:ea typeface="Liberation Sans"/>
                          <a:cs typeface="Liberation Sans"/>
                        </a:rPr>
                        <a:t>64.58</a:t>
                      </a:r>
                    </a:p>
                  </a:txBody>
                  <a:tcPr marL="91440" marR="91440" marT="45720" marB="45720" anchor="ctr">
                    <a:solidFill>
                      <a:srgbClr val="FFFFFF"/>
                    </a:solidFill>
                  </a:tcPr>
                </a:tc>
                <a:tc>
                  <a:txBody>
                    <a:bodyPr lIns="114300" tIns="85725" rIns="95250" bIns="85725"/>
                    <a:lstStyle/>
                    <a:p>
                      <a:r>
                        <a:rPr sz="1613" b="1">
                          <a:solidFill>
                            <a:srgbClr val="1967D2"/>
                          </a:solidFill>
                          <a:latin typeface="Liberation Sans"/>
                          <a:ea typeface="Liberation Sans"/>
                          <a:cs typeface="Liberation Sans"/>
                        </a:rPr>
                        <a:t>6 / 6</a:t>
                      </a:r>
                    </a:p>
                  </a:txBody>
                  <a:tcPr marL="91440" marR="91440" marT="45720" marB="45720" anchor="ctr">
                    <a:solidFill>
                      <a:srgbClr val="FFFFFF"/>
                    </a:solidFill>
                  </a:tcPr>
                </a:tc>
              </a:tr>
              <a:tr h="457200">
                <a:tc>
                  <a:txBody>
                    <a:bodyPr lIns="114300" tIns="85725" rIns="95250" bIns="85725"/>
                    <a:lstStyle/>
                    <a:p>
                      <a:r>
                        <a:rPr sz="1613" b="0">
                          <a:solidFill>
                            <a:srgbClr val="17243A"/>
                          </a:solidFill>
                          <a:latin typeface="Liberation Sans"/>
                          <a:ea typeface="Liberation Sans"/>
                          <a:cs typeface="Liberation Sans"/>
                        </a:rPr>
                        <a:t>InternVL3.5-1B</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87.50</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54.17</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5 / 4</a:t>
                      </a:r>
                    </a:p>
                  </a:txBody>
                  <a:tcPr marL="91440" marR="91440" marT="45720" marB="45720" anchor="ctr">
                    <a:solidFill>
                      <a:srgbClr val="E9EEF6"/>
                    </a:solidFill>
                  </a:tcPr>
                </a:tc>
              </a:tr>
              <a:tr h="457200">
                <a:tc>
                  <a:txBody>
                    <a:bodyPr lIns="114300" tIns="85725" rIns="95250" bIns="85725"/>
                    <a:lstStyle/>
                    <a:p>
                      <a:r>
                        <a:rPr sz="1613" b="0">
                          <a:solidFill>
                            <a:srgbClr val="17243A"/>
                          </a:solidFill>
                          <a:latin typeface="Liberation Sans"/>
                          <a:ea typeface="Liberation Sans"/>
                          <a:cs typeface="Liberation Sans"/>
                        </a:rPr>
                        <a:t>InternVL3.5-2B</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90.63</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66.67</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4 / 5</a:t>
                      </a:r>
                    </a:p>
                  </a:txBody>
                  <a:tcPr marL="91440" marR="91440" marT="45720" marB="45720" anchor="ctr">
                    <a:solidFill>
                      <a:srgbClr val="FFFFFF"/>
                    </a:solidFill>
                  </a:tcPr>
                </a:tc>
              </a:tr>
              <a:tr h="457200">
                <a:tc>
                  <a:txBody>
                    <a:bodyPr lIns="114300" tIns="85725" rIns="95250" bIns="85725"/>
                    <a:lstStyle/>
                    <a:p>
                      <a:r>
                        <a:rPr sz="1613" b="1">
                          <a:solidFill>
                            <a:srgbClr val="1967D2"/>
                          </a:solidFill>
                          <a:latin typeface="Liberation Sans"/>
                          <a:ea typeface="Liberation Sans"/>
                          <a:cs typeface="Liberation Sans"/>
                        </a:rPr>
                        <a:t>InternVL3.5-8B</a:t>
                      </a:r>
                    </a:p>
                  </a:txBody>
                  <a:tcPr marL="91440" marR="91440" marT="45720" marB="45720" anchor="ctr">
                    <a:solidFill>
                      <a:srgbClr val="E9EEF6"/>
                    </a:solidFill>
                  </a:tcPr>
                </a:tc>
                <a:tc>
                  <a:txBody>
                    <a:bodyPr lIns="114300" tIns="85725" rIns="95250" bIns="85725"/>
                    <a:lstStyle/>
                    <a:p>
                      <a:r>
                        <a:rPr sz="1613" b="1">
                          <a:solidFill>
                            <a:srgbClr val="1967D2"/>
                          </a:solidFill>
                          <a:latin typeface="Liberation Sans"/>
                          <a:ea typeface="Liberation Sans"/>
                          <a:cs typeface="Liberation Sans"/>
                        </a:rPr>
                        <a:t>100.00</a:t>
                      </a:r>
                    </a:p>
                  </a:txBody>
                  <a:tcPr marL="91440" marR="91440" marT="45720" marB="45720" anchor="ctr">
                    <a:solidFill>
                      <a:srgbClr val="E9EEF6"/>
                    </a:solidFill>
                  </a:tcPr>
                </a:tc>
                <a:tc>
                  <a:txBody>
                    <a:bodyPr lIns="114300" tIns="85725" rIns="95250" bIns="85725"/>
                    <a:lstStyle/>
                    <a:p>
                      <a:r>
                        <a:rPr sz="1613" b="1">
                          <a:solidFill>
                            <a:srgbClr val="1967D2"/>
                          </a:solidFill>
                          <a:latin typeface="Liberation Sans"/>
                          <a:ea typeface="Liberation Sans"/>
                          <a:cs typeface="Liberation Sans"/>
                        </a:rPr>
                        <a:t>78.13</a:t>
                      </a:r>
                    </a:p>
                  </a:txBody>
                  <a:tcPr marL="91440" marR="91440" marT="45720" marB="45720" anchor="ctr">
                    <a:solidFill>
                      <a:srgbClr val="E9EEF6"/>
                    </a:solidFill>
                  </a:tcPr>
                </a:tc>
                <a:tc>
                  <a:txBody>
                    <a:bodyPr lIns="114300" tIns="85725" rIns="95250" bIns="85725"/>
                    <a:lstStyle/>
                    <a:p>
                      <a:r>
                        <a:rPr sz="1613" b="1">
                          <a:solidFill>
                            <a:srgbClr val="1967D2"/>
                          </a:solidFill>
                          <a:latin typeface="Liberation Sans"/>
                          <a:ea typeface="Liberation Sans"/>
                          <a:cs typeface="Liberation Sans"/>
                        </a:rPr>
                        <a:t>6 / 5</a:t>
                      </a:r>
                    </a:p>
                  </a:txBody>
                  <a:tcPr marL="91440" marR="91440" marT="45720" marB="45720" anchor="ctr">
                    <a:solidFill>
                      <a:srgbClr val="E9EEF6"/>
                    </a:solidFill>
                  </a:tcPr>
                </a:tc>
              </a:tr>
            </a:tbl>
          </a:graphicData>
        </a:graphic>
      </p:graphicFrame>
      <p:graphicFrame>
        <p:nvGraphicFramePr>
          <p:cNvPr id="18" name=""/>
          <p:cNvGraphicFramePr/>
          <p:nvPr/>
        </p:nvGraphicFramePr>
        <p:xfrm>
          <a:off xmlns:a="http://schemas.openxmlformats.org/drawingml/2006/main" x="6334125" y="1857375"/>
          <a:ext xmlns:a="http://schemas.openxmlformats.org/drawingml/2006/main" cx="5257800" cy="3200400"/>
        </p:xfrm>
        <a:graphic xmlns:a="http://schemas.openxmlformats.org/drawingml/2006/main">
          <a:graphicData uri="http://schemas.openxmlformats.org/drawingml/2006/table">
            <a:tbl>
              <a:tblPr/>
              <a:tblGrid>
                <a:gridCol w="2695575"/>
                <a:gridCol w="876300"/>
                <a:gridCol w="876300"/>
                <a:gridCol w="809625"/>
              </a:tblGrid>
              <a:tr h="457200">
                <a:tc>
                  <a:txBody>
                    <a:bodyPr lIns="114300" tIns="85725" rIns="95250" bIns="85725"/>
                    <a:lstStyle/>
                    <a:p>
                      <a:r>
                        <a:rPr sz="1613" b="1">
                          <a:solidFill>
                            <a:srgbClr val="FFFFFF"/>
                          </a:solidFill>
                          <a:latin typeface="Liberation Sans"/>
                          <a:ea typeface="Liberation Sans"/>
                          <a:cs typeface="Liberation Sans"/>
                        </a:rPr>
                        <a:t>Model</a:t>
                      </a:r>
                    </a:p>
                  </a:txBody>
                  <a:tcPr marL="91440" marR="91440" marT="45720" marB="45720" anchor="ctr">
                    <a:solidFill>
                      <a:srgbClr val="17243A"/>
                    </a:solidFill>
                  </a:tcPr>
                </a:tc>
                <a:tc>
                  <a:txBody>
                    <a:bodyPr lIns="114300" tIns="85725" rIns="95250" bIns="85725"/>
                    <a:lstStyle/>
                    <a:p>
                      <a:r>
                        <a:rPr sz="1613" b="1">
                          <a:solidFill>
                            <a:srgbClr val="FFFFFF"/>
                          </a:solidFill>
                          <a:latin typeface="Liberation Sans"/>
                          <a:ea typeface="Liberation Sans"/>
                          <a:cs typeface="Liberation Sans"/>
                        </a:rPr>
                        <a:t>Acc. %</a:t>
                      </a:r>
                    </a:p>
                  </a:txBody>
                  <a:tcPr marL="91440" marR="91440" marT="45720" marB="45720" anchor="ctr">
                    <a:solidFill>
                      <a:srgbClr val="17243A"/>
                    </a:solidFill>
                  </a:tcPr>
                </a:tc>
                <a:tc>
                  <a:txBody>
                    <a:bodyPr lIns="114300" tIns="85725" rIns="95250" bIns="85725"/>
                    <a:lstStyle/>
                    <a:p>
                      <a:r>
                        <a:rPr sz="1613" b="1">
                          <a:solidFill>
                            <a:srgbClr val="FFFFFF"/>
                          </a:solidFill>
                          <a:latin typeface="Liberation Sans"/>
                          <a:ea typeface="Liberation Sans"/>
                          <a:cs typeface="Liberation Sans"/>
                        </a:rPr>
                        <a:t>Gap pp</a:t>
                      </a:r>
                    </a:p>
                  </a:txBody>
                  <a:tcPr marL="91440" marR="91440" marT="45720" marB="45720" anchor="ctr">
                    <a:solidFill>
                      <a:srgbClr val="17243A"/>
                    </a:solidFill>
                  </a:tcPr>
                </a:tc>
                <a:tc>
                  <a:txBody>
                    <a:bodyPr lIns="114300" tIns="85725" rIns="95250" bIns="85725"/>
                    <a:lstStyle/>
                    <a:p>
                      <a:r>
                        <a:rPr sz="1613" b="1">
                          <a:solidFill>
                            <a:srgbClr val="FFFFFF"/>
                          </a:solidFill>
                          <a:latin typeface="Liberation Sans"/>
                          <a:ea typeface="Liberation Sans"/>
                          <a:cs typeface="Liberation Sans"/>
                        </a:rPr>
                        <a:t>D / C</a:t>
                      </a:r>
                    </a:p>
                  </a:txBody>
                  <a:tcPr marL="91440" marR="91440" marT="45720" marB="45720" anchor="ctr">
                    <a:solidFill>
                      <a:srgbClr val="17243A"/>
                    </a:solidFill>
                  </a:tcPr>
                </a:tc>
              </a:tr>
              <a:tr h="457200">
                <a:tc>
                  <a:txBody>
                    <a:bodyPr lIns="114300" tIns="85725" rIns="95250" bIns="85725"/>
                    <a:lstStyle/>
                    <a:p>
                      <a:r>
                        <a:rPr sz="1613" b="0">
                          <a:solidFill>
                            <a:srgbClr val="17243A"/>
                          </a:solidFill>
                          <a:latin typeface="Liberation Sans"/>
                          <a:ea typeface="Liberation Sans"/>
                          <a:cs typeface="Liberation Sans"/>
                        </a:rPr>
                        <a:t>LLaVA-OV-0.5B-SI</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40.63</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17.71</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1 / 2</a:t>
                      </a:r>
                    </a:p>
                  </a:txBody>
                  <a:tcPr marL="91440" marR="91440" marT="45720" marB="45720" anchor="ctr">
                    <a:solidFill>
                      <a:srgbClr val="FFFFFF"/>
                    </a:solidFill>
                  </a:tcPr>
                </a:tc>
              </a:tr>
              <a:tr h="457200">
                <a:tc>
                  <a:txBody>
                    <a:bodyPr lIns="114300" tIns="85725" rIns="95250" bIns="85725"/>
                    <a:lstStyle/>
                    <a:p>
                      <a:r>
                        <a:rPr sz="1613" b="0">
                          <a:solidFill>
                            <a:srgbClr val="17243A"/>
                          </a:solidFill>
                          <a:latin typeface="Liberation Sans"/>
                          <a:ea typeface="Liberation Sans"/>
                          <a:cs typeface="Liberation Sans"/>
                        </a:rPr>
                        <a:t>LLaVA-OV-7B-SI</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72.92</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44.79</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3 / 4</a:t>
                      </a:r>
                    </a:p>
                  </a:txBody>
                  <a:tcPr marL="91440" marR="91440" marT="45720" marB="45720" anchor="ctr">
                    <a:solidFill>
                      <a:srgbClr val="E9EEF6"/>
                    </a:solidFill>
                  </a:tcPr>
                </a:tc>
              </a:tr>
              <a:tr h="457200">
                <a:tc>
                  <a:txBody>
                    <a:bodyPr lIns="114300" tIns="85725" rIns="95250" bIns="85725"/>
                    <a:lstStyle/>
                    <a:p>
                      <a:r>
                        <a:rPr sz="1613" b="0">
                          <a:solidFill>
                            <a:srgbClr val="17243A"/>
                          </a:solidFill>
                          <a:latin typeface="Liberation Sans"/>
                          <a:ea typeface="Liberation Sans"/>
                          <a:cs typeface="Liberation Sans"/>
                        </a:rPr>
                        <a:t>LLaVA-OV-7B-OV</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64.58</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35.42</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6 / 6</a:t>
                      </a:r>
                    </a:p>
                  </a:txBody>
                  <a:tcPr marL="91440" marR="91440" marT="45720" marB="45720" anchor="ctr">
                    <a:solidFill>
                      <a:srgbClr val="FFFFFF"/>
                    </a:solidFill>
                  </a:tcPr>
                </a:tc>
              </a:tr>
              <a:tr h="457200">
                <a:tc>
                  <a:txBody>
                    <a:bodyPr lIns="114300" tIns="85725" rIns="95250" bIns="85725"/>
                    <a:lstStyle/>
                    <a:p>
                      <a:r>
                        <a:rPr sz="1613" b="0">
                          <a:solidFill>
                            <a:srgbClr val="17243A"/>
                          </a:solidFill>
                          <a:latin typeface="Liberation Sans"/>
                          <a:ea typeface="Liberation Sans"/>
                          <a:cs typeface="Liberation Sans"/>
                        </a:rPr>
                        <a:t>PaliGemma-3B Mix</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42.71</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22.92</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4 / 3</a:t>
                      </a:r>
                    </a:p>
                  </a:txBody>
                  <a:tcPr marL="91440" marR="91440" marT="45720" marB="45720" anchor="ctr">
                    <a:solidFill>
                      <a:srgbClr val="E9EEF6"/>
                    </a:solidFill>
                  </a:tcPr>
                </a:tc>
              </a:tr>
              <a:tr h="457200">
                <a:tc>
                  <a:txBody>
                    <a:bodyPr lIns="114300" tIns="85725" rIns="95250" bIns="85725"/>
                    <a:lstStyle/>
                    <a:p>
                      <a:r>
                        <a:rPr sz="1613" b="0">
                          <a:solidFill>
                            <a:srgbClr val="17243A"/>
                          </a:solidFill>
                          <a:latin typeface="Liberation Sans"/>
                          <a:ea typeface="Liberation Sans"/>
                          <a:cs typeface="Liberation Sans"/>
                        </a:rPr>
                        <a:t>PaliGemma2-3B Mix</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50.00</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26.04</a:t>
                      </a:r>
                    </a:p>
                  </a:txBody>
                  <a:tcPr marL="91440" marR="91440" marT="45720" marB="45720" anchor="ctr">
                    <a:solidFill>
                      <a:srgbClr val="FFFFFF"/>
                    </a:solidFill>
                  </a:tcPr>
                </a:tc>
                <a:tc>
                  <a:txBody>
                    <a:bodyPr lIns="114300" tIns="85725" rIns="95250" bIns="85725"/>
                    <a:lstStyle/>
                    <a:p>
                      <a:r>
                        <a:rPr sz="1613" b="0">
                          <a:solidFill>
                            <a:srgbClr val="17243A"/>
                          </a:solidFill>
                          <a:latin typeface="Liberation Sans"/>
                          <a:ea typeface="Liberation Sans"/>
                          <a:cs typeface="Liberation Sans"/>
                        </a:rPr>
                        <a:t>2 / 3</a:t>
                      </a:r>
                    </a:p>
                  </a:txBody>
                  <a:tcPr marL="91440" marR="91440" marT="45720" marB="45720" anchor="ctr">
                    <a:solidFill>
                      <a:srgbClr val="FFFFFF"/>
                    </a:solidFill>
                  </a:tcPr>
                </a:tc>
              </a:tr>
              <a:tr h="457200">
                <a:tc>
                  <a:txBody>
                    <a:bodyPr lIns="114300" tIns="85725" rIns="95250" bIns="85725"/>
                    <a:lstStyle/>
                    <a:p>
                      <a:r>
                        <a:rPr sz="1613" b="0">
                          <a:solidFill>
                            <a:srgbClr val="17243A"/>
                          </a:solidFill>
                          <a:latin typeface="Liberation Sans"/>
                          <a:ea typeface="Liberation Sans"/>
                          <a:cs typeface="Liberation Sans"/>
                        </a:rPr>
                        <a:t>PaliGemma2-10B Mix</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58.33</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39.58</a:t>
                      </a:r>
                    </a:p>
                  </a:txBody>
                  <a:tcPr marL="91440" marR="91440" marT="45720" marB="45720" anchor="ctr">
                    <a:solidFill>
                      <a:srgbClr val="E9EEF6"/>
                    </a:solidFill>
                  </a:tcPr>
                </a:tc>
                <a:tc>
                  <a:txBody>
                    <a:bodyPr lIns="114300" tIns="85725" rIns="95250" bIns="85725"/>
                    <a:lstStyle/>
                    <a:p>
                      <a:r>
                        <a:rPr sz="1613" b="0">
                          <a:solidFill>
                            <a:srgbClr val="17243A"/>
                          </a:solidFill>
                          <a:latin typeface="Liberation Sans"/>
                          <a:ea typeface="Liberation Sans"/>
                          <a:cs typeface="Liberation Sans"/>
                        </a:rPr>
                        <a:t>2 / 3</a:t>
                      </a:r>
                    </a:p>
                  </a:txBody>
                  <a:tcPr marL="91440" marR="91440" marT="45720" marB="45720" anchor="ctr">
                    <a:solidFill>
                      <a:srgbClr val="E9EEF6"/>
                    </a:solidFill>
                  </a:tcPr>
                </a:tc>
              </a:tr>
            </a:tbl>
          </a:graphicData>
        </a:graphic>
      </p:graphicFrame>
      <p:sp>
        <p:nvSpPr>
          <p:cNvPr id="9" name="Acc.: A/B/C/D accuracy   Gap: clean − shuffle">
            <a:extLst xmlns:a="http://schemas.openxmlformats.org/drawingml/2006/main">
              <a:ext uri="{FF2B5EF4-FFF2-40B4-BE49-F238E27FC236}">
                <a16:creationId xmlns:a16="http://schemas.microsoft.com/office/drawing/2014/main" id="{E685C5F7-1123-4BF2-BE2F-67CA4FE1FBFF}"/>
              </a:ext>
            </a:extLst>
          </p:cNvPr>
          <p:cNvSpPr>
            <a:spLocks xmlns:a="http://schemas.openxmlformats.org/drawingml/2006/main" noGrp="1"/>
          </p:cNvSpPr>
          <p:nvPr/>
        </p:nvSpPr>
        <p:spPr>
          <a:xfrm xmlns:a="http://schemas.openxmlformats.org/drawingml/2006/main">
            <a:off x="647700" y="525780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C667A"/>
                </a:solidFill>
                <a:latin typeface="Liberation Sans"/>
                <a:ea typeface="Liberation Sans"/>
                <a:cs typeface="Liberation Sans"/>
              </a:defRPr>
            </a:pPr>
            <a:r>
              <a:rPr sz="1725" b="0">
                <a:solidFill>
                  <a:srgbClr val="5C667A"/>
                </a:solidFill>
                <a:latin typeface="Liberation Sans"/>
                <a:ea typeface="Liberation Sans"/>
                <a:cs typeface="Liberation Sans"/>
              </a:rPr>
              <a:t>Acc.: A/B/C/D accuracy   Gap: clean − shuffled accuracy   D/C: usable pairs</a:t>
            </a:r>
          </a:p>
        </p:txBody>
      </p:sp>
      <p:sp>
        <p:nvSpPr>
          <p:cNvPr id="10" name="Qwen7B and InternVL8B were chosen for detaile">
            <a:extLst xmlns:a="http://schemas.openxmlformats.org/drawingml/2006/main">
              <a:ext uri="{FF2B5EF4-FFF2-40B4-BE49-F238E27FC236}">
                <a16:creationId xmlns:a16="http://schemas.microsoft.com/office/drawing/2014/main" id="{4D37D6EF-63AF-4C66-A224-5522AB3801FC}"/>
              </a:ext>
            </a:extLst>
          </p:cNvPr>
          <p:cNvSpPr>
            <a:spLocks xmlns:a="http://schemas.openxmlformats.org/drawingml/2006/main" noGrp="1"/>
          </p:cNvSpPr>
          <p:nvPr/>
        </p:nvSpPr>
        <p:spPr>
          <a:xfrm xmlns:a="http://schemas.openxmlformats.org/drawingml/2006/main">
            <a:off x="647700" y="5838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967D2"/>
                </a:solidFill>
                <a:latin typeface="Liberation Sans"/>
                <a:ea typeface="Liberation Sans"/>
                <a:cs typeface="Liberation Sans"/>
              </a:defRPr>
            </a:pPr>
            <a:r>
              <a:rPr sz="2025" b="1">
                <a:solidFill>
                  <a:srgbClr val="1967D2"/>
                </a:solidFill>
                <a:latin typeface="Liberation Sans"/>
                <a:ea typeface="Liberation Sans"/>
                <a:cs typeface="Liberation Sans"/>
              </a:rPr>
              <a:t>Qwen7B and InternVL8B were chosen for detailed Core-7 experiments</a:t>
            </a:r>
          </a:p>
        </p:txBody>
      </p:sp>
    </p:spTree>
    <p:extLst>
      <p:ext uri="{BB962C8B-B14F-4D97-AF65-F5344CB8AC3E}">
        <p14:creationId xmlns:p14="http://schemas.microsoft.com/office/powerpoint/2010/main" val="1630960150"/>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The smoke run validated the complete experime">
            <a:extLst xmlns:a="http://schemas.openxmlformats.org/drawingml/2006/main">
              <a:ext uri="{FF2B5EF4-FFF2-40B4-BE49-F238E27FC236}">
                <a16:creationId xmlns:a16="http://schemas.microsoft.com/office/drawing/2014/main" id="{E3FC535D-A89A-425D-A334-8BABE6D6C286}"/>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The smoke run validated the complete experiment pipeline</a:t>
            </a:r>
          </a:p>
        </p:txBody>
      </p:sp>
      <p:sp>
        <p:nvSpPr>
          <p:cNvPr id="2" name="">
            <a:extLst xmlns:a="http://schemas.openxmlformats.org/drawingml/2006/main">
              <a:ext uri="{FF2B5EF4-FFF2-40B4-BE49-F238E27FC236}">
                <a16:creationId xmlns:a16="http://schemas.microsoft.com/office/drawing/2014/main" id="{23118C40-A1BE-4147-B079-145962412CE3}"/>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Core-7 smoke / 4–6 usable pairs per split / e">
            <a:extLst xmlns:a="http://schemas.openxmlformats.org/drawingml/2006/main">
              <a:ext uri="{FF2B5EF4-FFF2-40B4-BE49-F238E27FC236}">
                <a16:creationId xmlns:a16="http://schemas.microsoft.com/office/drawing/2014/main" id="{EB45BFBB-B6D4-436F-8CAB-612A1548876F}"/>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Core-7 smoke / 4–6 usable pairs per split / every fourth layer</a:t>
            </a:r>
          </a:p>
        </p:txBody>
      </p:sp>
      <p:sp>
        <p:nvSpPr>
          <p:cNvPr id="4" name="9">
            <a:extLst xmlns:a="http://schemas.openxmlformats.org/drawingml/2006/main">
              <a:ext uri="{FF2B5EF4-FFF2-40B4-BE49-F238E27FC236}">
                <a16:creationId xmlns:a16="http://schemas.microsoft.com/office/drawing/2014/main" id="{BC4F13D4-35CC-4BF2-AF02-D2FE371F027C}"/>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9</a:t>
            </a:r>
          </a:p>
        </p:txBody>
      </p:sp>
      <p:sp>
        <p:nvSpPr>
          <p:cNvPr id="5" name="Both selected models completed discovery → fr">
            <a:extLst xmlns:a="http://schemas.openxmlformats.org/drawingml/2006/main">
              <a:ext uri="{FF2B5EF4-FFF2-40B4-BE49-F238E27FC236}">
                <a16:creationId xmlns:a16="http://schemas.microsoft.com/office/drawing/2014/main" id="{FC7EC127-D214-4B1A-AF6B-0E1A079672E5}"/>
              </a:ext>
            </a:extLst>
          </p:cNvPr>
          <p:cNvSpPr>
            <a:spLocks xmlns:a="http://schemas.openxmlformats.org/drawingml/2006/main" noGrp="1"/>
          </p:cNvSpPr>
          <p:nvPr/>
        </p:nvSpPr>
        <p:spPr>
          <a:xfrm xmlns:a="http://schemas.openxmlformats.org/drawingml/2006/main">
            <a:off x="647700" y="13239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43A"/>
                </a:solidFill>
                <a:latin typeface="Liberation Sans"/>
                <a:ea typeface="Liberation Sans"/>
                <a:cs typeface="Liberation Sans"/>
              </a:defRPr>
            </a:pPr>
            <a:r>
              <a:rPr sz="2175" b="1">
                <a:solidFill>
                  <a:srgbClr val="17243A"/>
                </a:solidFill>
                <a:latin typeface="Liberation Sans"/>
                <a:ea typeface="Liberation Sans"/>
                <a:cs typeface="Liberation Sans"/>
              </a:rPr>
              <a:t>Both selected models completed discovery → freeze → confirmation</a:t>
            </a:r>
          </a:p>
        </p:txBody>
      </p:sp>
      <p:graphicFrame>
        <p:nvGraphicFramePr>
          <p:cNvPr id="13" name=""/>
          <p:cNvGraphicFramePr/>
          <p:nvPr/>
        </p:nvGraphicFramePr>
        <p:xfrm>
          <a:off xmlns:a="http://schemas.openxmlformats.org/drawingml/2006/main" x="628650" y="2305050"/>
          <a:ext xmlns:a="http://schemas.openxmlformats.org/drawingml/2006/main" cx="10925175" cy="3086100"/>
        </p:xfrm>
        <a:graphic xmlns:a="http://schemas.openxmlformats.org/drawingml/2006/main">
          <a:graphicData uri="http://schemas.openxmlformats.org/drawingml/2006/table">
            <a:tbl>
              <a:tblPr/>
              <a:tblGrid>
                <a:gridCol w="5972175"/>
                <a:gridCol w="2476500"/>
                <a:gridCol w="2476500"/>
              </a:tblGrid>
              <a:tr h="514350">
                <a:tc>
                  <a:txBody>
                    <a:bodyPr lIns="114300" tIns="85725" rIns="95250" bIns="85725"/>
                    <a:lstStyle/>
                    <a:p>
                      <a:r>
                        <a:rPr sz="1725" b="1">
                          <a:solidFill>
                            <a:srgbClr val="FFFFFF"/>
                          </a:solidFill>
                          <a:latin typeface="Liberation Sans"/>
                          <a:ea typeface="Liberation Sans"/>
                          <a:cs typeface="Liberation Sans"/>
                        </a:rPr>
                        <a:t>Smoke check</a:t>
                      </a:r>
                    </a:p>
                  </a:txBody>
                  <a:tcPr marL="91440" marR="91440" marT="45720" marB="45720" anchor="ctr">
                    <a:solidFill>
                      <a:srgbClr val="17243A"/>
                    </a:solidFill>
                  </a:tcPr>
                </a:tc>
                <a:tc>
                  <a:txBody>
                    <a:bodyPr lIns="114300" tIns="85725" rIns="95250" bIns="85725"/>
                    <a:lstStyle/>
                    <a:p>
                      <a:r>
                        <a:rPr sz="1725" b="1">
                          <a:solidFill>
                            <a:srgbClr val="FFFFFF"/>
                          </a:solidFill>
                          <a:latin typeface="Liberation Sans"/>
                          <a:ea typeface="Liberation Sans"/>
                          <a:cs typeface="Liberation Sans"/>
                        </a:rPr>
                        <a:t>Qwen2.5-VL-7B</a:t>
                      </a:r>
                    </a:p>
                  </a:txBody>
                  <a:tcPr marL="91440" marR="91440" marT="45720" marB="45720" anchor="ctr">
                    <a:solidFill>
                      <a:srgbClr val="17243A"/>
                    </a:solidFill>
                  </a:tcPr>
                </a:tc>
                <a:tc>
                  <a:txBody>
                    <a:bodyPr lIns="114300" tIns="85725" rIns="95250" bIns="85725"/>
                    <a:lstStyle/>
                    <a:p>
                      <a:r>
                        <a:rPr sz="1725" b="1">
                          <a:solidFill>
                            <a:srgbClr val="FFFFFF"/>
                          </a:solidFill>
                          <a:latin typeface="Liberation Sans"/>
                          <a:ea typeface="Liberation Sans"/>
                          <a:cs typeface="Liberation Sans"/>
                        </a:rPr>
                        <a:t>InternVL3.5-8B</a:t>
                      </a:r>
                    </a:p>
                  </a:txBody>
                  <a:tcPr marL="91440" marR="91440" marT="45720" marB="45720" anchor="ctr">
                    <a:solidFill>
                      <a:srgbClr val="17243A"/>
                    </a:solidFill>
                  </a:tcPr>
                </a:tc>
              </a:tr>
              <a:tr h="514350">
                <a:tc>
                  <a:txBody>
                    <a:bodyPr lIns="114300" tIns="85725" rIns="95250" bIns="85725"/>
                    <a:lstStyle/>
                    <a:p>
                      <a:r>
                        <a:rPr sz="1725" b="0">
                          <a:solidFill>
                            <a:srgbClr val="17243A"/>
                          </a:solidFill>
                          <a:latin typeface="Liberation Sans"/>
                          <a:ea typeface="Liberation Sans"/>
                          <a:cs typeface="Liberation Sans"/>
                        </a:rPr>
                        <a:t>Position-transfer layer, discovery → confirmation</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24 → 24</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28 → 24</a:t>
                      </a:r>
                    </a:p>
                  </a:txBody>
                  <a:tcPr marL="91440" marR="91440" marT="45720" marB="45720" anchor="ctr">
                    <a:solidFill>
                      <a:srgbClr val="FFFFFF"/>
                    </a:solidFill>
                  </a:tcPr>
                </a:tc>
              </a:tr>
              <a:tr h="514350">
                <a:tc>
                  <a:txBody>
                    <a:bodyPr lIns="114300" tIns="85725" rIns="95250" bIns="85725"/>
                    <a:lstStyle/>
                    <a:p>
                      <a:r>
                        <a:rPr sz="1725" b="0">
                          <a:solidFill>
                            <a:srgbClr val="17243A"/>
                          </a:solidFill>
                          <a:latin typeface="Liberation Sans"/>
                          <a:ea typeface="Liberation Sans"/>
                          <a:cs typeface="Liberation Sans"/>
                        </a:rPr>
                        <a:t>Content-transfer layer, discovery → confirmation</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27 → 27</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32 → 32</a:t>
                      </a:r>
                    </a:p>
                  </a:txBody>
                  <a:tcPr marL="91440" marR="91440" marT="45720" marB="45720" anchor="ctr">
                    <a:solidFill>
                      <a:srgbClr val="E9EEF6"/>
                    </a:solidFill>
                  </a:tcPr>
                </a:tc>
              </a:tr>
              <a:tr h="514350">
                <a:tc>
                  <a:txBody>
                    <a:bodyPr lIns="114300" tIns="85725" rIns="95250" bIns="85725"/>
                    <a:lstStyle/>
                    <a:p>
                      <a:r>
                        <a:rPr sz="1725" b="0">
                          <a:solidFill>
                            <a:srgbClr val="17243A"/>
                          </a:solidFill>
                          <a:latin typeface="Liberation Sans"/>
                          <a:ea typeface="Liberation Sans"/>
                          <a:cs typeface="Liberation Sans"/>
                        </a:rPr>
                        <a:t>Stronger component</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Attention</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Attention</a:t>
                      </a:r>
                    </a:p>
                  </a:txBody>
                  <a:tcPr marL="91440" marR="91440" marT="45720" marB="45720" anchor="ctr">
                    <a:solidFill>
                      <a:srgbClr val="FFFFFF"/>
                    </a:solidFill>
                  </a:tcPr>
                </a:tc>
              </a:tr>
              <a:tr h="514350">
                <a:tc>
                  <a:txBody>
                    <a:bodyPr lIns="114300" tIns="85725" rIns="95250" bIns="85725"/>
                    <a:lstStyle/>
                    <a:p>
                      <a:r>
                        <a:rPr sz="1725" b="0">
                          <a:solidFill>
                            <a:srgbClr val="17243A"/>
                          </a:solidFill>
                          <a:latin typeface="Liberation Sans"/>
                          <a:ea typeface="Liberation Sans"/>
                          <a:cs typeface="Liberation Sans"/>
                        </a:rPr>
                        <a:t>Selected top-K sets beat matched random sets</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K = 1, 2, 4</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K = 1, 2, 4</a:t>
                      </a:r>
                    </a:p>
                  </a:txBody>
                  <a:tcPr marL="91440" marR="91440" marT="45720" marB="45720" anchor="ctr">
                    <a:solidFill>
                      <a:srgbClr val="E9EEF6"/>
                    </a:solidFill>
                  </a:tcPr>
                </a:tc>
              </a:tr>
              <a:tr h="514350">
                <a:tc>
                  <a:txBody>
                    <a:bodyPr lIns="114300" tIns="85725" rIns="95250" bIns="85725"/>
                    <a:lstStyle/>
                    <a:p>
                      <a:r>
                        <a:rPr sz="1725" b="0">
                          <a:solidFill>
                            <a:srgbClr val="17243A"/>
                          </a:solidFill>
                          <a:latin typeface="Liberation Sans"/>
                          <a:ea typeface="Liberation Sans"/>
                          <a:cs typeface="Liberation Sans"/>
                        </a:rPr>
                        <a:t>All seven methods completed</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Yes</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Yes</a:t>
                      </a:r>
                    </a:p>
                  </a:txBody>
                  <a:tcPr marL="91440" marR="91440" marT="45720" marB="45720" anchor="ctr">
                    <a:solidFill>
                      <a:srgbClr val="FFFFFF"/>
                    </a:solidFill>
                  </a:tcPr>
                </a:tc>
              </a:tr>
            </a:tbl>
          </a:graphicData>
        </a:graphic>
      </p:graphicFrame>
      <p:sp>
        <p:nvSpPr>
          <p:cNvPr id="7" name="A four-layer smoke mismatch is preliminary; l">
            <a:extLst xmlns:a="http://schemas.openxmlformats.org/drawingml/2006/main">
              <a:ext uri="{FF2B5EF4-FFF2-40B4-BE49-F238E27FC236}">
                <a16:creationId xmlns:a16="http://schemas.microsoft.com/office/drawing/2014/main" id="{E630DDA6-4CD7-41E2-9388-7A49F88AD983}"/>
              </a:ext>
            </a:extLst>
          </p:cNvPr>
          <p:cNvSpPr>
            <a:spLocks xmlns:a="http://schemas.openxmlformats.org/drawingml/2006/main" noGrp="1"/>
          </p:cNvSpPr>
          <p:nvPr/>
        </p:nvSpPr>
        <p:spPr>
          <a:xfrm xmlns:a="http://schemas.openxmlformats.org/drawingml/2006/main">
            <a:off x="647700" y="56864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967D2"/>
                </a:solidFill>
                <a:latin typeface="Liberation Sans"/>
                <a:ea typeface="Liberation Sans"/>
                <a:cs typeface="Liberation Sans"/>
              </a:defRPr>
            </a:pPr>
            <a:r>
              <a:rPr sz="1950" b="1">
                <a:solidFill>
                  <a:srgbClr val="1967D2"/>
                </a:solidFill>
                <a:latin typeface="Liberation Sans"/>
                <a:ea typeface="Liberation Sans"/>
                <a:cs typeface="Liberation Sans"/>
              </a:rPr>
              <a:t>A four-layer smoke mismatch is preliminary; larger runs test the scientific claims</a:t>
            </a:r>
          </a:p>
        </p:txBody>
      </p:sp>
    </p:spTree>
    <p:extLst>
      <p:ext uri="{BB962C8B-B14F-4D97-AF65-F5344CB8AC3E}">
        <p14:creationId xmlns:p14="http://schemas.microsoft.com/office/powerpoint/2010/main" val="1759066652"/>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Core-7: interventions and vocabulary readouts">
            <a:extLst xmlns:a="http://schemas.openxmlformats.org/drawingml/2006/main">
              <a:ext uri="{FF2B5EF4-FFF2-40B4-BE49-F238E27FC236}">
                <a16:creationId xmlns:a16="http://schemas.microsoft.com/office/drawing/2014/main" id="{F663864D-1780-431A-BF7E-C748D0E458B7}"/>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Core-7: interventions and vocabulary readouts</a:t>
            </a:r>
          </a:p>
        </p:txBody>
      </p:sp>
      <p:sp>
        <p:nvSpPr>
          <p:cNvPr id="2" name="">
            <a:extLst xmlns:a="http://schemas.openxmlformats.org/drawingml/2006/main">
              <a:ext uri="{FF2B5EF4-FFF2-40B4-BE49-F238E27FC236}">
                <a16:creationId xmlns:a16="http://schemas.microsoft.com/office/drawing/2014/main" id="{C02CD48A-A8FC-49AF-B8DD-C79E8D090A55}"/>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Larger study / Qwen: 64 pairs per split / Int">
            <a:extLst xmlns:a="http://schemas.openxmlformats.org/drawingml/2006/main">
              <a:ext uri="{FF2B5EF4-FFF2-40B4-BE49-F238E27FC236}">
                <a16:creationId xmlns:a16="http://schemas.microsoft.com/office/drawing/2014/main" id="{93DD8757-DE53-49F3-B76F-86D14E8B75AB}"/>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Larger study / Qwen: 64 pairs per split / InternVL: 32 pairs per split, preliminary</a:t>
            </a:r>
          </a:p>
        </p:txBody>
      </p:sp>
      <p:sp>
        <p:nvSpPr>
          <p:cNvPr id="4" name="10">
            <a:extLst xmlns:a="http://schemas.openxmlformats.org/drawingml/2006/main">
              <a:ext uri="{FF2B5EF4-FFF2-40B4-BE49-F238E27FC236}">
                <a16:creationId xmlns:a16="http://schemas.microsoft.com/office/drawing/2014/main" id="{B41D5369-E8EA-4A02-92D7-9089727C58B4}"/>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10</a:t>
            </a:r>
          </a:p>
        </p:txBody>
      </p:sp>
      <p:graphicFrame>
        <p:nvGraphicFramePr>
          <p:cNvPr id="13" name=""/>
          <p:cNvGraphicFramePr/>
          <p:nvPr/>
        </p:nvGraphicFramePr>
        <p:xfrm>
          <a:off xmlns:a="http://schemas.openxmlformats.org/drawingml/2006/main" x="628650" y="1419225"/>
          <a:ext xmlns:a="http://schemas.openxmlformats.org/drawingml/2006/main" cx="10925175" cy="3009900"/>
        </p:xfrm>
        <a:graphic xmlns:a="http://schemas.openxmlformats.org/drawingml/2006/main">
          <a:graphicData uri="http://schemas.openxmlformats.org/drawingml/2006/table">
            <a:tbl>
              <a:tblPr/>
              <a:tblGrid>
                <a:gridCol w="6648450"/>
                <a:gridCol w="4276725"/>
              </a:tblGrid>
              <a:tr h="601980">
                <a:tc>
                  <a:txBody>
                    <a:bodyPr lIns="114300" tIns="85725" rIns="95250" bIns="85725"/>
                    <a:lstStyle/>
                    <a:p>
                      <a:r>
                        <a:rPr sz="1800" b="1">
                          <a:solidFill>
                            <a:srgbClr val="FFFFFF"/>
                          </a:solidFill>
                          <a:latin typeface="Liberation Sans"/>
                          <a:ea typeface="Liberation Sans"/>
                          <a:cs typeface="Liberation Sans"/>
                        </a:rPr>
                        <a:t>Question</a:t>
                      </a:r>
                    </a:p>
                  </a:txBody>
                  <a:tcPr marL="91440" marR="91440" marT="45720" marB="45720" anchor="ctr">
                    <a:solidFill>
                      <a:srgbClr val="17243A"/>
                    </a:solidFill>
                  </a:tcPr>
                </a:tc>
                <a:tc>
                  <a:txBody>
                    <a:bodyPr lIns="114300" tIns="85725" rIns="95250" bIns="85725"/>
                    <a:lstStyle/>
                    <a:p>
                      <a:r>
                        <a:rPr sz="1800" b="1">
                          <a:solidFill>
                            <a:srgbClr val="FFFFFF"/>
                          </a:solidFill>
                          <a:latin typeface="Liberation Sans"/>
                          <a:ea typeface="Liberation Sans"/>
                          <a:cs typeface="Liberation Sans"/>
                        </a:rPr>
                        <a:t>Measurement</a:t>
                      </a:r>
                    </a:p>
                  </a:txBody>
                  <a:tcPr marL="91440" marR="91440" marT="45720" marB="45720" anchor="ctr">
                    <a:solidFill>
                      <a:srgbClr val="17243A"/>
                    </a:solidFill>
                  </a:tcPr>
                </a:tc>
              </a:tr>
              <a:tr h="601980">
                <a:tc>
                  <a:txBody>
                    <a:bodyPr lIns="114300" tIns="85725" rIns="95250" bIns="85725"/>
                    <a:lstStyle/>
                    <a:p>
                      <a:r>
                        <a:rPr sz="1800" b="0">
                          <a:solidFill>
                            <a:srgbClr val="17243A"/>
                          </a:solidFill>
                          <a:latin typeface="Liberation Sans"/>
                          <a:ea typeface="Liberation Sans"/>
                          <a:cs typeface="Liberation Sans"/>
                        </a:rPr>
                        <a:t>When does the final state steer the output?  M1</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Patch the final-token state by layer</a:t>
                      </a:r>
                    </a:p>
                  </a:txBody>
                  <a:tcPr marL="91440" marR="91440" marT="45720" marB="45720" anchor="ctr">
                    <a:solidFill>
                      <a:srgbClr val="FFFFFF"/>
                    </a:solidFill>
                  </a:tcPr>
                </a:tc>
              </a:tr>
              <a:tr h="601980">
                <a:tc>
                  <a:txBody>
                    <a:bodyPr lIns="114300" tIns="85725" rIns="95250" bIns="85725"/>
                    <a:lstStyle/>
                    <a:p>
                      <a:r>
                        <a:rPr sz="1800" b="0">
                          <a:solidFill>
                            <a:srgbClr val="17243A"/>
                          </a:solidFill>
                          <a:latin typeface="Liberation Sans"/>
                          <a:ea typeface="Liberation Sans"/>
                          <a:cs typeface="Liberation Sans"/>
                        </a:rPr>
                        <a:t>Which tokens carry transferable content?  M6</a:t>
                      </a:r>
                    </a:p>
                  </a:txBody>
                  <a:tcPr marL="91440" marR="91440" marT="45720" marB="45720" anchor="ctr">
                    <a:solidFill>
                      <a:srgbClr val="E9EEF6"/>
                    </a:solidFill>
                  </a:tcPr>
                </a:tc>
                <a:tc>
                  <a:txBody>
                    <a:bodyPr lIns="114300" tIns="85725" rIns="95250" bIns="85725"/>
                    <a:lstStyle/>
                    <a:p>
                      <a:r>
                        <a:rPr sz="1800" b="0">
                          <a:solidFill>
                            <a:srgbClr val="17243A"/>
                          </a:solidFill>
                          <a:latin typeface="Liberation Sans"/>
                          <a:ea typeface="Liberation Sans"/>
                          <a:cs typeface="Liberation Sans"/>
                        </a:rPr>
                        <a:t>Patch image, option and other token groups</a:t>
                      </a:r>
                    </a:p>
                  </a:txBody>
                  <a:tcPr marL="91440" marR="91440" marT="45720" marB="45720" anchor="ctr">
                    <a:solidFill>
                      <a:srgbClr val="E9EEF6"/>
                    </a:solidFill>
                  </a:tcPr>
                </a:tc>
              </a:tr>
              <a:tr h="601980">
                <a:tc>
                  <a:txBody>
                    <a:bodyPr lIns="114300" tIns="85725" rIns="95250" bIns="85725"/>
                    <a:lstStyle/>
                    <a:p>
                      <a:r>
                        <a:rPr sz="1800" b="0">
                          <a:solidFill>
                            <a:srgbClr val="17243A"/>
                          </a:solidFill>
                          <a:latin typeface="Liberation Sans"/>
                          <a:ea typeface="Liberation Sans"/>
                          <a:cs typeface="Liberation Sans"/>
                        </a:rPr>
                        <a:t>Which components and heads matter?  M2 / M3</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Patch or ablate updates; freeze selected heads</a:t>
                      </a:r>
                    </a:p>
                  </a:txBody>
                  <a:tcPr marL="91440" marR="91440" marT="45720" marB="45720" anchor="ctr">
                    <a:solidFill>
                      <a:srgbClr val="FFFFFF"/>
                    </a:solidFill>
                  </a:tcPr>
                </a:tc>
              </a:tr>
              <a:tr h="601980">
                <a:tc>
                  <a:txBody>
                    <a:bodyPr lIns="114300" tIns="85725" rIns="95250" bIns="85725"/>
                    <a:lstStyle/>
                    <a:p>
                      <a:r>
                        <a:rPr sz="1800" b="0">
                          <a:solidFill>
                            <a:srgbClr val="17243A"/>
                          </a:solidFill>
                          <a:latin typeface="Liberation Sans"/>
                          <a:ea typeface="Liberation Sans"/>
                          <a:cs typeface="Liberation Sans"/>
                        </a:rPr>
                        <a:t>When are labels and answer words readable?  M4 / M5 / M7</a:t>
                      </a:r>
                    </a:p>
                  </a:txBody>
                  <a:tcPr marL="91440" marR="91440" marT="45720" marB="45720" anchor="ctr">
                    <a:solidFill>
                      <a:srgbClr val="E9EEF6"/>
                    </a:solidFill>
                  </a:tcPr>
                </a:tc>
                <a:tc>
                  <a:txBody>
                    <a:bodyPr lIns="114300" tIns="85725" rIns="95250" bIns="85725"/>
                    <a:lstStyle/>
                    <a:p>
                      <a:r>
                        <a:rPr sz="1800" b="0">
                          <a:solidFill>
                            <a:srgbClr val="17243A"/>
                          </a:solidFill>
                          <a:latin typeface="Liberation Sans"/>
                          <a:ea typeface="Liberation Sans"/>
                          <a:cs typeface="Liberation Sans"/>
                        </a:rPr>
                        <a:t>Project states to the output vocabulary</a:t>
                      </a:r>
                    </a:p>
                  </a:txBody>
                  <a:tcPr marL="91440" marR="91440" marT="45720" marB="45720" anchor="ctr">
                    <a:solidFill>
                      <a:srgbClr val="E9EEF6"/>
                    </a:solidFill>
                  </a:tcPr>
                </a:tc>
              </a:tr>
            </a:tbl>
          </a:graphicData>
        </a:graphic>
      </p:graphicFrame>
      <p:sp>
        <p:nvSpPr>
          <p:cNvPr id="6" name="Patching: cache a correct donor state, replac">
            <a:extLst xmlns:a="http://schemas.openxmlformats.org/drawingml/2006/main">
              <a:ext uri="{FF2B5EF4-FFF2-40B4-BE49-F238E27FC236}">
                <a16:creationId xmlns:a16="http://schemas.microsoft.com/office/drawing/2014/main" id="{B46FC85D-83C4-4299-8BD6-06EFBDA2D22D}"/>
              </a:ext>
            </a:extLst>
          </p:cNvPr>
          <p:cNvSpPr>
            <a:spLocks xmlns:a="http://schemas.openxmlformats.org/drawingml/2006/main" noGrp="1"/>
          </p:cNvSpPr>
          <p:nvPr/>
        </p:nvSpPr>
        <p:spPr>
          <a:xfrm xmlns:a="http://schemas.openxmlformats.org/drawingml/2006/main">
            <a:off x="647700" y="46863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243A"/>
                </a:solidFill>
                <a:latin typeface="Liberation Sans"/>
                <a:ea typeface="Liberation Sans"/>
                <a:cs typeface="Liberation Sans"/>
              </a:defRPr>
            </a:pPr>
            <a:r>
              <a:rPr sz="1950" b="1">
                <a:solidFill>
                  <a:srgbClr val="17243A"/>
                </a:solidFill>
                <a:latin typeface="Liberation Sans"/>
                <a:ea typeface="Liberation Sans"/>
                <a:cs typeface="Liberation Sans"/>
              </a:rPr>
              <a:t>Patching: cache a correct donor state, replace the recipient state, rescore</a:t>
            </a:r>
          </a:p>
        </p:txBody>
      </p:sp>
      <p:sp>
        <p:nvSpPr>
          <p:cNvPr id="7" name="Recovery = (patched − recipient) / (donor − r">
            <a:extLst xmlns:a="http://schemas.openxmlformats.org/drawingml/2006/main">
              <a:ext uri="{FF2B5EF4-FFF2-40B4-BE49-F238E27FC236}">
                <a16:creationId xmlns:a16="http://schemas.microsoft.com/office/drawing/2014/main" id="{F2C7B52E-60FD-4A83-99C4-064D8257CAB5}"/>
              </a:ext>
            </a:extLst>
          </p:cNvPr>
          <p:cNvSpPr>
            <a:spLocks xmlns:a="http://schemas.openxmlformats.org/drawingml/2006/main" noGrp="1"/>
          </p:cNvSpPr>
          <p:nvPr/>
        </p:nvSpPr>
        <p:spPr>
          <a:xfrm xmlns:a="http://schemas.openxmlformats.org/drawingml/2006/main">
            <a:off x="647700" y="53435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967D2"/>
                </a:solidFill>
                <a:latin typeface="Liberation Sans"/>
                <a:ea typeface="Liberation Sans"/>
                <a:cs typeface="Liberation Sans"/>
              </a:defRPr>
            </a:pPr>
            <a:r>
              <a:rPr sz="2100" b="1">
                <a:solidFill>
                  <a:srgbClr val="1967D2"/>
                </a:solidFill>
                <a:latin typeface="Liberation Sans"/>
                <a:ea typeface="Liberation Sans"/>
                <a:cs typeface="Liberation Sans"/>
              </a:rPr>
              <a:t>Recovery = (patched − recipient) / (donor − recipient)</a:t>
            </a:r>
          </a:p>
        </p:txBody>
      </p:sp>
      <p:sp>
        <p:nvSpPr>
          <p:cNvPr id="8" name="0: no transfer     1: full donor transfer    ">
            <a:extLst xmlns:a="http://schemas.openxmlformats.org/drawingml/2006/main">
              <a:ext uri="{FF2B5EF4-FFF2-40B4-BE49-F238E27FC236}">
                <a16:creationId xmlns:a16="http://schemas.microsoft.com/office/drawing/2014/main" id="{96CCACD9-3348-4B92-BA32-DDBFD3CD0F7B}"/>
              </a:ext>
            </a:extLst>
          </p:cNvPr>
          <p:cNvSpPr>
            <a:spLocks xmlns:a="http://schemas.openxmlformats.org/drawingml/2006/main" noGrp="1"/>
          </p:cNvSpPr>
          <p:nvPr/>
        </p:nvSpPr>
        <p:spPr>
          <a:xfrm xmlns:a="http://schemas.openxmlformats.org/drawingml/2006/main">
            <a:off x="647700" y="59245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C667A"/>
                </a:solidFill>
                <a:latin typeface="Liberation Sans"/>
                <a:ea typeface="Liberation Sans"/>
                <a:cs typeface="Liberation Sans"/>
              </a:defRPr>
            </a:pPr>
            <a:r>
              <a:rPr sz="1725" b="0">
                <a:solidFill>
                  <a:srgbClr val="5C667A"/>
                </a:solidFill>
                <a:latin typeface="Liberation Sans"/>
                <a:ea typeface="Liberation Sans"/>
                <a:cs typeface="Liberation Sans"/>
              </a:rPr>
              <a:t>0: no transfer     1: full donor transfer     Values may be negative or exceed 1</a:t>
            </a:r>
          </a:p>
        </p:txBody>
      </p:sp>
    </p:spTree>
    <p:extLst>
      <p:ext uri="{BB962C8B-B14F-4D97-AF65-F5344CB8AC3E}">
        <p14:creationId xmlns:p14="http://schemas.microsoft.com/office/powerpoint/2010/main" val="2066949604"/>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behavioral controls establish image depen">
            <a:extLst xmlns:a="http://schemas.openxmlformats.org/drawingml/2006/main">
              <a:ext uri="{FF2B5EF4-FFF2-40B4-BE49-F238E27FC236}">
                <a16:creationId xmlns:a16="http://schemas.microsoft.com/office/drawing/2014/main" id="{C74D9721-35DA-425E-A4A8-010691EDF3F4}"/>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The behavioral controls establish image dependence</a:t>
            </a:r>
          </a:p>
        </p:txBody>
      </p:sp>
      <p:sp>
        <p:nvSpPr>
          <p:cNvPr id="2" name="">
            <a:extLst xmlns:a="http://schemas.openxmlformats.org/drawingml/2006/main">
              <a:ext uri="{FF2B5EF4-FFF2-40B4-BE49-F238E27FC236}">
                <a16:creationId xmlns:a16="http://schemas.microsoft.com/office/drawing/2014/main" id="{322EF15F-4DE2-4668-9169-EF91B80EBBD2}"/>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Qwen2.5-VL-7B / 256 behavior items">
            <a:extLst xmlns:a="http://schemas.openxmlformats.org/drawingml/2006/main">
              <a:ext uri="{FF2B5EF4-FFF2-40B4-BE49-F238E27FC236}">
                <a16:creationId xmlns:a16="http://schemas.microsoft.com/office/drawing/2014/main" id="{1E102E56-723B-433C-ADD0-7FDE6253551C}"/>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Qwen2.5-VL-7B / 256 behavior items</a:t>
            </a:r>
          </a:p>
        </p:txBody>
      </p:sp>
      <p:sp>
        <p:nvSpPr>
          <p:cNvPr id="4" name="11">
            <a:extLst xmlns:a="http://schemas.openxmlformats.org/drawingml/2006/main">
              <a:ext uri="{FF2B5EF4-FFF2-40B4-BE49-F238E27FC236}">
                <a16:creationId xmlns:a16="http://schemas.microsoft.com/office/drawing/2014/main" id="{64E5EAD2-47B0-4EA7-B57B-C6463C851570}"/>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11</a:t>
            </a:r>
          </a:p>
        </p:txBody>
      </p:sp>
      <p:graphicFrame>
        <p:nvGraphicFramePr>
          <p:cNvPr id="15" name="Chart"/>
          <p:cNvGraphicFramePr/>
          <p:nvPr/>
        </p:nvGraphicFramePr>
        <p:xfrm>
          <a:off xmlns:a="http://schemas.openxmlformats.org/drawingml/2006/main" x="628650" y="1438275"/>
          <a:ext xmlns:a="http://schemas.openxmlformats.org/drawingml/2006/main" cx="7219950" cy="4191000"/>
        </p:xfrm>
        <a:graphic xmlns:a="http://schemas.openxmlformats.org/drawingml/2006/main">
          <a:graphicData uri="http://schemas.openxmlformats.org/drawingml/2006/chart">
            <c:chart xmlns:r="http://schemas.openxmlformats.org/officeDocument/2006/relationships" xmlns:c="http://schemas.openxmlformats.org/drawingml/2006/chart" r:id="R418e5cdf443948d4"/>
          </a:graphicData>
        </a:graphic>
      </p:graphicFrame>
      <p:sp>
        <p:nvSpPr>
          <p:cNvPr id="6" name="54.10 pp">
            <a:extLst xmlns:a="http://schemas.openxmlformats.org/drawingml/2006/main">
              <a:ext uri="{FF2B5EF4-FFF2-40B4-BE49-F238E27FC236}">
                <a16:creationId xmlns:a16="http://schemas.microsoft.com/office/drawing/2014/main" id="{C37ED4FE-3AA8-4A1B-8CBE-5CDE456B7ED2}"/>
              </a:ext>
            </a:extLst>
          </p:cNvPr>
          <p:cNvSpPr>
            <a:spLocks xmlns:a="http://schemas.openxmlformats.org/drawingml/2006/main" noGrp="1"/>
          </p:cNvSpPr>
          <p:nvPr/>
        </p:nvSpPr>
        <p:spPr>
          <a:xfrm xmlns:a="http://schemas.openxmlformats.org/drawingml/2006/main">
            <a:off x="8258175" y="16097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75" b="1">
                <a:solidFill>
                  <a:srgbClr val="1967D2"/>
                </a:solidFill>
                <a:latin typeface="Liberation Sans"/>
                <a:ea typeface="Liberation Sans"/>
                <a:cs typeface="Liberation Sans"/>
              </a:defRPr>
            </a:pPr>
            <a:r>
              <a:rPr sz="3975" b="1">
                <a:solidFill>
                  <a:srgbClr val="1967D2"/>
                </a:solidFill>
                <a:latin typeface="Liberation Sans"/>
                <a:ea typeface="Liberation Sans"/>
                <a:cs typeface="Liberation Sans"/>
              </a:rPr>
              <a:t>54.10 pp</a:t>
            </a:r>
          </a:p>
        </p:txBody>
      </p:sp>
      <p:sp>
        <p:nvSpPr>
          <p:cNvPr id="7" name="clean–shuffled gap">
            <a:extLst xmlns:a="http://schemas.openxmlformats.org/drawingml/2006/main">
              <a:ext uri="{FF2B5EF4-FFF2-40B4-BE49-F238E27FC236}">
                <a16:creationId xmlns:a16="http://schemas.microsoft.com/office/drawing/2014/main" id="{8C6E369C-54E5-409F-8FEF-844CBB43DF4B}"/>
              </a:ext>
            </a:extLst>
          </p:cNvPr>
          <p:cNvSpPr>
            <a:spLocks xmlns:a="http://schemas.openxmlformats.org/drawingml/2006/main" noGrp="1"/>
          </p:cNvSpPr>
          <p:nvPr/>
        </p:nvSpPr>
        <p:spPr>
          <a:xfrm xmlns:a="http://schemas.openxmlformats.org/drawingml/2006/main">
            <a:off x="8258175" y="2447925"/>
            <a:ext cx="328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7243A"/>
                </a:solidFill>
                <a:latin typeface="Liberation Sans"/>
                <a:ea typeface="Liberation Sans"/>
                <a:cs typeface="Liberation Sans"/>
              </a:defRPr>
            </a:pPr>
            <a:r>
              <a:rPr sz="2100" b="0">
                <a:solidFill>
                  <a:srgbClr val="17243A"/>
                </a:solidFill>
                <a:latin typeface="Liberation Sans"/>
                <a:ea typeface="Liberation Sans"/>
                <a:cs typeface="Liberation Sans"/>
              </a:rPr>
              <a:t>clean–shuffled gap</a:t>
            </a:r>
          </a:p>
        </p:txBody>
      </p:sp>
      <p:sp>
        <p:nvSpPr>
          <p:cNvPr id="8" name="83.98% generated accuracy&#10;100% format complia">
            <a:extLst xmlns:a="http://schemas.openxmlformats.org/drawingml/2006/main">
              <a:ext uri="{FF2B5EF4-FFF2-40B4-BE49-F238E27FC236}">
                <a16:creationId xmlns:a16="http://schemas.microsoft.com/office/drawing/2014/main" id="{94AA0153-5E84-4C2D-8003-C055471850AD}"/>
              </a:ext>
            </a:extLst>
          </p:cNvPr>
          <p:cNvSpPr>
            <a:spLocks xmlns:a="http://schemas.openxmlformats.org/drawingml/2006/main" noGrp="1"/>
          </p:cNvSpPr>
          <p:nvPr/>
        </p:nvSpPr>
        <p:spPr>
          <a:xfrm xmlns:a="http://schemas.openxmlformats.org/drawingml/2006/main">
            <a:off x="8258175" y="3476625"/>
            <a:ext cx="328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7243A"/>
                </a:solidFill>
                <a:latin typeface="Liberation Sans"/>
                <a:ea typeface="Liberation Sans"/>
                <a:cs typeface="Liberation Sans"/>
              </a:defRPr>
            </a:pPr>
            <a:r>
              <a:rPr sz="1875" b="0">
                <a:solidFill>
                  <a:srgbClr val="17243A"/>
                </a:solidFill>
                <a:latin typeface="Liberation Sans"/>
                <a:ea typeface="Liberation Sans"/>
                <a:cs typeface="Liberation Sans"/>
              </a:rPr>
              <a:t>83.98% generated accuracy</a:t>
            </a:r>
          </a:p>
          <a:p xmlns:a="http://schemas.openxmlformats.org/drawingml/2006/main">
            <a:pPr algn="l">
              <a:defRPr sz="1875" b="0">
                <a:solidFill>
                  <a:srgbClr val="17243A"/>
                </a:solidFill>
                <a:latin typeface="Liberation Sans"/>
                <a:ea typeface="Liberation Sans"/>
                <a:cs typeface="Liberation Sans"/>
              </a:defRPr>
            </a:pPr>
            <a:r>
              <a:rPr sz="1875" b="0">
                <a:solidFill>
                  <a:srgbClr val="17243A"/>
                </a:solidFill>
                <a:latin typeface="Liberation Sans"/>
                <a:ea typeface="Liberation Sans"/>
                <a:cs typeface="Liberation Sans"/>
              </a:rPr>
              <a:t>100% format compliance</a:t>
            </a:r>
          </a:p>
        </p:txBody>
      </p:sp>
      <p:sp>
        <p:nvSpPr>
          <p:cNvPr id="9" name="Weakest family:&#10;logic_or 44.74%">
            <a:extLst xmlns:a="http://schemas.openxmlformats.org/drawingml/2006/main">
              <a:ext uri="{FF2B5EF4-FFF2-40B4-BE49-F238E27FC236}">
                <a16:creationId xmlns:a16="http://schemas.microsoft.com/office/drawing/2014/main" id="{C7DAE204-058D-46B6-86C4-85460E75F268}"/>
              </a:ext>
            </a:extLst>
          </p:cNvPr>
          <p:cNvSpPr>
            <a:spLocks xmlns:a="http://schemas.openxmlformats.org/drawingml/2006/main" noGrp="1"/>
          </p:cNvSpPr>
          <p:nvPr/>
        </p:nvSpPr>
        <p:spPr>
          <a:xfrm xmlns:a="http://schemas.openxmlformats.org/drawingml/2006/main">
            <a:off x="8258175" y="4886325"/>
            <a:ext cx="3286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C667A"/>
                </a:solidFill>
                <a:latin typeface="Liberation Sans"/>
                <a:ea typeface="Liberation Sans"/>
                <a:cs typeface="Liberation Sans"/>
              </a:defRPr>
            </a:pPr>
            <a:r>
              <a:rPr sz="1875" b="0">
                <a:solidFill>
                  <a:srgbClr val="5C667A"/>
                </a:solidFill>
                <a:latin typeface="Liberation Sans"/>
                <a:ea typeface="Liberation Sans"/>
                <a:cs typeface="Liberation Sans"/>
              </a:rPr>
              <a:t>Weakest family:</a:t>
            </a:r>
          </a:p>
          <a:p xmlns:a="http://schemas.openxmlformats.org/drawingml/2006/main">
            <a:pPr algn="l">
              <a:defRPr sz="1875" b="0">
                <a:solidFill>
                  <a:srgbClr val="5C667A"/>
                </a:solidFill>
                <a:latin typeface="Liberation Sans"/>
                <a:ea typeface="Liberation Sans"/>
                <a:cs typeface="Liberation Sans"/>
              </a:defRPr>
            </a:pPr>
            <a:r>
              <a:rPr sz="1875" b="0">
                <a:solidFill>
                  <a:srgbClr val="5C667A"/>
                </a:solidFill>
                <a:latin typeface="Liberation Sans"/>
                <a:ea typeface="Liberation Sans"/>
                <a:cs typeface="Liberation Sans"/>
              </a:rPr>
              <a:t>logic_or 44.74%</a:t>
            </a:r>
          </a:p>
        </p:txBody>
      </p:sp>
      <p:sp>
        <p:nvSpPr>
          <p:cNvPr id="10" name="These controls support image dependence on th">
            <a:extLst xmlns:a="http://schemas.openxmlformats.org/drawingml/2006/main">
              <a:ext uri="{FF2B5EF4-FFF2-40B4-BE49-F238E27FC236}">
                <a16:creationId xmlns:a16="http://schemas.microsoft.com/office/drawing/2014/main" id="{655FB92A-D5E1-4A42-AB2D-8A1380B42733}"/>
              </a:ext>
            </a:extLst>
          </p:cNvPr>
          <p:cNvSpPr>
            <a:spLocks xmlns:a="http://schemas.openxmlformats.org/drawingml/2006/main" noGrp="1"/>
          </p:cNvSpPr>
          <p:nvPr/>
        </p:nvSpPr>
        <p:spPr>
          <a:xfrm xmlns:a="http://schemas.openxmlformats.org/drawingml/2006/main">
            <a:off x="647700" y="58864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43A"/>
                </a:solidFill>
                <a:latin typeface="Liberation Sans"/>
                <a:ea typeface="Liberation Sans"/>
                <a:cs typeface="Liberation Sans"/>
              </a:defRPr>
            </a:pPr>
            <a:r>
              <a:rPr sz="2025" b="0">
                <a:solidFill>
                  <a:srgbClr val="17243A"/>
                </a:solidFill>
                <a:latin typeface="Liberation Sans"/>
                <a:ea typeface="Liberation Sans"/>
                <a:cs typeface="Liberation Sans"/>
              </a:rPr>
              <a:t>These controls support image dependence on this task</a:t>
            </a:r>
          </a:p>
        </p:txBody>
      </p:sp>
    </p:spTree>
    <p:extLst>
      <p:ext uri="{BB962C8B-B14F-4D97-AF65-F5344CB8AC3E}">
        <p14:creationId xmlns:p14="http://schemas.microsoft.com/office/powerpoint/2010/main" val="831981636"/>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final-token state becomes transferable la">
            <a:extLst xmlns:a="http://schemas.openxmlformats.org/drawingml/2006/main">
              <a:ext uri="{FF2B5EF4-FFF2-40B4-BE49-F238E27FC236}">
                <a16:creationId xmlns:a16="http://schemas.microsoft.com/office/drawing/2014/main" id="{221F65AD-9777-41F5-BF49-D36529B97946}"/>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The final-token state becomes transferable late</a:t>
            </a:r>
          </a:p>
        </p:txBody>
      </p:sp>
      <p:sp>
        <p:nvSpPr>
          <p:cNvPr id="2" name="">
            <a:extLst xmlns:a="http://schemas.openxmlformats.org/drawingml/2006/main">
              <a:ext uri="{FF2B5EF4-FFF2-40B4-BE49-F238E27FC236}">
                <a16:creationId xmlns:a16="http://schemas.microsoft.com/office/drawing/2014/main" id="{220C3B36-BE77-4253-B1E7-2BE78EBF753B}"/>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M1 / Qwen full confirmation; InternVL prelimi">
            <a:extLst xmlns:a="http://schemas.openxmlformats.org/drawingml/2006/main">
              <a:ext uri="{FF2B5EF4-FFF2-40B4-BE49-F238E27FC236}">
                <a16:creationId xmlns:a16="http://schemas.microsoft.com/office/drawing/2014/main" id="{5690DC70-53A9-4A11-AFB5-0A78E547F04A}"/>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M1 / Qwen full confirmation; InternVL preliminary confirmation</a:t>
            </a:r>
          </a:p>
        </p:txBody>
      </p:sp>
      <p:sp>
        <p:nvSpPr>
          <p:cNvPr id="4" name="12">
            <a:extLst xmlns:a="http://schemas.openxmlformats.org/drawingml/2006/main">
              <a:ext uri="{FF2B5EF4-FFF2-40B4-BE49-F238E27FC236}">
                <a16:creationId xmlns:a16="http://schemas.microsoft.com/office/drawing/2014/main" id="{EAD0E6C6-D9EB-4075-865A-AA6EF49AB0A5}"/>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12</a:t>
            </a:r>
          </a:p>
        </p:txBody>
      </p:sp>
      <p:sp>
        <p:nvSpPr>
          <p:cNvPr id="5" name="Qwen7B · 64 pairs">
            <a:extLst xmlns:a="http://schemas.openxmlformats.org/drawingml/2006/main">
              <a:ext uri="{FF2B5EF4-FFF2-40B4-BE49-F238E27FC236}">
                <a16:creationId xmlns:a16="http://schemas.microsoft.com/office/drawing/2014/main" id="{B5503031-BAAD-440C-BB2C-0CBE972D59FB}"/>
              </a:ext>
            </a:extLst>
          </p:cNvPr>
          <p:cNvSpPr>
            <a:spLocks xmlns:a="http://schemas.openxmlformats.org/drawingml/2006/main" noGrp="1"/>
          </p:cNvSpPr>
          <p:nvPr/>
        </p:nvSpPr>
        <p:spPr>
          <a:xfrm xmlns:a="http://schemas.openxmlformats.org/drawingml/2006/main">
            <a:off x="704850" y="1276350"/>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967D2"/>
                </a:solidFill>
                <a:latin typeface="Liberation Sans"/>
                <a:ea typeface="Liberation Sans"/>
                <a:cs typeface="Liberation Sans"/>
              </a:defRPr>
            </a:pPr>
            <a:r>
              <a:rPr sz="1950" b="1">
                <a:solidFill>
                  <a:srgbClr val="1967D2"/>
                </a:solidFill>
                <a:latin typeface="Liberation Sans"/>
                <a:ea typeface="Liberation Sans"/>
                <a:cs typeface="Liberation Sans"/>
              </a:rPr>
              <a:t>Qwen7B · 64 pairs</a:t>
            </a:r>
          </a:p>
        </p:txBody>
      </p:sp>
      <p:graphicFrame>
        <p:nvGraphicFramePr>
          <p:cNvPr id="17" name="Chart"/>
          <p:cNvGraphicFramePr/>
          <p:nvPr/>
        </p:nvGraphicFramePr>
        <p:xfrm>
          <a:off xmlns:a="http://schemas.openxmlformats.org/drawingml/2006/main" x="628650" y="1828800"/>
          <a:ext xmlns:a="http://schemas.openxmlformats.org/drawingml/2006/main" cx="5238750" cy="3400425"/>
        </p:xfrm>
        <a:graphic xmlns:a="http://schemas.openxmlformats.org/drawingml/2006/main">
          <a:graphicData uri="http://schemas.openxmlformats.org/drawingml/2006/chart">
            <c:chart xmlns:r="http://schemas.openxmlformats.org/officeDocument/2006/relationships" xmlns:c="http://schemas.openxmlformats.org/drawingml/2006/chart" r:id="R26b82795341841d0"/>
          </a:graphicData>
        </a:graphic>
      </p:graphicFrame>
      <p:sp>
        <p:nvSpPr>
          <p:cNvPr id="7" name="InternVL8B · 32 pairs, preliminary">
            <a:extLst xmlns:a="http://schemas.openxmlformats.org/drawingml/2006/main">
              <a:ext uri="{FF2B5EF4-FFF2-40B4-BE49-F238E27FC236}">
                <a16:creationId xmlns:a16="http://schemas.microsoft.com/office/drawing/2014/main" id="{C2657E79-E636-4C1D-A380-D434F84AB857}"/>
              </a:ext>
            </a:extLst>
          </p:cNvPr>
          <p:cNvSpPr>
            <a:spLocks xmlns:a="http://schemas.openxmlformats.org/drawingml/2006/main" noGrp="1"/>
          </p:cNvSpPr>
          <p:nvPr/>
        </p:nvSpPr>
        <p:spPr>
          <a:xfrm xmlns:a="http://schemas.openxmlformats.org/drawingml/2006/main">
            <a:off x="6410325" y="1276350"/>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E76F51"/>
                </a:solidFill>
                <a:latin typeface="Liberation Sans"/>
                <a:ea typeface="Liberation Sans"/>
                <a:cs typeface="Liberation Sans"/>
              </a:defRPr>
            </a:pPr>
            <a:r>
              <a:rPr sz="1950" b="1">
                <a:solidFill>
                  <a:srgbClr val="E76F51"/>
                </a:solidFill>
                <a:latin typeface="Liberation Sans"/>
                <a:ea typeface="Liberation Sans"/>
                <a:cs typeface="Liberation Sans"/>
              </a:rPr>
              <a:t>InternVL8B · 32 pairs, preliminary</a:t>
            </a:r>
          </a:p>
        </p:txBody>
      </p:sp>
      <p:graphicFrame>
        <p:nvGraphicFramePr>
          <p:cNvPr id="19" name="Chart"/>
          <p:cNvGraphicFramePr/>
          <p:nvPr/>
        </p:nvGraphicFramePr>
        <p:xfrm>
          <a:off xmlns:a="http://schemas.openxmlformats.org/drawingml/2006/main" x="6334125" y="1828800"/>
          <a:ext xmlns:a="http://schemas.openxmlformats.org/drawingml/2006/main" cx="5238750" cy="3400425"/>
        </p:xfrm>
        <a:graphic xmlns:a="http://schemas.openxmlformats.org/drawingml/2006/main">
          <a:graphicData uri="http://schemas.openxmlformats.org/drawingml/2006/chart">
            <c:chart xmlns:r="http://schemas.openxmlformats.org/officeDocument/2006/relationships" xmlns:c="http://schemas.openxmlformats.org/drawingml/2006/chart" r:id="R78c85e8073784751"/>
          </a:graphicData>
        </a:graphic>
      </p:graphicFrame>
      <p:sp>
        <p:nvSpPr>
          <p:cNvPr id="9" name="Threshold: position L24; content L25">
            <a:extLst xmlns:a="http://schemas.openxmlformats.org/drawingml/2006/main">
              <a:ext uri="{FF2B5EF4-FFF2-40B4-BE49-F238E27FC236}">
                <a16:creationId xmlns:a16="http://schemas.microsoft.com/office/drawing/2014/main" id="{0F341D18-EE46-4B33-8A04-45A2269A2CB3}"/>
              </a:ext>
            </a:extLst>
          </p:cNvPr>
          <p:cNvSpPr>
            <a:spLocks xmlns:a="http://schemas.openxmlformats.org/drawingml/2006/main" noGrp="1"/>
          </p:cNvSpPr>
          <p:nvPr/>
        </p:nvSpPr>
        <p:spPr>
          <a:xfrm xmlns:a="http://schemas.openxmlformats.org/drawingml/2006/main">
            <a:off x="742950" y="5362575"/>
            <a:ext cx="5162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243A"/>
                </a:solidFill>
                <a:latin typeface="Liberation Sans"/>
                <a:ea typeface="Liberation Sans"/>
                <a:cs typeface="Liberation Sans"/>
              </a:defRPr>
            </a:pPr>
            <a:r>
              <a:rPr sz="1725" b="1">
                <a:solidFill>
                  <a:srgbClr val="17243A"/>
                </a:solidFill>
                <a:latin typeface="Liberation Sans"/>
                <a:ea typeface="Liberation Sans"/>
                <a:cs typeface="Liberation Sans"/>
              </a:rPr>
              <a:t>Threshold: position L24; content L25</a:t>
            </a:r>
          </a:p>
        </p:txBody>
      </p:sp>
      <p:sp>
        <p:nvSpPr>
          <p:cNvPr id="10" name="Threshold: position L29; content L31">
            <a:extLst xmlns:a="http://schemas.openxmlformats.org/drawingml/2006/main">
              <a:ext uri="{FF2B5EF4-FFF2-40B4-BE49-F238E27FC236}">
                <a16:creationId xmlns:a16="http://schemas.microsoft.com/office/drawing/2014/main" id="{CD1DF28E-A561-4473-B208-C992A1513BD0}"/>
              </a:ext>
            </a:extLst>
          </p:cNvPr>
          <p:cNvSpPr>
            <a:spLocks xmlns:a="http://schemas.openxmlformats.org/drawingml/2006/main" noGrp="1"/>
          </p:cNvSpPr>
          <p:nvPr/>
        </p:nvSpPr>
        <p:spPr>
          <a:xfrm xmlns:a="http://schemas.openxmlformats.org/drawingml/2006/main">
            <a:off x="6448425" y="5362575"/>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243A"/>
                </a:solidFill>
                <a:latin typeface="Liberation Sans"/>
                <a:ea typeface="Liberation Sans"/>
                <a:cs typeface="Liberation Sans"/>
              </a:defRPr>
            </a:pPr>
            <a:r>
              <a:rPr sz="1725" b="1">
                <a:solidFill>
                  <a:srgbClr val="17243A"/>
                </a:solidFill>
                <a:latin typeface="Liberation Sans"/>
                <a:ea typeface="Liberation Sans"/>
                <a:cs typeface="Liberation Sans"/>
              </a:rPr>
              <a:t>Threshold: position L29; content L31</a:t>
            </a:r>
          </a:p>
        </p:txBody>
      </p:sp>
      <p:sp>
        <p:nvSpPr>
          <p:cNvPr id="11" name="Random donors also transfer strongly, so M1 a">
            <a:extLst xmlns:a="http://schemas.openxmlformats.org/drawingml/2006/main">
              <a:ext uri="{FF2B5EF4-FFF2-40B4-BE49-F238E27FC236}">
                <a16:creationId xmlns:a16="http://schemas.microsoft.com/office/drawing/2014/main" id="{E918DB31-A5BB-4036-86DD-06A2C26E5D3C}"/>
              </a:ext>
            </a:extLst>
          </p:cNvPr>
          <p:cNvSpPr>
            <a:spLocks xmlns:a="http://schemas.openxmlformats.org/drawingml/2006/main" noGrp="1"/>
          </p:cNvSpPr>
          <p:nvPr/>
        </p:nvSpPr>
        <p:spPr>
          <a:xfrm xmlns:a="http://schemas.openxmlformats.org/drawingml/2006/main">
            <a:off x="647700" y="5857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C667A"/>
                </a:solidFill>
                <a:latin typeface="Liberation Sans"/>
                <a:ea typeface="Liberation Sans"/>
                <a:cs typeface="Liberation Sans"/>
              </a:defRPr>
            </a:pPr>
            <a:r>
              <a:rPr sz="1800" b="0">
                <a:solidFill>
                  <a:srgbClr val="5C667A"/>
                </a:solidFill>
                <a:latin typeface="Liberation Sans"/>
                <a:ea typeface="Liberation Sans"/>
                <a:cs typeface="Liberation Sans"/>
              </a:rPr>
              <a:t>Random donors also transfer strongly, so M1 alone does not isolate binding</a:t>
            </a:r>
          </a:p>
        </p:txBody>
      </p:sp>
    </p:spTree>
    <p:extLst>
      <p:ext uri="{BB962C8B-B14F-4D97-AF65-F5344CB8AC3E}">
        <p14:creationId xmlns:p14="http://schemas.microsoft.com/office/powerpoint/2010/main" val="2144405865"/>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Image tokens carry content early; options car">
            <a:extLst xmlns:a="http://schemas.openxmlformats.org/drawingml/2006/main">
              <a:ext uri="{FF2B5EF4-FFF2-40B4-BE49-F238E27FC236}">
                <a16:creationId xmlns:a16="http://schemas.microsoft.com/office/drawing/2014/main" id="{F011A031-40CE-4148-BAAE-DC57E6F7D9F2}"/>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Image tokens carry content early; options carry it later</a:t>
            </a:r>
          </a:p>
        </p:txBody>
      </p:sp>
      <p:sp>
        <p:nvSpPr>
          <p:cNvPr id="2" name="">
            <a:extLst xmlns:a="http://schemas.openxmlformats.org/drawingml/2006/main">
              <a:ext uri="{FF2B5EF4-FFF2-40B4-BE49-F238E27FC236}">
                <a16:creationId xmlns:a16="http://schemas.microsoft.com/office/drawing/2014/main" id="{C509AAF9-7386-4845-B2A7-B05D28DAD055}"/>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M6 content contrasts / Qwen full confirmation">
            <a:extLst xmlns:a="http://schemas.openxmlformats.org/drawingml/2006/main">
              <a:ext uri="{FF2B5EF4-FFF2-40B4-BE49-F238E27FC236}">
                <a16:creationId xmlns:a16="http://schemas.microsoft.com/office/drawing/2014/main" id="{AE3C7589-1C1E-4E9D-BDBE-689422FDD1DC}"/>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M6 content contrasts / Qwen full confirmation; InternVL preliminary confirmation</a:t>
            </a:r>
          </a:p>
        </p:txBody>
      </p:sp>
      <p:sp>
        <p:nvSpPr>
          <p:cNvPr id="4" name="13">
            <a:extLst xmlns:a="http://schemas.openxmlformats.org/drawingml/2006/main">
              <a:ext uri="{FF2B5EF4-FFF2-40B4-BE49-F238E27FC236}">
                <a16:creationId xmlns:a16="http://schemas.microsoft.com/office/drawing/2014/main" id="{A8C58DC3-6F48-4C1C-8B7A-A101219338B7}"/>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13</a:t>
            </a:r>
          </a:p>
        </p:txBody>
      </p:sp>
      <p:graphicFrame>
        <p:nvGraphicFramePr>
          <p:cNvPr id="16" name="Chart"/>
          <p:cNvGraphicFramePr/>
          <p:nvPr/>
        </p:nvGraphicFramePr>
        <p:xfrm>
          <a:off xmlns:a="http://schemas.openxmlformats.org/drawingml/2006/main" x="628650" y="1847850"/>
          <a:ext xmlns:a="http://schemas.openxmlformats.org/drawingml/2006/main" cx="5238750" cy="3343275"/>
        </p:xfrm>
        <a:graphic xmlns:a="http://schemas.openxmlformats.org/drawingml/2006/main">
          <a:graphicData uri="http://schemas.openxmlformats.org/drawingml/2006/chart">
            <c:chart xmlns:r="http://schemas.openxmlformats.org/officeDocument/2006/relationships" xmlns:c="http://schemas.openxmlformats.org/drawingml/2006/chart" r:id="R565fef8da4034d65"/>
          </a:graphicData>
        </a:graphic>
      </p:graphicFrame>
      <p:graphicFrame>
        <p:nvGraphicFramePr>
          <p:cNvPr id="17" name="Chart"/>
          <p:cNvGraphicFramePr/>
          <p:nvPr/>
        </p:nvGraphicFramePr>
        <p:xfrm>
          <a:off xmlns:a="http://schemas.openxmlformats.org/drawingml/2006/main" x="6334125" y="1847850"/>
          <a:ext xmlns:a="http://schemas.openxmlformats.org/drawingml/2006/main" cx="5238750" cy="3343275"/>
        </p:xfrm>
        <a:graphic xmlns:a="http://schemas.openxmlformats.org/drawingml/2006/main">
          <a:graphicData uri="http://schemas.openxmlformats.org/drawingml/2006/chart">
            <c:chart xmlns:r="http://schemas.openxmlformats.org/officeDocument/2006/relationships" xmlns:c="http://schemas.openxmlformats.org/drawingml/2006/chart" r:id="R9898cc624a844498"/>
          </a:graphicData>
        </a:graphic>
      </p:graphicFrame>
      <p:sp>
        <p:nvSpPr>
          <p:cNvPr id="7" name="Qwen7B · 64 pairs">
            <a:extLst xmlns:a="http://schemas.openxmlformats.org/drawingml/2006/main">
              <a:ext uri="{FF2B5EF4-FFF2-40B4-BE49-F238E27FC236}">
                <a16:creationId xmlns:a16="http://schemas.microsoft.com/office/drawing/2014/main" id="{F64006BF-59AB-412E-BA9C-1F7C534D02BD}"/>
              </a:ext>
            </a:extLst>
          </p:cNvPr>
          <p:cNvSpPr>
            <a:spLocks xmlns:a="http://schemas.openxmlformats.org/drawingml/2006/main" noGrp="1"/>
          </p:cNvSpPr>
          <p:nvPr/>
        </p:nvSpPr>
        <p:spPr>
          <a:xfrm xmlns:a="http://schemas.openxmlformats.org/drawingml/2006/main">
            <a:off x="704850" y="12763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967D2"/>
                </a:solidFill>
                <a:latin typeface="Liberation Sans"/>
                <a:ea typeface="Liberation Sans"/>
                <a:cs typeface="Liberation Sans"/>
              </a:defRPr>
            </a:pPr>
            <a:r>
              <a:rPr sz="1950" b="1">
                <a:solidFill>
                  <a:srgbClr val="1967D2"/>
                </a:solidFill>
                <a:latin typeface="Liberation Sans"/>
                <a:ea typeface="Liberation Sans"/>
                <a:cs typeface="Liberation Sans"/>
              </a:rPr>
              <a:t>Qwen7B · 64 pairs</a:t>
            </a:r>
          </a:p>
        </p:txBody>
      </p:sp>
      <p:sp>
        <p:nvSpPr>
          <p:cNvPr id="8" name="InternVL8B · 32 pairs, preliminary">
            <a:extLst xmlns:a="http://schemas.openxmlformats.org/drawingml/2006/main">
              <a:ext uri="{FF2B5EF4-FFF2-40B4-BE49-F238E27FC236}">
                <a16:creationId xmlns:a16="http://schemas.microsoft.com/office/drawing/2014/main" id="{B77EB77B-03D0-4851-A80E-980EE37102C1}"/>
              </a:ext>
            </a:extLst>
          </p:cNvPr>
          <p:cNvSpPr>
            <a:spLocks xmlns:a="http://schemas.openxmlformats.org/drawingml/2006/main" noGrp="1"/>
          </p:cNvSpPr>
          <p:nvPr/>
        </p:nvSpPr>
        <p:spPr>
          <a:xfrm xmlns:a="http://schemas.openxmlformats.org/drawingml/2006/main">
            <a:off x="6410325" y="12763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E76F51"/>
                </a:solidFill>
                <a:latin typeface="Liberation Sans"/>
                <a:ea typeface="Liberation Sans"/>
                <a:cs typeface="Liberation Sans"/>
              </a:defRPr>
            </a:pPr>
            <a:r>
              <a:rPr sz="1950" b="1">
                <a:solidFill>
                  <a:srgbClr val="E76F51"/>
                </a:solidFill>
                <a:latin typeface="Liberation Sans"/>
                <a:ea typeface="Liberation Sans"/>
                <a:cs typeface="Liberation Sans"/>
              </a:rPr>
              <a:t>InternVL8B · 32 pairs, preliminary</a:t>
            </a:r>
          </a:p>
        </p:txBody>
      </p:sp>
      <p:sp>
        <p:nvSpPr>
          <p:cNvPr id="9" name="Option-content peak: L18, recovery 0.424">
            <a:extLst xmlns:a="http://schemas.openxmlformats.org/drawingml/2006/main">
              <a:ext uri="{FF2B5EF4-FFF2-40B4-BE49-F238E27FC236}">
                <a16:creationId xmlns:a16="http://schemas.microsoft.com/office/drawing/2014/main" id="{768AE395-1BAC-48E9-BBD2-759B7458DD93}"/>
              </a:ext>
            </a:extLst>
          </p:cNvPr>
          <p:cNvSpPr>
            <a:spLocks xmlns:a="http://schemas.openxmlformats.org/drawingml/2006/main" noGrp="1"/>
          </p:cNvSpPr>
          <p:nvPr/>
        </p:nvSpPr>
        <p:spPr>
          <a:xfrm xmlns:a="http://schemas.openxmlformats.org/drawingml/2006/main">
            <a:off x="733425" y="5362575"/>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243A"/>
                </a:solidFill>
                <a:latin typeface="Liberation Sans"/>
                <a:ea typeface="Liberation Sans"/>
                <a:cs typeface="Liberation Sans"/>
              </a:defRPr>
            </a:pPr>
            <a:r>
              <a:rPr sz="1725" b="1">
                <a:solidFill>
                  <a:srgbClr val="17243A"/>
                </a:solidFill>
                <a:latin typeface="Liberation Sans"/>
                <a:ea typeface="Liberation Sans"/>
                <a:cs typeface="Liberation Sans"/>
              </a:rPr>
              <a:t>Option-content peak: L18, recovery 0.424</a:t>
            </a:r>
          </a:p>
        </p:txBody>
      </p:sp>
      <p:sp>
        <p:nvSpPr>
          <p:cNvPr id="10" name="Option-content peak: L22, recovery 0.289">
            <a:extLst xmlns:a="http://schemas.openxmlformats.org/drawingml/2006/main">
              <a:ext uri="{FF2B5EF4-FFF2-40B4-BE49-F238E27FC236}">
                <a16:creationId xmlns:a16="http://schemas.microsoft.com/office/drawing/2014/main" id="{D90E0663-8270-449E-94CA-C15CCC1C810A}"/>
              </a:ext>
            </a:extLst>
          </p:cNvPr>
          <p:cNvSpPr>
            <a:spLocks xmlns:a="http://schemas.openxmlformats.org/drawingml/2006/main" noGrp="1"/>
          </p:cNvSpPr>
          <p:nvPr/>
        </p:nvSpPr>
        <p:spPr>
          <a:xfrm xmlns:a="http://schemas.openxmlformats.org/drawingml/2006/main">
            <a:off x="6448425" y="5362575"/>
            <a:ext cx="5133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243A"/>
                </a:solidFill>
                <a:latin typeface="Liberation Sans"/>
                <a:ea typeface="Liberation Sans"/>
                <a:cs typeface="Liberation Sans"/>
              </a:defRPr>
            </a:pPr>
            <a:r>
              <a:rPr sz="1725" b="1">
                <a:solidFill>
                  <a:srgbClr val="17243A"/>
                </a:solidFill>
                <a:latin typeface="Liberation Sans"/>
                <a:ea typeface="Liberation Sans"/>
                <a:cs typeface="Liberation Sans"/>
              </a:rPr>
              <a:t>Option-content peak: L22, recovery 0.289</a:t>
            </a:r>
          </a:p>
        </p:txBody>
      </p:sp>
      <p:sp>
        <p:nvSpPr>
          <p:cNvPr id="11" name="Together, M1 and M6 support a staged account ">
            <a:extLst xmlns:a="http://schemas.openxmlformats.org/drawingml/2006/main">
              <a:ext uri="{FF2B5EF4-FFF2-40B4-BE49-F238E27FC236}">
                <a16:creationId xmlns:a16="http://schemas.microsoft.com/office/drawing/2014/main" id="{F4568829-EB86-4568-99BC-445B84BE661F}"/>
              </a:ext>
            </a:extLst>
          </p:cNvPr>
          <p:cNvSpPr>
            <a:spLocks xmlns:a="http://schemas.openxmlformats.org/drawingml/2006/main" noGrp="1"/>
          </p:cNvSpPr>
          <p:nvPr/>
        </p:nvSpPr>
        <p:spPr>
          <a:xfrm xmlns:a="http://schemas.openxmlformats.org/drawingml/2006/main">
            <a:off x="647700" y="59150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967D2"/>
                </a:solidFill>
                <a:latin typeface="Liberation Sans"/>
                <a:ea typeface="Liberation Sans"/>
                <a:cs typeface="Liberation Sans"/>
              </a:defRPr>
            </a:pPr>
            <a:r>
              <a:rPr sz="1875" b="0">
                <a:solidFill>
                  <a:srgbClr val="1967D2"/>
                </a:solidFill>
                <a:latin typeface="Liberation Sans"/>
                <a:ea typeface="Liberation Sans"/>
                <a:cs typeface="Liberation Sans"/>
              </a:rPr>
              <a:t>Together, M1 and M6 support a staged account of transferable information</a:t>
            </a:r>
          </a:p>
        </p:txBody>
      </p:sp>
    </p:spTree>
    <p:extLst>
      <p:ext uri="{BB962C8B-B14F-4D97-AF65-F5344CB8AC3E}">
        <p14:creationId xmlns:p14="http://schemas.microsoft.com/office/powerpoint/2010/main" val="1851063359"/>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Attention supplies the strongest late label-s">
            <a:extLst xmlns:a="http://schemas.openxmlformats.org/drawingml/2006/main">
              <a:ext uri="{FF2B5EF4-FFF2-40B4-BE49-F238E27FC236}">
                <a16:creationId xmlns:a16="http://schemas.microsoft.com/office/drawing/2014/main" id="{20A223FD-E52C-4A51-A77C-8D6B3860A6BD}"/>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Attention supplies the strongest late label-selection effect</a:t>
            </a:r>
          </a:p>
        </p:txBody>
      </p:sp>
      <p:sp>
        <p:nvSpPr>
          <p:cNvPr id="2" name="">
            <a:extLst xmlns:a="http://schemas.openxmlformats.org/drawingml/2006/main">
              <a:ext uri="{FF2B5EF4-FFF2-40B4-BE49-F238E27FC236}">
                <a16:creationId xmlns:a16="http://schemas.microsoft.com/office/drawing/2014/main" id="{49D62725-C619-4353-BAC6-8C2F64B5BAEF}"/>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Component patching / disjoint confirmation">
            <a:extLst xmlns:a="http://schemas.openxmlformats.org/drawingml/2006/main">
              <a:ext uri="{FF2B5EF4-FFF2-40B4-BE49-F238E27FC236}">
                <a16:creationId xmlns:a16="http://schemas.microsoft.com/office/drawing/2014/main" id="{D10BEAB0-CC28-4025-9D57-BD7A54B67EFF}"/>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Component patching / disjoint confirmation</a:t>
            </a:r>
          </a:p>
        </p:txBody>
      </p:sp>
      <p:sp>
        <p:nvSpPr>
          <p:cNvPr id="4" name="14">
            <a:extLst xmlns:a="http://schemas.openxmlformats.org/drawingml/2006/main">
              <a:ext uri="{FF2B5EF4-FFF2-40B4-BE49-F238E27FC236}">
                <a16:creationId xmlns:a16="http://schemas.microsoft.com/office/drawing/2014/main" id="{73529A43-E470-4FB3-AF13-20A7394B37B9}"/>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14</a:t>
            </a:r>
          </a:p>
        </p:txBody>
      </p:sp>
      <p:sp>
        <p:nvSpPr>
          <p:cNvPr id="5" name="Qwen7B · 64 pairs">
            <a:extLst xmlns:a="http://schemas.openxmlformats.org/drawingml/2006/main">
              <a:ext uri="{FF2B5EF4-FFF2-40B4-BE49-F238E27FC236}">
                <a16:creationId xmlns:a16="http://schemas.microsoft.com/office/drawing/2014/main" id="{4EBB8138-BB53-4D1F-80D5-5B6F4A37D915}"/>
              </a:ext>
            </a:extLst>
          </p:cNvPr>
          <p:cNvSpPr>
            <a:spLocks xmlns:a="http://schemas.openxmlformats.org/drawingml/2006/main" noGrp="1"/>
          </p:cNvSpPr>
          <p:nvPr/>
        </p:nvSpPr>
        <p:spPr>
          <a:xfrm xmlns:a="http://schemas.openxmlformats.org/drawingml/2006/main">
            <a:off x="714375" y="12763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967D2"/>
                </a:solidFill>
                <a:latin typeface="Liberation Sans"/>
                <a:ea typeface="Liberation Sans"/>
                <a:cs typeface="Liberation Sans"/>
              </a:defRPr>
            </a:pPr>
            <a:r>
              <a:rPr sz="2025" b="1">
                <a:solidFill>
                  <a:srgbClr val="1967D2"/>
                </a:solidFill>
                <a:latin typeface="Liberation Sans"/>
                <a:ea typeface="Liberation Sans"/>
                <a:cs typeface="Liberation Sans"/>
              </a:rPr>
              <a:t>Qwen7B · 64 pairs</a:t>
            </a:r>
          </a:p>
        </p:txBody>
      </p:sp>
      <p:sp>
        <p:nvSpPr>
          <p:cNvPr id="6" name="InternVL8B · 32 pairs, preliminary">
            <a:extLst xmlns:a="http://schemas.openxmlformats.org/drawingml/2006/main">
              <a:ext uri="{FF2B5EF4-FFF2-40B4-BE49-F238E27FC236}">
                <a16:creationId xmlns:a16="http://schemas.microsoft.com/office/drawing/2014/main" id="{2A4FF834-0D19-4AC7-B922-A8113C18B777}"/>
              </a:ext>
            </a:extLst>
          </p:cNvPr>
          <p:cNvSpPr>
            <a:spLocks xmlns:a="http://schemas.openxmlformats.org/drawingml/2006/main" noGrp="1"/>
          </p:cNvSpPr>
          <p:nvPr/>
        </p:nvSpPr>
        <p:spPr>
          <a:xfrm xmlns:a="http://schemas.openxmlformats.org/drawingml/2006/main">
            <a:off x="6505575" y="1276350"/>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E76F51"/>
                </a:solidFill>
                <a:latin typeface="Liberation Sans"/>
                <a:ea typeface="Liberation Sans"/>
                <a:cs typeface="Liberation Sans"/>
              </a:defRPr>
            </a:pPr>
            <a:r>
              <a:rPr sz="2025" b="1">
                <a:solidFill>
                  <a:srgbClr val="E76F51"/>
                </a:solidFill>
                <a:latin typeface="Liberation Sans"/>
                <a:ea typeface="Liberation Sans"/>
                <a:cs typeface="Liberation Sans"/>
              </a:rPr>
              <a:t>InternVL8B · 32 pairs, preliminary</a:t>
            </a:r>
          </a:p>
        </p:txBody>
      </p:sp>
      <p:graphicFrame>
        <p:nvGraphicFramePr>
          <p:cNvPr id="18" name="Chart"/>
          <p:cNvGraphicFramePr/>
          <p:nvPr/>
        </p:nvGraphicFramePr>
        <p:xfrm>
          <a:off xmlns:a="http://schemas.openxmlformats.org/drawingml/2006/main" x="619125" y="1866900"/>
          <a:ext xmlns:a="http://schemas.openxmlformats.org/drawingml/2006/main" cx="5286375" cy="3371850"/>
        </p:xfrm>
        <a:graphic xmlns:a="http://schemas.openxmlformats.org/drawingml/2006/main">
          <a:graphicData uri="http://schemas.openxmlformats.org/drawingml/2006/chart">
            <c:chart xmlns:r="http://schemas.openxmlformats.org/officeDocument/2006/relationships" xmlns:c="http://schemas.openxmlformats.org/drawingml/2006/chart" r:id="Rf095d260bc784f7b"/>
          </a:graphicData>
        </a:graphic>
      </p:graphicFrame>
      <p:graphicFrame>
        <p:nvGraphicFramePr>
          <p:cNvPr id="19" name="Chart"/>
          <p:cNvGraphicFramePr/>
          <p:nvPr/>
        </p:nvGraphicFramePr>
        <p:xfrm>
          <a:off xmlns:a="http://schemas.openxmlformats.org/drawingml/2006/main" x="6334125" y="1866900"/>
          <a:ext xmlns:a="http://schemas.openxmlformats.org/drawingml/2006/main" cx="5238750" cy="3371850"/>
        </p:xfrm>
        <a:graphic xmlns:a="http://schemas.openxmlformats.org/drawingml/2006/main">
          <a:graphicData uri="http://schemas.openxmlformats.org/drawingml/2006/chart">
            <c:chart xmlns:r="http://schemas.openxmlformats.org/officeDocument/2006/relationships" xmlns:c="http://schemas.openxmlformats.org/drawingml/2006/chart" r:id="R69e284b5b8164726"/>
          </a:graphicData>
        </a:graphic>
      </p:graphicFrame>
      <p:sp>
        <p:nvSpPr>
          <p:cNvPr id="9" name="Peak recovery: 0.439 vs 0.106">
            <a:extLst xmlns:a="http://schemas.openxmlformats.org/drawingml/2006/main">
              <a:ext uri="{FF2B5EF4-FFF2-40B4-BE49-F238E27FC236}">
                <a16:creationId xmlns:a16="http://schemas.microsoft.com/office/drawing/2014/main" id="{34410993-2B2D-4AD4-BE4D-1AE35C6A0943}"/>
              </a:ext>
            </a:extLst>
          </p:cNvPr>
          <p:cNvSpPr>
            <a:spLocks xmlns:a="http://schemas.openxmlformats.org/drawingml/2006/main" noGrp="1"/>
          </p:cNvSpPr>
          <p:nvPr/>
        </p:nvSpPr>
        <p:spPr>
          <a:xfrm xmlns:a="http://schemas.openxmlformats.org/drawingml/2006/main">
            <a:off x="838200" y="5381625"/>
            <a:ext cx="5067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7243A"/>
                </a:solidFill>
                <a:latin typeface="Liberation Sans"/>
                <a:ea typeface="Liberation Sans"/>
                <a:cs typeface="Liberation Sans"/>
              </a:defRPr>
            </a:pPr>
            <a:r>
              <a:rPr sz="1875" b="1">
                <a:solidFill>
                  <a:srgbClr val="17243A"/>
                </a:solidFill>
                <a:latin typeface="Liberation Sans"/>
                <a:ea typeface="Liberation Sans"/>
                <a:cs typeface="Liberation Sans"/>
              </a:rPr>
              <a:t>Peak recovery: 0.439 vs 0.106</a:t>
            </a:r>
          </a:p>
        </p:txBody>
      </p:sp>
      <p:sp>
        <p:nvSpPr>
          <p:cNvPr id="10" name="Peak recovery: 0.350 vs 0.046">
            <a:extLst xmlns:a="http://schemas.openxmlformats.org/drawingml/2006/main">
              <a:ext uri="{FF2B5EF4-FFF2-40B4-BE49-F238E27FC236}">
                <a16:creationId xmlns:a16="http://schemas.microsoft.com/office/drawing/2014/main" id="{757D9A1E-2A30-4718-BEBA-382FC9F0811C}"/>
              </a:ext>
            </a:extLst>
          </p:cNvPr>
          <p:cNvSpPr>
            <a:spLocks xmlns:a="http://schemas.openxmlformats.org/drawingml/2006/main" noGrp="1"/>
          </p:cNvSpPr>
          <p:nvPr/>
        </p:nvSpPr>
        <p:spPr>
          <a:xfrm xmlns:a="http://schemas.openxmlformats.org/drawingml/2006/main">
            <a:off x="6553200" y="5381625"/>
            <a:ext cx="50196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7243A"/>
                </a:solidFill>
                <a:latin typeface="Liberation Sans"/>
                <a:ea typeface="Liberation Sans"/>
                <a:cs typeface="Liberation Sans"/>
              </a:defRPr>
            </a:pPr>
            <a:r>
              <a:rPr sz="1875" b="1">
                <a:solidFill>
                  <a:srgbClr val="17243A"/>
                </a:solidFill>
                <a:latin typeface="Liberation Sans"/>
                <a:ea typeface="Liberation Sans"/>
                <a:cs typeface="Liberation Sans"/>
              </a:rPr>
              <a:t>Peak recovery: 0.350 vs 0.046</a:t>
            </a:r>
          </a:p>
        </p:txBody>
      </p:sp>
      <p:sp>
        <p:nvSpPr>
          <p:cNvPr id="11" name="Layer-24 attention ablation lowers the answer">
            <a:extLst xmlns:a="http://schemas.openxmlformats.org/drawingml/2006/main">
              <a:ext uri="{FF2B5EF4-FFF2-40B4-BE49-F238E27FC236}">
                <a16:creationId xmlns:a16="http://schemas.microsoft.com/office/drawing/2014/main" id="{ECC1990A-4129-4AE4-A250-0ACDC716F927}"/>
              </a:ext>
            </a:extLst>
          </p:cNvPr>
          <p:cNvSpPr>
            <a:spLocks xmlns:a="http://schemas.openxmlformats.org/drawingml/2006/main" noGrp="1"/>
          </p:cNvSpPr>
          <p:nvPr/>
        </p:nvSpPr>
        <p:spPr>
          <a:xfrm xmlns:a="http://schemas.openxmlformats.org/drawingml/2006/main">
            <a:off x="647700" y="59150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C667A"/>
                </a:solidFill>
                <a:latin typeface="Liberation Sans"/>
                <a:ea typeface="Liberation Sans"/>
                <a:cs typeface="Liberation Sans"/>
              </a:defRPr>
            </a:pPr>
            <a:r>
              <a:rPr sz="1800" b="0">
                <a:solidFill>
                  <a:srgbClr val="5C667A"/>
                </a:solidFill>
                <a:latin typeface="Liberation Sans"/>
                <a:ea typeface="Liberation Sans"/>
                <a:cs typeface="Liberation Sans"/>
              </a:rPr>
              <a:t>Layer-24 attention ablation lowers the answer margin by about 5 logits in both models</a:t>
            </a:r>
          </a:p>
        </p:txBody>
      </p:sp>
    </p:spTree>
    <p:extLst>
      <p:ext uri="{BB962C8B-B14F-4D97-AF65-F5344CB8AC3E}">
        <p14:creationId xmlns:p14="http://schemas.microsoft.com/office/powerpoint/2010/main" val="995517781"/>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Four frozen Qwen heads retain a concentrated ">
            <a:extLst xmlns:a="http://schemas.openxmlformats.org/drawingml/2006/main">
              <a:ext uri="{FF2B5EF4-FFF2-40B4-BE49-F238E27FC236}">
                <a16:creationId xmlns:a16="http://schemas.microsoft.com/office/drawing/2014/main" id="{5C23A026-CAB9-4256-A2FE-7CC2ECF0755C}"/>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Four frozen Qwen heads retain a concentrated causal effect</a:t>
            </a:r>
          </a:p>
        </p:txBody>
      </p:sp>
      <p:sp>
        <p:nvSpPr>
          <p:cNvPr id="2" name="">
            <a:extLst xmlns:a="http://schemas.openxmlformats.org/drawingml/2006/main">
              <a:ext uri="{FF2B5EF4-FFF2-40B4-BE49-F238E27FC236}">
                <a16:creationId xmlns:a16="http://schemas.microsoft.com/office/drawing/2014/main" id="{5410DA7F-4372-45FF-9766-8ED67A9C58B0}"/>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Corrected M3 / 64 disjoint confirmation pairs">
            <a:extLst xmlns:a="http://schemas.openxmlformats.org/drawingml/2006/main">
              <a:ext uri="{FF2B5EF4-FFF2-40B4-BE49-F238E27FC236}">
                <a16:creationId xmlns:a16="http://schemas.microsoft.com/office/drawing/2014/main" id="{F8041FA1-5E9D-4CAF-81C3-0D1CA30E8177}"/>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Corrected M3 / 64 disjoint confirmation pairs / ABCD position contrasts</a:t>
            </a:r>
          </a:p>
        </p:txBody>
      </p:sp>
      <p:sp>
        <p:nvSpPr>
          <p:cNvPr id="4" name="15">
            <a:extLst xmlns:a="http://schemas.openxmlformats.org/drawingml/2006/main">
              <a:ext uri="{FF2B5EF4-FFF2-40B4-BE49-F238E27FC236}">
                <a16:creationId xmlns:a16="http://schemas.microsoft.com/office/drawing/2014/main" id="{9917085D-C1BE-41F2-8B45-ADC8FBE7044B}"/>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15</a:t>
            </a:r>
          </a:p>
        </p:txBody>
      </p:sp>
      <p:graphicFrame>
        <p:nvGraphicFramePr>
          <p:cNvPr id="15" name="Chart"/>
          <p:cNvGraphicFramePr/>
          <p:nvPr/>
        </p:nvGraphicFramePr>
        <p:xfrm>
          <a:off xmlns:a="http://schemas.openxmlformats.org/drawingml/2006/main" x="590550" y="1495425"/>
          <a:ext xmlns:a="http://schemas.openxmlformats.org/drawingml/2006/main" cx="7191375" cy="4057650"/>
        </p:xfrm>
        <a:graphic xmlns:a="http://schemas.openxmlformats.org/drawingml/2006/main">
          <a:graphicData uri="http://schemas.openxmlformats.org/drawingml/2006/chart">
            <c:chart xmlns:r="http://schemas.openxmlformats.org/officeDocument/2006/relationships" xmlns:c="http://schemas.openxmlformats.org/drawingml/2006/chart" r:id="R9f0f6c2ef31340d8"/>
          </a:graphicData>
        </a:graphic>
      </p:graphicFrame>
      <p:sp>
        <p:nvSpPr>
          <p:cNvPr id="6" name="K = 4">
            <a:extLst xmlns:a="http://schemas.openxmlformats.org/drawingml/2006/main">
              <a:ext uri="{FF2B5EF4-FFF2-40B4-BE49-F238E27FC236}">
                <a16:creationId xmlns:a16="http://schemas.microsoft.com/office/drawing/2014/main" id="{4515C07D-5516-4AEA-859D-CA9DB6F24A95}"/>
              </a:ext>
            </a:extLst>
          </p:cNvPr>
          <p:cNvSpPr>
            <a:spLocks xmlns:a="http://schemas.openxmlformats.org/drawingml/2006/main" noGrp="1"/>
          </p:cNvSpPr>
          <p:nvPr/>
        </p:nvSpPr>
        <p:spPr>
          <a:xfrm xmlns:a="http://schemas.openxmlformats.org/drawingml/2006/main">
            <a:off x="8286750" y="15525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967D2"/>
                </a:solidFill>
                <a:latin typeface="Liberation Sans"/>
                <a:ea typeface="Liberation Sans"/>
                <a:cs typeface="Liberation Sans"/>
              </a:defRPr>
            </a:pPr>
            <a:r>
              <a:rPr sz="2400" b="1">
                <a:solidFill>
                  <a:srgbClr val="1967D2"/>
                </a:solidFill>
                <a:latin typeface="Liberation Sans"/>
                <a:ea typeface="Liberation Sans"/>
                <a:cs typeface="Liberation Sans"/>
              </a:rPr>
              <a:t>K = 4</a:t>
            </a:r>
          </a:p>
        </p:txBody>
      </p:sp>
      <p:sp>
        <p:nvSpPr>
          <p:cNvPr id="7" name="0.417 recovery">
            <a:extLst xmlns:a="http://schemas.openxmlformats.org/drawingml/2006/main">
              <a:ext uri="{FF2B5EF4-FFF2-40B4-BE49-F238E27FC236}">
                <a16:creationId xmlns:a16="http://schemas.microsoft.com/office/drawing/2014/main" id="{7CC2077C-0886-4BF4-89DC-3022CDC7F03D}"/>
              </a:ext>
            </a:extLst>
          </p:cNvPr>
          <p:cNvSpPr>
            <a:spLocks xmlns:a="http://schemas.openxmlformats.org/drawingml/2006/main" noGrp="1"/>
          </p:cNvSpPr>
          <p:nvPr/>
        </p:nvSpPr>
        <p:spPr>
          <a:xfrm xmlns:a="http://schemas.openxmlformats.org/drawingml/2006/main">
            <a:off x="8286750" y="2209800"/>
            <a:ext cx="3181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17243A"/>
                </a:solidFill>
                <a:latin typeface="Liberation Sans"/>
                <a:ea typeface="Liberation Sans"/>
                <a:cs typeface="Liberation Sans"/>
              </a:defRPr>
            </a:pPr>
            <a:r>
              <a:rPr sz="2625" b="1">
                <a:solidFill>
                  <a:srgbClr val="17243A"/>
                </a:solidFill>
                <a:latin typeface="Liberation Sans"/>
                <a:ea typeface="Liberation Sans"/>
                <a:cs typeface="Liberation Sans"/>
              </a:rPr>
              <a:t>0.417 recovery</a:t>
            </a:r>
          </a:p>
        </p:txBody>
      </p:sp>
      <p:sp>
        <p:nvSpPr>
          <p:cNvPr id="8" name="95% pair CI&#10;[0.397, 0.438]">
            <a:extLst xmlns:a="http://schemas.openxmlformats.org/drawingml/2006/main">
              <a:ext uri="{FF2B5EF4-FFF2-40B4-BE49-F238E27FC236}">
                <a16:creationId xmlns:a16="http://schemas.microsoft.com/office/drawing/2014/main" id="{F6344AA0-12A9-4A9C-9E29-26AC8FA66EFB}"/>
              </a:ext>
            </a:extLst>
          </p:cNvPr>
          <p:cNvSpPr>
            <a:spLocks xmlns:a="http://schemas.openxmlformats.org/drawingml/2006/main" noGrp="1"/>
          </p:cNvSpPr>
          <p:nvPr/>
        </p:nvSpPr>
        <p:spPr>
          <a:xfrm xmlns:a="http://schemas.openxmlformats.org/drawingml/2006/main">
            <a:off x="8286750" y="2971800"/>
            <a:ext cx="31813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43A"/>
                </a:solidFill>
                <a:latin typeface="Liberation Sans"/>
                <a:ea typeface="Liberation Sans"/>
                <a:cs typeface="Liberation Sans"/>
              </a:defRPr>
            </a:pPr>
            <a:r>
              <a:rPr sz="2025" b="0">
                <a:solidFill>
                  <a:srgbClr val="17243A"/>
                </a:solidFill>
                <a:latin typeface="Liberation Sans"/>
                <a:ea typeface="Liberation Sans"/>
                <a:cs typeface="Liberation Sans"/>
              </a:rPr>
              <a:t>95% pair CI</a:t>
            </a:r>
          </a:p>
          <a:p xmlns:a="http://schemas.openxmlformats.org/drawingml/2006/main">
            <a:pPr algn="l">
              <a:defRPr sz="2025" b="0">
                <a:solidFill>
                  <a:srgbClr val="17243A"/>
                </a:solidFill>
                <a:latin typeface="Liberation Sans"/>
                <a:ea typeface="Liberation Sans"/>
                <a:cs typeface="Liberation Sans"/>
              </a:defRPr>
            </a:pPr>
            <a:r>
              <a:rPr sz="2025" b="0">
                <a:solidFill>
                  <a:srgbClr val="17243A"/>
                </a:solidFill>
                <a:latin typeface="Liberation Sans"/>
                <a:ea typeface="Liberation Sans"/>
                <a:cs typeface="Liberation Sans"/>
              </a:rPr>
              <a:t>[0.397, 0.438]</a:t>
            </a:r>
          </a:p>
        </p:txBody>
      </p:sp>
      <p:sp>
        <p:nvSpPr>
          <p:cNvPr id="9" name="Random p95: 0.069&#10;Reference: 0.791">
            <a:extLst xmlns:a="http://schemas.openxmlformats.org/drawingml/2006/main">
              <a:ext uri="{FF2B5EF4-FFF2-40B4-BE49-F238E27FC236}">
                <a16:creationId xmlns:a16="http://schemas.microsoft.com/office/drawing/2014/main" id="{25C1D708-6D6B-488F-9CBE-C161F9CD3293}"/>
              </a:ext>
            </a:extLst>
          </p:cNvPr>
          <p:cNvSpPr>
            <a:spLocks xmlns:a="http://schemas.openxmlformats.org/drawingml/2006/main" noGrp="1"/>
          </p:cNvSpPr>
          <p:nvPr/>
        </p:nvSpPr>
        <p:spPr>
          <a:xfrm xmlns:a="http://schemas.openxmlformats.org/drawingml/2006/main">
            <a:off x="8286750" y="4191000"/>
            <a:ext cx="3181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C667A"/>
                </a:solidFill>
                <a:latin typeface="Liberation Sans"/>
                <a:ea typeface="Liberation Sans"/>
                <a:cs typeface="Liberation Sans"/>
              </a:defRPr>
            </a:pPr>
            <a:r>
              <a:rPr sz="2025" b="0">
                <a:solidFill>
                  <a:srgbClr val="5C667A"/>
                </a:solidFill>
                <a:latin typeface="Liberation Sans"/>
                <a:ea typeface="Liberation Sans"/>
                <a:cs typeface="Liberation Sans"/>
              </a:rPr>
              <a:t>Random p95: 0.069</a:t>
            </a:r>
          </a:p>
          <a:p xmlns:a="http://schemas.openxmlformats.org/drawingml/2006/main">
            <a:pPr algn="l">
              <a:defRPr sz="2025" b="0">
                <a:solidFill>
                  <a:srgbClr val="5C667A"/>
                </a:solidFill>
                <a:latin typeface="Liberation Sans"/>
                <a:ea typeface="Liberation Sans"/>
                <a:cs typeface="Liberation Sans"/>
              </a:defRPr>
            </a:pPr>
            <a:r>
              <a:rPr sz="2025" b="0">
                <a:solidFill>
                  <a:srgbClr val="5C667A"/>
                </a:solidFill>
                <a:latin typeface="Liberation Sans"/>
                <a:ea typeface="Liberation Sans"/>
                <a:cs typeface="Liberation Sans"/>
              </a:rPr>
              <a:t>Reference: 0.791</a:t>
            </a:r>
          </a:p>
        </p:txBody>
      </p:sp>
      <p:sp>
        <p:nvSpPr>
          <p:cNvPr id="10" name="Four heads recover 52.7% of the tested 112-he">
            <a:extLst xmlns:a="http://schemas.openxmlformats.org/drawingml/2006/main">
              <a:ext uri="{FF2B5EF4-FFF2-40B4-BE49-F238E27FC236}">
                <a16:creationId xmlns:a16="http://schemas.microsoft.com/office/drawing/2014/main" id="{2F915B50-715F-41D3-BE2A-E2BE98FE8C33}"/>
              </a:ext>
            </a:extLst>
          </p:cNvPr>
          <p:cNvSpPr>
            <a:spLocks xmlns:a="http://schemas.openxmlformats.org/drawingml/2006/main" noGrp="1"/>
          </p:cNvSpPr>
          <p:nvPr/>
        </p:nvSpPr>
        <p:spPr>
          <a:xfrm xmlns:a="http://schemas.openxmlformats.org/drawingml/2006/main">
            <a:off x="647700" y="5762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7243A"/>
                </a:solidFill>
                <a:latin typeface="Liberation Sans"/>
                <a:ea typeface="Liberation Sans"/>
                <a:cs typeface="Liberation Sans"/>
              </a:defRPr>
            </a:pPr>
            <a:r>
              <a:rPr sz="1875" b="0">
                <a:solidFill>
                  <a:srgbClr val="17243A"/>
                </a:solidFill>
                <a:latin typeface="Liberation Sans"/>
                <a:ea typeface="Liberation Sans"/>
                <a:cs typeface="Liberation Sans"/>
              </a:rPr>
              <a:t>Four heads recover 52.7% of the tested 112-head reference</a:t>
            </a:r>
          </a:p>
        </p:txBody>
      </p:sp>
    </p:spTree>
    <p:extLst>
      <p:ext uri="{BB962C8B-B14F-4D97-AF65-F5344CB8AC3E}">
        <p14:creationId xmlns:p14="http://schemas.microsoft.com/office/powerpoint/2010/main" val="1995266886"/>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nternVL confirms selected-head effects; spar">
            <a:extLst xmlns:a="http://schemas.openxmlformats.org/drawingml/2006/main">
              <a:ext uri="{FF2B5EF4-FFF2-40B4-BE49-F238E27FC236}">
                <a16:creationId xmlns:a16="http://schemas.microsoft.com/office/drawing/2014/main" id="{32C48281-5C66-44BA-A07D-28EE9C7F1825}"/>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InternVL confirms selected-head effects; sparsity is unstable</a:t>
            </a:r>
          </a:p>
        </p:txBody>
      </p:sp>
      <p:sp>
        <p:nvSpPr>
          <p:cNvPr id="2" name="">
            <a:extLst xmlns:a="http://schemas.openxmlformats.org/drawingml/2006/main">
              <a:ext uri="{FF2B5EF4-FFF2-40B4-BE49-F238E27FC236}">
                <a16:creationId xmlns:a16="http://schemas.microsoft.com/office/drawing/2014/main" id="{89D6C62A-FB3D-45E6-B869-B8EC1181E7D0}"/>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Preliminary M3 / 32 disjoint confirmation pai">
            <a:extLst xmlns:a="http://schemas.openxmlformats.org/drawingml/2006/main">
              <a:ext uri="{FF2B5EF4-FFF2-40B4-BE49-F238E27FC236}">
                <a16:creationId xmlns:a16="http://schemas.microsoft.com/office/drawing/2014/main" id="{B3B98198-0303-49CE-AFAC-FD3E71AB22A6}"/>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Preliminary M3 / 32 disjoint confirmation pairs / ABCD position contrasts</a:t>
            </a:r>
          </a:p>
        </p:txBody>
      </p:sp>
      <p:sp>
        <p:nvSpPr>
          <p:cNvPr id="4" name="16">
            <a:extLst xmlns:a="http://schemas.openxmlformats.org/drawingml/2006/main">
              <a:ext uri="{FF2B5EF4-FFF2-40B4-BE49-F238E27FC236}">
                <a16:creationId xmlns:a16="http://schemas.microsoft.com/office/drawing/2014/main" id="{F98E23E1-8501-49B5-98B1-3231AD8EE80F}"/>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16</a:t>
            </a:r>
          </a:p>
        </p:txBody>
      </p:sp>
      <p:graphicFrame>
        <p:nvGraphicFramePr>
          <p:cNvPr id="15" name="Chart"/>
          <p:cNvGraphicFramePr/>
          <p:nvPr/>
        </p:nvGraphicFramePr>
        <p:xfrm>
          <a:off xmlns:a="http://schemas.openxmlformats.org/drawingml/2006/main" x="590550" y="1495425"/>
          <a:ext xmlns:a="http://schemas.openxmlformats.org/drawingml/2006/main" cx="7191375" cy="3990975"/>
        </p:xfrm>
        <a:graphic xmlns:a="http://schemas.openxmlformats.org/drawingml/2006/main">
          <a:graphicData uri="http://schemas.openxmlformats.org/drawingml/2006/chart">
            <c:chart xmlns:r="http://schemas.openxmlformats.org/officeDocument/2006/relationships" xmlns:c="http://schemas.openxmlformats.org/drawingml/2006/chart" r:id="Rd298c4b7ae994fcf"/>
          </a:graphicData>
        </a:graphic>
      </p:graphicFrame>
      <p:sp>
        <p:nvSpPr>
          <p:cNvPr id="6" name="K4 recovery 0.431">
            <a:extLst xmlns:a="http://schemas.openxmlformats.org/drawingml/2006/main">
              <a:ext uri="{FF2B5EF4-FFF2-40B4-BE49-F238E27FC236}">
                <a16:creationId xmlns:a16="http://schemas.microsoft.com/office/drawing/2014/main" id="{D3A0434C-E589-4E58-BB5E-A721AAB3BF24}"/>
              </a:ext>
            </a:extLst>
          </p:cNvPr>
          <p:cNvSpPr>
            <a:spLocks xmlns:a="http://schemas.openxmlformats.org/drawingml/2006/main" noGrp="1"/>
          </p:cNvSpPr>
          <p:nvPr/>
        </p:nvSpPr>
        <p:spPr>
          <a:xfrm xmlns:a="http://schemas.openxmlformats.org/drawingml/2006/main">
            <a:off x="8172450" y="1562100"/>
            <a:ext cx="3371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E76F51"/>
                </a:solidFill>
                <a:latin typeface="Liberation Sans"/>
                <a:ea typeface="Liberation Sans"/>
                <a:cs typeface="Liberation Sans"/>
              </a:defRPr>
            </a:pPr>
            <a:r>
              <a:rPr sz="2250" b="1">
                <a:solidFill>
                  <a:srgbClr val="E76F51"/>
                </a:solidFill>
                <a:latin typeface="Liberation Sans"/>
                <a:ea typeface="Liberation Sans"/>
                <a:cs typeface="Liberation Sans"/>
              </a:rPr>
              <a:t>K4 recovery 0.431</a:t>
            </a:r>
          </a:p>
        </p:txBody>
      </p:sp>
      <p:sp>
        <p:nvSpPr>
          <p:cNvPr id="7" name="95% pair CI&#10;[0.393, 0.469]">
            <a:extLst xmlns:a="http://schemas.openxmlformats.org/drawingml/2006/main">
              <a:ext uri="{FF2B5EF4-FFF2-40B4-BE49-F238E27FC236}">
                <a16:creationId xmlns:a16="http://schemas.microsoft.com/office/drawing/2014/main" id="{ECF7D72D-A251-446B-A73A-0D03C4CF4C9A}"/>
              </a:ext>
            </a:extLst>
          </p:cNvPr>
          <p:cNvSpPr>
            <a:spLocks xmlns:a="http://schemas.openxmlformats.org/drawingml/2006/main" noGrp="1"/>
          </p:cNvSpPr>
          <p:nvPr/>
        </p:nvSpPr>
        <p:spPr>
          <a:xfrm xmlns:a="http://schemas.openxmlformats.org/drawingml/2006/main">
            <a:off x="8172450" y="2400300"/>
            <a:ext cx="3371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43A"/>
                </a:solidFill>
                <a:latin typeface="Liberation Sans"/>
                <a:ea typeface="Liberation Sans"/>
                <a:cs typeface="Liberation Sans"/>
              </a:defRPr>
            </a:pPr>
            <a:r>
              <a:rPr sz="2025" b="0">
                <a:solidFill>
                  <a:srgbClr val="17243A"/>
                </a:solidFill>
                <a:latin typeface="Liberation Sans"/>
                <a:ea typeface="Liberation Sans"/>
                <a:cs typeface="Liberation Sans"/>
              </a:rPr>
              <a:t>95% pair CI</a:t>
            </a:r>
          </a:p>
          <a:p xmlns:a="http://schemas.openxmlformats.org/drawingml/2006/main">
            <a:pPr algn="l">
              <a:defRPr sz="2025" b="0">
                <a:solidFill>
                  <a:srgbClr val="17243A"/>
                </a:solidFill>
                <a:latin typeface="Liberation Sans"/>
                <a:ea typeface="Liberation Sans"/>
                <a:cs typeface="Liberation Sans"/>
              </a:defRPr>
            </a:pPr>
            <a:r>
              <a:rPr sz="2025" b="0">
                <a:solidFill>
                  <a:srgbClr val="17243A"/>
                </a:solidFill>
                <a:latin typeface="Liberation Sans"/>
                <a:ea typeface="Liberation Sans"/>
                <a:cs typeface="Liberation Sans"/>
              </a:rPr>
              <a:t>[0.393, 0.469]</a:t>
            </a:r>
          </a:p>
        </p:txBody>
      </p:sp>
      <p:sp>
        <p:nvSpPr>
          <p:cNvPr id="8" name="Reference fraction">
            <a:extLst xmlns:a="http://schemas.openxmlformats.org/drawingml/2006/main">
              <a:ext uri="{FF2B5EF4-FFF2-40B4-BE49-F238E27FC236}">
                <a16:creationId xmlns:a16="http://schemas.microsoft.com/office/drawing/2014/main" id="{E8F8E3B6-2124-45D1-BF34-5DC859B927E2}"/>
              </a:ext>
            </a:extLst>
          </p:cNvPr>
          <p:cNvSpPr>
            <a:spLocks xmlns:a="http://schemas.openxmlformats.org/drawingml/2006/main" noGrp="1"/>
          </p:cNvSpPr>
          <p:nvPr/>
        </p:nvSpPr>
        <p:spPr>
          <a:xfrm xmlns:a="http://schemas.openxmlformats.org/drawingml/2006/main">
            <a:off x="8172450" y="3552825"/>
            <a:ext cx="3371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243A"/>
                </a:solidFill>
                <a:latin typeface="Liberation Sans"/>
                <a:ea typeface="Liberation Sans"/>
                <a:cs typeface="Liberation Sans"/>
              </a:defRPr>
            </a:pPr>
            <a:r>
              <a:rPr sz="1950" b="1">
                <a:solidFill>
                  <a:srgbClr val="17243A"/>
                </a:solidFill>
                <a:latin typeface="Liberation Sans"/>
                <a:ea typeface="Liberation Sans"/>
                <a:cs typeface="Liberation Sans"/>
              </a:rPr>
              <a:t>Reference fraction</a:t>
            </a:r>
          </a:p>
        </p:txBody>
      </p:sp>
      <p:sp>
        <p:nvSpPr>
          <p:cNvPr id="9" name="Discovery       49.92%&#10;Confirmation  50.85%">
            <a:extLst xmlns:a="http://schemas.openxmlformats.org/drawingml/2006/main">
              <a:ext uri="{FF2B5EF4-FFF2-40B4-BE49-F238E27FC236}">
                <a16:creationId xmlns:a16="http://schemas.microsoft.com/office/drawing/2014/main" id="{23BCC67B-CC76-457B-9E55-41886B8D9AC0}"/>
              </a:ext>
            </a:extLst>
          </p:cNvPr>
          <p:cNvSpPr>
            <a:spLocks xmlns:a="http://schemas.openxmlformats.org/drawingml/2006/main" noGrp="1"/>
          </p:cNvSpPr>
          <p:nvPr/>
        </p:nvSpPr>
        <p:spPr>
          <a:xfrm xmlns:a="http://schemas.openxmlformats.org/drawingml/2006/main">
            <a:off x="8172450" y="4124325"/>
            <a:ext cx="3371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43A"/>
                </a:solidFill>
                <a:latin typeface="Liberation Sans"/>
                <a:ea typeface="Liberation Sans"/>
                <a:cs typeface="Liberation Sans"/>
              </a:defRPr>
            </a:pPr>
            <a:r>
              <a:rPr sz="1950" b="0">
                <a:solidFill>
                  <a:srgbClr val="17243A"/>
                </a:solidFill>
                <a:latin typeface="Liberation Sans"/>
                <a:ea typeface="Liberation Sans"/>
                <a:cs typeface="Liberation Sans"/>
              </a:rPr>
              <a:t>Discovery       49.92%</a:t>
            </a:r>
          </a:p>
          <a:p xmlns:a="http://schemas.openxmlformats.org/drawingml/2006/main">
            <a:pPr algn="l">
              <a:defRPr sz="1950" b="0">
                <a:solidFill>
                  <a:srgbClr val="17243A"/>
                </a:solidFill>
                <a:latin typeface="Liberation Sans"/>
                <a:ea typeface="Liberation Sans"/>
                <a:cs typeface="Liberation Sans"/>
              </a:defRPr>
            </a:pPr>
            <a:r>
              <a:rPr sz="1950" b="0">
                <a:solidFill>
                  <a:srgbClr val="17243A"/>
                </a:solidFill>
                <a:latin typeface="Liberation Sans"/>
                <a:ea typeface="Liberation Sans"/>
                <a:cs typeface="Liberation Sans"/>
              </a:rPr>
              <a:t>Confirmation  50.85%</a:t>
            </a:r>
          </a:p>
        </p:txBody>
      </p:sp>
      <p:sp>
        <p:nvSpPr>
          <p:cNvPr id="10" name="The verdict crosses the predeclared 50% bound">
            <a:extLst xmlns:a="http://schemas.openxmlformats.org/drawingml/2006/main">
              <a:ext uri="{FF2B5EF4-FFF2-40B4-BE49-F238E27FC236}">
                <a16:creationId xmlns:a16="http://schemas.microsoft.com/office/drawing/2014/main" id="{41A94D99-3352-4574-BF29-0D32D5FE7D5D}"/>
              </a:ext>
            </a:extLst>
          </p:cNvPr>
          <p:cNvSpPr>
            <a:spLocks xmlns:a="http://schemas.openxmlformats.org/drawingml/2006/main" noGrp="1"/>
          </p:cNvSpPr>
          <p:nvPr/>
        </p:nvSpPr>
        <p:spPr>
          <a:xfrm xmlns:a="http://schemas.openxmlformats.org/drawingml/2006/main">
            <a:off x="647700" y="56578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43A"/>
                </a:solidFill>
                <a:latin typeface="Liberation Sans"/>
                <a:ea typeface="Liberation Sans"/>
                <a:cs typeface="Liberation Sans"/>
              </a:defRPr>
            </a:pPr>
            <a:r>
              <a:rPr sz="2175" b="0">
                <a:solidFill>
                  <a:srgbClr val="17243A"/>
                </a:solidFill>
                <a:latin typeface="Liberation Sans"/>
                <a:ea typeface="Liberation Sans"/>
                <a:cs typeface="Liberation Sans"/>
              </a:rPr>
              <a:t>The verdict crosses the predeclared 50% boundary</a:t>
            </a:r>
          </a:p>
        </p:txBody>
      </p:sp>
    </p:spTree>
    <p:extLst>
      <p:ext uri="{BB962C8B-B14F-4D97-AF65-F5344CB8AC3E}">
        <p14:creationId xmlns:p14="http://schemas.microsoft.com/office/powerpoint/2010/main" val="1022200500"/>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Label readability emerges before final-token ">
            <a:extLst xmlns:a="http://schemas.openxmlformats.org/drawingml/2006/main">
              <a:ext uri="{FF2B5EF4-FFF2-40B4-BE49-F238E27FC236}">
                <a16:creationId xmlns:a16="http://schemas.microsoft.com/office/drawing/2014/main" id="{99C734B1-53CE-479A-A263-AE11AA1FE7E0}"/>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Label readability emerges before final-token answer words</a:t>
            </a:r>
          </a:p>
        </p:txBody>
      </p:sp>
      <p:sp>
        <p:nvSpPr>
          <p:cNvPr id="2" name="">
            <a:extLst xmlns:a="http://schemas.openxmlformats.org/drawingml/2006/main">
              <a:ext uri="{FF2B5EF4-FFF2-40B4-BE49-F238E27FC236}">
                <a16:creationId xmlns:a16="http://schemas.microsoft.com/office/drawing/2014/main" id="{C502AE8A-E8EC-4B05-BFB0-1B3B8643DA33}"/>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M4 / M5 / M7 / vocabulary projections are des">
            <a:extLst xmlns:a="http://schemas.openxmlformats.org/drawingml/2006/main">
              <a:ext uri="{FF2B5EF4-FFF2-40B4-BE49-F238E27FC236}">
                <a16:creationId xmlns:a16="http://schemas.microsoft.com/office/drawing/2014/main" id="{31EE4554-303E-4805-B277-1E18DD5602F5}"/>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M4 / M5 / M7 / vocabulary projections are descriptive</a:t>
            </a:r>
          </a:p>
        </p:txBody>
      </p:sp>
      <p:sp>
        <p:nvSpPr>
          <p:cNvPr id="4" name="17">
            <a:extLst xmlns:a="http://schemas.openxmlformats.org/drawingml/2006/main">
              <a:ext uri="{FF2B5EF4-FFF2-40B4-BE49-F238E27FC236}">
                <a16:creationId xmlns:a16="http://schemas.microsoft.com/office/drawing/2014/main" id="{2058AE18-2A2A-473B-ADD9-C394588D2989}"/>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17</a:t>
            </a:r>
          </a:p>
        </p:txBody>
      </p:sp>
      <p:sp>
        <p:nvSpPr>
          <p:cNvPr id="5" name="Return to the pilot: labels share a late rise">
            <a:extLst xmlns:a="http://schemas.openxmlformats.org/drawingml/2006/main">
              <a:ext uri="{FF2B5EF4-FFF2-40B4-BE49-F238E27FC236}">
                <a16:creationId xmlns:a16="http://schemas.microsoft.com/office/drawing/2014/main" id="{39A1EEE7-2F63-4DD1-AB4A-7B0DDB6A82FF}"/>
              </a:ext>
            </a:extLst>
          </p:cNvPr>
          <p:cNvSpPr>
            <a:spLocks xmlns:a="http://schemas.openxmlformats.org/drawingml/2006/main" noGrp="1"/>
          </p:cNvSpPr>
          <p:nvPr/>
        </p:nvSpPr>
        <p:spPr>
          <a:xfrm xmlns:a="http://schemas.openxmlformats.org/drawingml/2006/main">
            <a:off x="647700" y="1323975"/>
            <a:ext cx="10848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7243A"/>
                </a:solidFill>
                <a:latin typeface="Liberation Sans"/>
                <a:ea typeface="Liberation Sans"/>
                <a:cs typeface="Liberation Sans"/>
              </a:defRPr>
            </a:pPr>
            <a:r>
              <a:rPr sz="2100" b="1">
                <a:solidFill>
                  <a:srgbClr val="17243A"/>
                </a:solidFill>
                <a:latin typeface="Liberation Sans"/>
                <a:ea typeface="Liberation Sans"/>
                <a:cs typeface="Liberation Sans"/>
              </a:rPr>
              <a:t>Return to the pilot: labels share a late rise, then the correct label separates</a:t>
            </a:r>
          </a:p>
        </p:txBody>
      </p:sp>
      <p:graphicFrame>
        <p:nvGraphicFramePr>
          <p:cNvPr id="15" name=""/>
          <p:cNvGraphicFramePr/>
          <p:nvPr/>
        </p:nvGraphicFramePr>
        <p:xfrm>
          <a:off xmlns:a="http://schemas.openxmlformats.org/drawingml/2006/main" x="628650" y="2419350"/>
          <a:ext xmlns:a="http://schemas.openxmlformats.org/drawingml/2006/main" cx="10925175" cy="2390775"/>
        </p:xfrm>
        <a:graphic xmlns:a="http://schemas.openxmlformats.org/drawingml/2006/main">
          <a:graphicData uri="http://schemas.openxmlformats.org/drawingml/2006/table">
            <a:tbl>
              <a:tblPr/>
              <a:tblGrid>
                <a:gridCol w="5524500"/>
                <a:gridCol w="2695575"/>
                <a:gridCol w="2705100"/>
              </a:tblGrid>
              <a:tr h="597694">
                <a:tc>
                  <a:txBody>
                    <a:bodyPr lIns="114300" tIns="85725" rIns="95250" bIns="85725"/>
                    <a:lstStyle/>
                    <a:p>
                      <a:r>
                        <a:rPr sz="1800" b="1">
                          <a:solidFill>
                            <a:srgbClr val="FFFFFF"/>
                          </a:solidFill>
                          <a:latin typeface="Liberation Sans"/>
                          <a:ea typeface="Liberation Sans"/>
                          <a:cs typeface="Liberation Sans"/>
                        </a:rPr>
                        <a:t>Readout milestone</a:t>
                      </a:r>
                    </a:p>
                  </a:txBody>
                  <a:tcPr marL="91440" marR="91440" marT="45720" marB="45720" anchor="ctr">
                    <a:solidFill>
                      <a:srgbClr val="17243A"/>
                    </a:solidFill>
                  </a:tcPr>
                </a:tc>
                <a:tc>
                  <a:txBody>
                    <a:bodyPr lIns="114300" tIns="85725" rIns="95250" bIns="85725"/>
                    <a:lstStyle/>
                    <a:p>
                      <a:r>
                        <a:rPr sz="1800" b="1">
                          <a:solidFill>
                            <a:srgbClr val="FFFFFF"/>
                          </a:solidFill>
                          <a:latin typeface="Liberation Sans"/>
                          <a:ea typeface="Liberation Sans"/>
                          <a:cs typeface="Liberation Sans"/>
                        </a:rPr>
                        <a:t>Qwen7B / 28 stages</a:t>
                      </a:r>
                    </a:p>
                  </a:txBody>
                  <a:tcPr marL="91440" marR="91440" marT="45720" marB="45720" anchor="ctr">
                    <a:solidFill>
                      <a:srgbClr val="17243A"/>
                    </a:solidFill>
                  </a:tcPr>
                </a:tc>
                <a:tc>
                  <a:txBody>
                    <a:bodyPr lIns="114300" tIns="85725" rIns="95250" bIns="85725"/>
                    <a:lstStyle/>
                    <a:p>
                      <a:r>
                        <a:rPr sz="1800" b="1">
                          <a:solidFill>
                            <a:srgbClr val="FFFFFF"/>
                          </a:solidFill>
                          <a:latin typeface="Liberation Sans"/>
                          <a:ea typeface="Liberation Sans"/>
                          <a:cs typeface="Liberation Sans"/>
                        </a:rPr>
                        <a:t>InternVL8B / 36 stages</a:t>
                      </a:r>
                    </a:p>
                  </a:txBody>
                  <a:tcPr marL="91440" marR="91440" marT="45720" marB="45720" anchor="ctr">
                    <a:solidFill>
                      <a:srgbClr val="17243A"/>
                    </a:solidFill>
                  </a:tcPr>
                </a:tc>
              </a:tr>
              <a:tr h="597694">
                <a:tc>
                  <a:txBody>
                    <a:bodyPr lIns="114300" tIns="85725" rIns="95250" bIns="85725"/>
                    <a:lstStyle/>
                    <a:p>
                      <a:r>
                        <a:rPr sz="1800" b="0">
                          <a:solidFill>
                            <a:srgbClr val="17243A"/>
                          </a:solidFill>
                          <a:latin typeface="Liberation Sans"/>
                          <a:ea typeface="Liberation Sans"/>
                          <a:cs typeface="Liberation Sans"/>
                        </a:rPr>
                        <a:t>A–D label margin becomes positive</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22–23</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25</a:t>
                      </a:r>
                    </a:p>
                  </a:txBody>
                  <a:tcPr marL="91440" marR="91440" marT="45720" marB="45720" anchor="ctr">
                    <a:solidFill>
                      <a:srgbClr val="FFFFFF"/>
                    </a:solidFill>
                  </a:tcPr>
                </a:tc>
              </a:tr>
              <a:tr h="597694">
                <a:tc>
                  <a:txBody>
                    <a:bodyPr lIns="114300" tIns="85725" rIns="95250" bIns="85725"/>
                    <a:lstStyle/>
                    <a:p>
                      <a:r>
                        <a:rPr sz="1800" b="0">
                          <a:solidFill>
                            <a:srgbClr val="17243A"/>
                          </a:solidFill>
                          <a:latin typeface="Liberation Sans"/>
                          <a:ea typeface="Liberation Sans"/>
                          <a:cs typeface="Liberation Sans"/>
                        </a:rPr>
                        <a:t>Requested rare alphabet overtakes default A–D</a:t>
                      </a:r>
                    </a:p>
                  </a:txBody>
                  <a:tcPr marL="91440" marR="91440" marT="45720" marB="45720" anchor="ctr">
                    <a:solidFill>
                      <a:srgbClr val="E9EEF6"/>
                    </a:solidFill>
                  </a:tcPr>
                </a:tc>
                <a:tc>
                  <a:txBody>
                    <a:bodyPr lIns="114300" tIns="85725" rIns="95250" bIns="85725"/>
                    <a:lstStyle/>
                    <a:p>
                      <a:r>
                        <a:rPr sz="1800" b="0">
                          <a:solidFill>
                            <a:srgbClr val="17243A"/>
                          </a:solidFill>
                          <a:latin typeface="Liberation Sans"/>
                          <a:ea typeface="Liberation Sans"/>
                          <a:cs typeface="Liberation Sans"/>
                        </a:rPr>
                        <a:t>25</a:t>
                      </a:r>
                    </a:p>
                  </a:txBody>
                  <a:tcPr marL="91440" marR="91440" marT="45720" marB="45720" anchor="ctr">
                    <a:solidFill>
                      <a:srgbClr val="E9EEF6"/>
                    </a:solidFill>
                  </a:tcPr>
                </a:tc>
                <a:tc>
                  <a:txBody>
                    <a:bodyPr lIns="114300" tIns="85725" rIns="95250" bIns="85725"/>
                    <a:lstStyle/>
                    <a:p>
                      <a:r>
                        <a:rPr sz="1800" b="0">
                          <a:solidFill>
                            <a:srgbClr val="17243A"/>
                          </a:solidFill>
                          <a:latin typeface="Liberation Sans"/>
                          <a:ea typeface="Liberation Sans"/>
                          <a:cs typeface="Liberation Sans"/>
                        </a:rPr>
                        <a:t>30</a:t>
                      </a:r>
                    </a:p>
                  </a:txBody>
                  <a:tcPr marL="91440" marR="91440" marT="45720" marB="45720" anchor="ctr">
                    <a:solidFill>
                      <a:srgbClr val="E9EEF6"/>
                    </a:solidFill>
                  </a:tcPr>
                </a:tc>
              </a:tr>
              <a:tr h="597694">
                <a:tc>
                  <a:txBody>
                    <a:bodyPr lIns="114300" tIns="85725" rIns="95250" bIns="85725"/>
                    <a:lstStyle/>
                    <a:p>
                      <a:r>
                        <a:rPr sz="1800" b="0">
                          <a:solidFill>
                            <a:srgbClr val="17243A"/>
                          </a:solidFill>
                          <a:latin typeface="Liberation Sans"/>
                          <a:ea typeface="Liberation Sans"/>
                          <a:cs typeface="Liberation Sans"/>
                        </a:rPr>
                        <a:t>Final-token answer word becomes readable</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27</a:t>
                      </a:r>
                    </a:p>
                  </a:txBody>
                  <a:tcPr marL="91440" marR="91440" marT="45720" marB="45720" anchor="ctr">
                    <a:solidFill>
                      <a:srgbClr val="FFFFFF"/>
                    </a:solidFill>
                  </a:tcPr>
                </a:tc>
                <a:tc>
                  <a:txBody>
                    <a:bodyPr lIns="114300" tIns="85725" rIns="95250" bIns="85725"/>
                    <a:lstStyle/>
                    <a:p>
                      <a:r>
                        <a:rPr sz="1800" b="0">
                          <a:solidFill>
                            <a:srgbClr val="17243A"/>
                          </a:solidFill>
                          <a:latin typeface="Liberation Sans"/>
                          <a:ea typeface="Liberation Sans"/>
                          <a:cs typeface="Liberation Sans"/>
                        </a:rPr>
                        <a:t>32</a:t>
                      </a:r>
                    </a:p>
                  </a:txBody>
                  <a:tcPr marL="91440" marR="91440" marT="45720" marB="45720" anchor="ctr">
                    <a:solidFill>
                      <a:srgbClr val="FFFFFF"/>
                    </a:solidFill>
                  </a:tcPr>
                </a:tc>
              </a:tr>
            </a:tbl>
          </a:graphicData>
        </a:graphic>
      </p:graphicFrame>
      <p:sp>
        <p:nvSpPr>
          <p:cNvPr id="7" name="Qwen: 256-item behavior track">
            <a:extLst xmlns:a="http://schemas.openxmlformats.org/drawingml/2006/main">
              <a:ext uri="{FF2B5EF4-FFF2-40B4-BE49-F238E27FC236}">
                <a16:creationId xmlns:a16="http://schemas.microsoft.com/office/drawing/2014/main" id="{44E206A2-B699-4459-99D3-8E3CB36EFFC2}"/>
              </a:ext>
            </a:extLst>
          </p:cNvPr>
          <p:cNvSpPr>
            <a:spLocks xmlns:a="http://schemas.openxmlformats.org/drawingml/2006/main" noGrp="1"/>
          </p:cNvSpPr>
          <p:nvPr/>
        </p:nvSpPr>
        <p:spPr>
          <a:xfrm xmlns:a="http://schemas.openxmlformats.org/drawingml/2006/main">
            <a:off x="657225" y="5067300"/>
            <a:ext cx="5057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967D2"/>
                </a:solidFill>
                <a:latin typeface="Liberation Sans"/>
                <a:ea typeface="Liberation Sans"/>
                <a:cs typeface="Liberation Sans"/>
              </a:defRPr>
            </a:pPr>
            <a:r>
              <a:rPr sz="1875" b="1">
                <a:solidFill>
                  <a:srgbClr val="1967D2"/>
                </a:solidFill>
                <a:latin typeface="Liberation Sans"/>
                <a:ea typeface="Liberation Sans"/>
                <a:cs typeface="Liberation Sans"/>
              </a:rPr>
              <a:t>Qwen: 256-item behavior track</a:t>
            </a:r>
          </a:p>
        </p:txBody>
      </p:sp>
      <p:sp>
        <p:nvSpPr>
          <p:cNvPr id="8" name="InternVL: six-pair smoke lens">
            <a:extLst xmlns:a="http://schemas.openxmlformats.org/drawingml/2006/main">
              <a:ext uri="{FF2B5EF4-FFF2-40B4-BE49-F238E27FC236}">
                <a16:creationId xmlns:a16="http://schemas.microsoft.com/office/drawing/2014/main" id="{4901B431-775D-4A18-B9CA-AF985ED62BBF}"/>
              </a:ext>
            </a:extLst>
          </p:cNvPr>
          <p:cNvSpPr>
            <a:spLocks xmlns:a="http://schemas.openxmlformats.org/drawingml/2006/main" noGrp="1"/>
          </p:cNvSpPr>
          <p:nvPr/>
        </p:nvSpPr>
        <p:spPr>
          <a:xfrm xmlns:a="http://schemas.openxmlformats.org/drawingml/2006/main">
            <a:off x="6419850" y="506730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E76F51"/>
                </a:solidFill>
                <a:latin typeface="Liberation Sans"/>
                <a:ea typeface="Liberation Sans"/>
                <a:cs typeface="Liberation Sans"/>
              </a:defRPr>
            </a:pPr>
            <a:r>
              <a:rPr sz="1875" b="1">
                <a:solidFill>
                  <a:srgbClr val="E76F51"/>
                </a:solidFill>
                <a:latin typeface="Liberation Sans"/>
                <a:ea typeface="Liberation Sans"/>
                <a:cs typeface="Liberation Sans"/>
              </a:rPr>
              <a:t>InternVL: six-pair smoke lens</a:t>
            </a:r>
          </a:p>
        </p:txBody>
      </p:sp>
      <p:sp>
        <p:nvSpPr>
          <p:cNvPr id="9" name="M6 already showed earlier content in image an">
            <a:extLst xmlns:a="http://schemas.openxmlformats.org/drawingml/2006/main">
              <a:ext uri="{FF2B5EF4-FFF2-40B4-BE49-F238E27FC236}">
                <a16:creationId xmlns:a16="http://schemas.microsoft.com/office/drawing/2014/main" id="{69FBEF18-0C8F-45BE-8A28-E603DF498AC6}"/>
              </a:ext>
            </a:extLst>
          </p:cNvPr>
          <p:cNvSpPr>
            <a:spLocks xmlns:a="http://schemas.openxmlformats.org/drawingml/2006/main" noGrp="1"/>
          </p:cNvSpPr>
          <p:nvPr/>
        </p:nvSpPr>
        <p:spPr>
          <a:xfrm xmlns:a="http://schemas.openxmlformats.org/drawingml/2006/main">
            <a:off x="657225" y="57054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43A"/>
                </a:solidFill>
                <a:latin typeface="Liberation Sans"/>
                <a:ea typeface="Liberation Sans"/>
                <a:cs typeface="Liberation Sans"/>
              </a:defRPr>
            </a:pPr>
            <a:r>
              <a:rPr sz="2175" b="1">
                <a:solidFill>
                  <a:srgbClr val="17243A"/>
                </a:solidFill>
                <a:latin typeface="Liberation Sans"/>
                <a:ea typeface="Liberation Sans"/>
                <a:cs typeface="Liberation Sans"/>
              </a:rPr>
              <a:t>M6 already showed earlier content in image and option states</a:t>
            </a:r>
          </a:p>
        </p:txBody>
      </p:sp>
    </p:spTree>
    <p:extLst>
      <p:ext uri="{BB962C8B-B14F-4D97-AF65-F5344CB8AC3E}">
        <p14:creationId xmlns:p14="http://schemas.microsoft.com/office/powerpoint/2010/main" val="55119002"/>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sults support a staged account of visua">
            <a:extLst xmlns:a="http://schemas.openxmlformats.org/drawingml/2006/main">
              <a:ext uri="{FF2B5EF4-FFF2-40B4-BE49-F238E27FC236}">
                <a16:creationId xmlns:a16="http://schemas.microsoft.com/office/drawing/2014/main" id="{8E3FC4D4-F00E-4EC0-A474-24CE03C1D0F5}"/>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The results support a staged account of visual MCQA</a:t>
            </a:r>
          </a:p>
        </p:txBody>
      </p:sp>
      <p:sp>
        <p:nvSpPr>
          <p:cNvPr id="2" name="">
            <a:extLst xmlns:a="http://schemas.openxmlformats.org/drawingml/2006/main">
              <a:ext uri="{FF2B5EF4-FFF2-40B4-BE49-F238E27FC236}">
                <a16:creationId xmlns:a16="http://schemas.microsoft.com/office/drawing/2014/main" id="{95608F17-D1FA-4104-9258-D5A00F4186E7}"/>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ANLP mid-submission / 2 October 2026">
            <a:extLst xmlns:a="http://schemas.openxmlformats.org/drawingml/2006/main">
              <a:ext uri="{FF2B5EF4-FFF2-40B4-BE49-F238E27FC236}">
                <a16:creationId xmlns:a16="http://schemas.microsoft.com/office/drawing/2014/main" id="{63BAE136-29BD-484D-85F5-B04E13374785}"/>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ANLP mid-submission / 2 October 2026</a:t>
            </a:r>
          </a:p>
        </p:txBody>
      </p:sp>
      <p:sp>
        <p:nvSpPr>
          <p:cNvPr id="4" name="18">
            <a:extLst xmlns:a="http://schemas.openxmlformats.org/drawingml/2006/main">
              <a:ext uri="{FF2B5EF4-FFF2-40B4-BE49-F238E27FC236}">
                <a16:creationId xmlns:a16="http://schemas.microsoft.com/office/drawing/2014/main" id="{C3893DDF-6732-45C5-83F1-D2775DBD0801}"/>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18</a:t>
            </a:r>
          </a:p>
        </p:txBody>
      </p:sp>
      <p:graphicFrame>
        <p:nvGraphicFramePr>
          <p:cNvPr id="11" name=""/>
          <p:cNvGraphicFramePr/>
          <p:nvPr/>
        </p:nvGraphicFramePr>
        <p:xfrm>
          <a:off xmlns:a="http://schemas.openxmlformats.org/drawingml/2006/main" x="628650" y="1457325"/>
          <a:ext xmlns:a="http://schemas.openxmlformats.org/drawingml/2006/main" cx="10925175" cy="3629025"/>
        </p:xfrm>
        <a:graphic xmlns:a="http://schemas.openxmlformats.org/drawingml/2006/main">
          <a:graphicData uri="http://schemas.openxmlformats.org/drawingml/2006/table">
            <a:tbl>
              <a:tblPr/>
              <a:tblGrid>
                <a:gridCol w="3371850"/>
                <a:gridCol w="5067300"/>
                <a:gridCol w="2486025"/>
              </a:tblGrid>
              <a:tr h="604838">
                <a:tc>
                  <a:txBody>
                    <a:bodyPr lIns="114300" tIns="85725" rIns="95250" bIns="85725"/>
                    <a:lstStyle/>
                    <a:p>
                      <a:r>
                        <a:rPr sz="1725" b="1">
                          <a:solidFill>
                            <a:srgbClr val="FFFFFF"/>
                          </a:solidFill>
                          <a:latin typeface="Liberation Sans"/>
                          <a:ea typeface="Liberation Sans"/>
                          <a:cs typeface="Liberation Sans"/>
                        </a:rPr>
                        <a:t>Part of the account</a:t>
                      </a:r>
                    </a:p>
                  </a:txBody>
                  <a:tcPr marL="91440" marR="91440" marT="45720" marB="45720" anchor="ctr">
                    <a:solidFill>
                      <a:srgbClr val="17243A"/>
                    </a:solidFill>
                  </a:tcPr>
                </a:tc>
                <a:tc>
                  <a:txBody>
                    <a:bodyPr lIns="114300" tIns="85725" rIns="95250" bIns="85725"/>
                    <a:lstStyle/>
                    <a:p>
                      <a:r>
                        <a:rPr sz="1725" b="1">
                          <a:solidFill>
                            <a:srgbClr val="FFFFFF"/>
                          </a:solidFill>
                          <a:latin typeface="Liberation Sans"/>
                          <a:ea typeface="Liberation Sans"/>
                          <a:cs typeface="Liberation Sans"/>
                        </a:rPr>
                        <a:t>Supporting evidence</a:t>
                      </a:r>
                    </a:p>
                  </a:txBody>
                  <a:tcPr marL="91440" marR="91440" marT="45720" marB="45720" anchor="ctr">
                    <a:solidFill>
                      <a:srgbClr val="17243A"/>
                    </a:solidFill>
                  </a:tcPr>
                </a:tc>
                <a:tc>
                  <a:txBody>
                    <a:bodyPr lIns="114300" tIns="85725" rIns="95250" bIns="85725"/>
                    <a:lstStyle/>
                    <a:p>
                      <a:r>
                        <a:rPr sz="1725" b="1">
                          <a:solidFill>
                            <a:srgbClr val="FFFFFF"/>
                          </a:solidFill>
                          <a:latin typeface="Liberation Sans"/>
                          <a:ea typeface="Liberation Sans"/>
                          <a:cs typeface="Liberation Sans"/>
                        </a:rPr>
                        <a:t>Scope</a:t>
                      </a:r>
                    </a:p>
                  </a:txBody>
                  <a:tcPr marL="91440" marR="91440" marT="45720" marB="45720" anchor="ctr">
                    <a:solidFill>
                      <a:srgbClr val="17243A"/>
                    </a:solidFill>
                  </a:tcPr>
                </a:tc>
              </a:tr>
              <a:tr h="604838">
                <a:tc>
                  <a:txBody>
                    <a:bodyPr lIns="114300" tIns="85725" rIns="95250" bIns="85725"/>
                    <a:lstStyle/>
                    <a:p>
                      <a:r>
                        <a:rPr sz="1725" b="0">
                          <a:solidFill>
                            <a:srgbClr val="17243A"/>
                          </a:solidFill>
                          <a:latin typeface="Liberation Sans"/>
                          <a:ea typeface="Liberation Sans"/>
                          <a:cs typeface="Liberation Sans"/>
                        </a:rPr>
                        <a:t>Early visual answer content</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Image-token patches transfer content</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M6, both models</a:t>
                      </a:r>
                    </a:p>
                  </a:txBody>
                  <a:tcPr marL="91440" marR="91440" marT="45720" marB="45720" anchor="ctr">
                    <a:solidFill>
                      <a:srgbClr val="FFFFFF"/>
                    </a:solidFill>
                  </a:tcPr>
                </a:tc>
              </a:tr>
              <a:tr h="604838">
                <a:tc>
                  <a:txBody>
                    <a:bodyPr lIns="114300" tIns="85725" rIns="95250" bIns="85725"/>
                    <a:lstStyle/>
                    <a:p>
                      <a:r>
                        <a:rPr sz="1725" b="0">
                          <a:solidFill>
                            <a:srgbClr val="17243A"/>
                          </a:solidFill>
                          <a:latin typeface="Liberation Sans"/>
                          <a:ea typeface="Liberation Sans"/>
                          <a:cs typeface="Liberation Sans"/>
                        </a:rPr>
                        <a:t>Middle textual answer carriers</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Option-content patches become effective</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M6, both models</a:t>
                      </a:r>
                    </a:p>
                  </a:txBody>
                  <a:tcPr marL="91440" marR="91440" marT="45720" marB="45720" anchor="ctr">
                    <a:solidFill>
                      <a:srgbClr val="E9EEF6"/>
                    </a:solidFill>
                  </a:tcPr>
                </a:tc>
              </a:tr>
              <a:tr h="604838">
                <a:tc>
                  <a:txBody>
                    <a:bodyPr lIns="114300" tIns="85725" rIns="95250" bIns="85725"/>
                    <a:lstStyle/>
                    <a:p>
                      <a:r>
                        <a:rPr sz="1725" b="0">
                          <a:solidFill>
                            <a:srgbClr val="17243A"/>
                          </a:solidFill>
                          <a:latin typeface="Liberation Sans"/>
                          <a:ea typeface="Liberation Sans"/>
                          <a:cs typeface="Liberation Sans"/>
                        </a:rPr>
                        <a:t>Late output-label selection</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Final state transfers; attention dominates</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M1 / M2, both models</a:t>
                      </a:r>
                    </a:p>
                  </a:txBody>
                  <a:tcPr marL="91440" marR="91440" marT="45720" marB="45720" anchor="ctr">
                    <a:solidFill>
                      <a:srgbClr val="FFFFFF"/>
                    </a:solidFill>
                  </a:tcPr>
                </a:tc>
              </a:tr>
              <a:tr h="604838">
                <a:tc>
                  <a:txBody>
                    <a:bodyPr lIns="114300" tIns="85725" rIns="95250" bIns="85725"/>
                    <a:lstStyle/>
                    <a:p>
                      <a:r>
                        <a:rPr sz="1725" b="0">
                          <a:solidFill>
                            <a:srgbClr val="17243A"/>
                          </a:solidFill>
                          <a:latin typeface="Liberation Sans"/>
                          <a:ea typeface="Liberation Sans"/>
                          <a:cs typeface="Liberation Sans"/>
                        </a:rPr>
                        <a:t>Concentrated attention-head effects</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Frozen head sets exceed matched random sets</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M3; stable sparsity in Qwen</a:t>
                      </a:r>
                    </a:p>
                  </a:txBody>
                  <a:tcPr marL="91440" marR="91440" marT="45720" marB="45720" anchor="ctr">
                    <a:solidFill>
                      <a:srgbClr val="E9EEF6"/>
                    </a:solidFill>
                  </a:tcPr>
                </a:tc>
              </a:tr>
              <a:tr h="604838">
                <a:tc>
                  <a:txBody>
                    <a:bodyPr lIns="114300" tIns="85725" rIns="95250" bIns="85725"/>
                    <a:lstStyle/>
                    <a:p>
                      <a:r>
                        <a:rPr sz="1725" b="0">
                          <a:solidFill>
                            <a:srgbClr val="17243A"/>
                          </a:solidFill>
                          <a:latin typeface="Liberation Sans"/>
                          <a:ea typeface="Liberation Sans"/>
                          <a:cs typeface="Liberation Sans"/>
                        </a:rPr>
                        <a:t>Late vocabulary alignment</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Labels precede final-token answer words</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Qwen full; InternVL smoke</a:t>
                      </a:r>
                    </a:p>
                  </a:txBody>
                  <a:tcPr marL="91440" marR="91440" marT="45720" marB="45720" anchor="ctr">
                    <a:solidFill>
                      <a:srgbClr val="FFFFFF"/>
                    </a:solidFill>
                  </a:tcPr>
                </a:tc>
              </a:tr>
            </a:tbl>
          </a:graphicData>
        </a:graphic>
      </p:graphicFrame>
      <p:sp>
        <p:nvSpPr>
          <p:cNvPr id="6" name="A causal account of tested sites; the connect">
            <a:extLst xmlns:a="http://schemas.openxmlformats.org/drawingml/2006/main">
              <a:ext uri="{FF2B5EF4-FFF2-40B4-BE49-F238E27FC236}">
                <a16:creationId xmlns:a16="http://schemas.microsoft.com/office/drawing/2014/main" id="{DD89D3C1-22A7-49EF-BB55-0D19D3886EF0}"/>
              </a:ext>
            </a:extLst>
          </p:cNvPr>
          <p:cNvSpPr>
            <a:spLocks xmlns:a="http://schemas.openxmlformats.org/drawingml/2006/main" noGrp="1"/>
          </p:cNvSpPr>
          <p:nvPr/>
        </p:nvSpPr>
        <p:spPr>
          <a:xfrm xmlns:a="http://schemas.openxmlformats.org/drawingml/2006/main">
            <a:off x="647700" y="56007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967D2"/>
                </a:solidFill>
                <a:latin typeface="Liberation Sans"/>
                <a:ea typeface="Liberation Sans"/>
                <a:cs typeface="Liberation Sans"/>
              </a:defRPr>
            </a:pPr>
            <a:r>
              <a:rPr sz="2100" b="1">
                <a:solidFill>
                  <a:srgbClr val="1967D2"/>
                </a:solidFill>
                <a:latin typeface="Liberation Sans"/>
                <a:ea typeface="Liberation Sans"/>
                <a:cs typeface="Liberation Sans"/>
              </a:rPr>
              <a:t>A causal account of tested sites; the connecting edges remain unproven</a:t>
            </a:r>
          </a:p>
        </p:txBody>
      </p:sp>
    </p:spTree>
    <p:extLst>
      <p:ext uri="{BB962C8B-B14F-4D97-AF65-F5344CB8AC3E}">
        <p14:creationId xmlns:p14="http://schemas.microsoft.com/office/powerpoint/2010/main" val="60983416"/>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Current conclusion and the next experiment">
            <a:extLst xmlns:a="http://schemas.openxmlformats.org/drawingml/2006/main">
              <a:ext uri="{FF2B5EF4-FFF2-40B4-BE49-F238E27FC236}">
                <a16:creationId xmlns:a16="http://schemas.microsoft.com/office/drawing/2014/main" id="{1C625FF5-EFE9-4EF3-99DB-396018F2009F}"/>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Current conclusion and the next experiment</a:t>
            </a:r>
          </a:p>
        </p:txBody>
      </p:sp>
      <p:sp>
        <p:nvSpPr>
          <p:cNvPr id="2" name="">
            <a:extLst xmlns:a="http://schemas.openxmlformats.org/drawingml/2006/main">
              <a:ext uri="{FF2B5EF4-FFF2-40B4-BE49-F238E27FC236}">
                <a16:creationId xmlns:a16="http://schemas.microsoft.com/office/drawing/2014/main" id="{1F326B5A-F431-4AD3-AF44-C657F79C8DE1}"/>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ANLP mid-submission / 2 October 2026">
            <a:extLst xmlns:a="http://schemas.openxmlformats.org/drawingml/2006/main">
              <a:ext uri="{FF2B5EF4-FFF2-40B4-BE49-F238E27FC236}">
                <a16:creationId xmlns:a16="http://schemas.microsoft.com/office/drawing/2014/main" id="{70F8F79F-E5B9-42AD-8413-2AC008C8DF2F}"/>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ANLP mid-submission / 2 October 2026</a:t>
            </a:r>
          </a:p>
        </p:txBody>
      </p:sp>
      <p:sp>
        <p:nvSpPr>
          <p:cNvPr id="4" name="19">
            <a:extLst xmlns:a="http://schemas.openxmlformats.org/drawingml/2006/main">
              <a:ext uri="{FF2B5EF4-FFF2-40B4-BE49-F238E27FC236}">
                <a16:creationId xmlns:a16="http://schemas.microsoft.com/office/drawing/2014/main" id="{185F3064-66DB-44C1-AB1D-2CB2C14DDCAC}"/>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19</a:t>
            </a:r>
          </a:p>
        </p:txBody>
      </p:sp>
      <p:sp>
        <p:nvSpPr>
          <p:cNvPr id="5" name="">
            <a:extLst xmlns:a="http://schemas.openxmlformats.org/drawingml/2006/main">
              <a:ext uri="{FF2B5EF4-FFF2-40B4-BE49-F238E27FC236}">
                <a16:creationId xmlns:a16="http://schemas.microsoft.com/office/drawing/2014/main" id="{5BE3B308-388E-4D04-A3FF-E76C4A086F10}"/>
              </a:ext>
            </a:extLst>
          </p:cNvPr>
          <p:cNvSpPr>
            <a:spLocks xmlns:a="http://schemas.openxmlformats.org/drawingml/2006/main" noGrp="1"/>
          </p:cNvSpPr>
          <p:nvPr/>
        </p:nvSpPr>
        <p:spPr>
          <a:xfrm xmlns:a="http://schemas.openxmlformats.org/drawingml/2006/main">
            <a:off x="619125" y="1400175"/>
            <a:ext cx="10925175" cy="1428750"/>
          </a:xfrm>
          <a:prstGeom xmlns:a="http://schemas.openxmlformats.org/drawingml/2006/main" prst="roundRect">
            <a:avLst>
              <a:gd name="adj" fmla="val 6667"/>
            </a:avLst>
          </a:prstGeom>
          <a:solidFill xmlns:a="http://schemas.openxmlformats.org/drawingml/2006/main">
            <a:srgbClr val="E8F3F2"/>
          </a:solidFill>
          <a:ln xmlns:a="http://schemas.openxmlformats.org/drawingml/2006/main" w="0">
            <a:noFill/>
          </a:ln>
        </p:spPr>
      </p:sp>
      <p:sp>
        <p:nvSpPr>
          <p:cNvPr id="6" name="Visual answer information transfers early;&#10;la">
            <a:extLst xmlns:a="http://schemas.openxmlformats.org/drawingml/2006/main">
              <a:ext uri="{FF2B5EF4-FFF2-40B4-BE49-F238E27FC236}">
                <a16:creationId xmlns:a16="http://schemas.microsoft.com/office/drawing/2014/main" id="{B5BEA61F-101F-4A42-9F39-439B87223F17}"/>
              </a:ext>
            </a:extLst>
          </p:cNvPr>
          <p:cNvSpPr>
            <a:spLocks xmlns:a="http://schemas.openxmlformats.org/drawingml/2006/main" noGrp="1"/>
          </p:cNvSpPr>
          <p:nvPr/>
        </p:nvSpPr>
        <p:spPr>
          <a:xfrm xmlns:a="http://schemas.openxmlformats.org/drawingml/2006/main">
            <a:off x="857250" y="1676400"/>
            <a:ext cx="1038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243A"/>
                </a:solidFill>
                <a:latin typeface="Liberation Sans"/>
                <a:ea typeface="Liberation Sans"/>
                <a:cs typeface="Liberation Sans"/>
              </a:defRPr>
            </a:pPr>
            <a:r>
              <a:rPr sz="2400" b="1">
                <a:solidFill>
                  <a:srgbClr val="17243A"/>
                </a:solidFill>
                <a:latin typeface="Liberation Sans"/>
                <a:ea typeface="Liberation Sans"/>
                <a:cs typeface="Liberation Sans"/>
              </a:rPr>
              <a:t>Visual answer information transfers early;</a:t>
            </a:r>
          </a:p>
          <a:p xmlns:a="http://schemas.openxmlformats.org/drawingml/2006/main">
            <a:pPr algn="l">
              <a:defRPr sz="2400" b="1">
                <a:solidFill>
                  <a:srgbClr val="17243A"/>
                </a:solidFill>
                <a:latin typeface="Liberation Sans"/>
                <a:ea typeface="Liberation Sans"/>
                <a:cs typeface="Liberation Sans"/>
              </a:defRPr>
            </a:pPr>
            <a:r>
              <a:rPr sz="2400" b="1">
                <a:solidFill>
                  <a:srgbClr val="17243A"/>
                </a:solidFill>
                <a:latin typeface="Liberation Sans"/>
                <a:ea typeface="Liberation Sans"/>
                <a:cs typeface="Liberation Sans"/>
              </a:rPr>
              <a:t>late attention strongly affects the emitted label</a:t>
            </a:r>
          </a:p>
        </p:txBody>
      </p:sp>
      <p:sp>
        <p:nvSpPr>
          <p:cNvPr id="7" name="•">
            <a:extLst xmlns:a="http://schemas.openxmlformats.org/drawingml/2006/main">
              <a:ext uri="{FF2B5EF4-FFF2-40B4-BE49-F238E27FC236}">
                <a16:creationId xmlns:a16="http://schemas.microsoft.com/office/drawing/2014/main" id="{2FB017F2-3BCD-414A-B1F4-22BBB6C23DA4}"/>
              </a:ext>
            </a:extLst>
          </p:cNvPr>
          <p:cNvSpPr>
            <a:spLocks xmlns:a="http://schemas.openxmlformats.org/drawingml/2006/main" noGrp="1"/>
          </p:cNvSpPr>
          <p:nvPr/>
        </p:nvSpPr>
        <p:spPr>
          <a:xfrm xmlns:a="http://schemas.openxmlformats.org/drawingml/2006/main">
            <a:off x="666750" y="3333750"/>
            <a:ext cx="209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8A7A0"/>
                </a:solidFill>
                <a:latin typeface="Liberation Sans"/>
                <a:ea typeface="Liberation Sans"/>
                <a:cs typeface="Liberation Sans"/>
              </a:defRPr>
            </a:pPr>
            <a:r>
              <a:rPr sz="2100" b="1">
                <a:solidFill>
                  <a:srgbClr val="18A7A0"/>
                </a:solidFill>
                <a:latin typeface="Liberation Sans"/>
                <a:ea typeface="Liberation Sans"/>
                <a:cs typeface="Liberation Sans"/>
              </a:rPr>
              <a:t>•</a:t>
            </a:r>
          </a:p>
        </p:txBody>
      </p:sp>
      <p:sp>
        <p:nvSpPr>
          <p:cNvPr id="8" name="Audit the full InternVL sweep to resolve the ">
            <a:extLst xmlns:a="http://schemas.openxmlformats.org/drawingml/2006/main">
              <a:ext uri="{FF2B5EF4-FFF2-40B4-BE49-F238E27FC236}">
                <a16:creationId xmlns:a16="http://schemas.microsoft.com/office/drawing/2014/main" id="{B888F95E-31D4-4BBF-A876-47BF78326B5F}"/>
              </a:ext>
            </a:extLst>
          </p:cNvPr>
          <p:cNvSpPr>
            <a:spLocks xmlns:a="http://schemas.openxmlformats.org/drawingml/2006/main" noGrp="1"/>
          </p:cNvSpPr>
          <p:nvPr/>
        </p:nvSpPr>
        <p:spPr>
          <a:xfrm xmlns:a="http://schemas.openxmlformats.org/drawingml/2006/main">
            <a:off x="971550" y="3333750"/>
            <a:ext cx="10515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7243A"/>
                </a:solidFill>
                <a:latin typeface="Liberation Sans"/>
                <a:ea typeface="Liberation Sans"/>
                <a:cs typeface="Liberation Sans"/>
              </a:defRPr>
            </a:pPr>
            <a:r>
              <a:rPr sz="2100" b="0">
                <a:solidFill>
                  <a:srgbClr val="17243A"/>
                </a:solidFill>
                <a:latin typeface="Liberation Sans"/>
                <a:ea typeface="Liberation Sans"/>
                <a:cs typeface="Liberation Sans"/>
              </a:rPr>
              <a:t>Audit the full InternVL sweep to resolve the unstable sparsity verdict</a:t>
            </a:r>
          </a:p>
        </p:txBody>
      </p:sp>
      <p:sp>
        <p:nvSpPr>
          <p:cNvPr id="9" name="•">
            <a:extLst xmlns:a="http://schemas.openxmlformats.org/drawingml/2006/main">
              <a:ext uri="{FF2B5EF4-FFF2-40B4-BE49-F238E27FC236}">
                <a16:creationId xmlns:a16="http://schemas.microsoft.com/office/drawing/2014/main" id="{E7E916B5-FC19-46B8-9CE5-0159B116B48C}"/>
              </a:ext>
            </a:extLst>
          </p:cNvPr>
          <p:cNvSpPr>
            <a:spLocks xmlns:a="http://schemas.openxmlformats.org/drawingml/2006/main" noGrp="1"/>
          </p:cNvSpPr>
          <p:nvPr/>
        </p:nvSpPr>
        <p:spPr>
          <a:xfrm xmlns:a="http://schemas.openxmlformats.org/drawingml/2006/main">
            <a:off x="666750" y="4152900"/>
            <a:ext cx="209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8A7A0"/>
                </a:solidFill>
                <a:latin typeface="Liberation Sans"/>
                <a:ea typeface="Liberation Sans"/>
                <a:cs typeface="Liberation Sans"/>
              </a:defRPr>
            </a:pPr>
            <a:r>
              <a:rPr sz="2100" b="1">
                <a:solidFill>
                  <a:srgbClr val="18A7A0"/>
                </a:solidFill>
                <a:latin typeface="Liberation Sans"/>
                <a:ea typeface="Liberation Sans"/>
                <a:cs typeface="Liberation Sans"/>
              </a:rPr>
              <a:t>•</a:t>
            </a:r>
          </a:p>
        </p:txBody>
      </p:sp>
      <p:sp>
        <p:nvSpPr>
          <p:cNvPr id="10" name="Test whether the selected heads also mediate ">
            <a:extLst xmlns:a="http://schemas.openxmlformats.org/drawingml/2006/main">
              <a:ext uri="{FF2B5EF4-FFF2-40B4-BE49-F238E27FC236}">
                <a16:creationId xmlns:a16="http://schemas.microsoft.com/office/drawing/2014/main" id="{1B112F85-66E2-41B5-8C71-CB698E0B03A2}"/>
              </a:ext>
            </a:extLst>
          </p:cNvPr>
          <p:cNvSpPr>
            <a:spLocks xmlns:a="http://schemas.openxmlformats.org/drawingml/2006/main" noGrp="1"/>
          </p:cNvSpPr>
          <p:nvPr/>
        </p:nvSpPr>
        <p:spPr>
          <a:xfrm xmlns:a="http://schemas.openxmlformats.org/drawingml/2006/main">
            <a:off x="971550" y="4152900"/>
            <a:ext cx="10515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7243A"/>
                </a:solidFill>
                <a:latin typeface="Liberation Sans"/>
                <a:ea typeface="Liberation Sans"/>
                <a:cs typeface="Liberation Sans"/>
              </a:defRPr>
            </a:pPr>
            <a:r>
              <a:rPr sz="2100" b="0">
                <a:solidFill>
                  <a:srgbClr val="17243A"/>
                </a:solidFill>
                <a:latin typeface="Liberation Sans"/>
                <a:ea typeface="Liberation Sans"/>
                <a:cs typeface="Liberation Sans"/>
              </a:rPr>
              <a:t>Test whether the selected heads also mediate semantic image changes</a:t>
            </a:r>
          </a:p>
        </p:txBody>
      </p:sp>
      <p:sp>
        <p:nvSpPr>
          <p:cNvPr id="11" name="•">
            <a:extLst xmlns:a="http://schemas.openxmlformats.org/drawingml/2006/main">
              <a:ext uri="{FF2B5EF4-FFF2-40B4-BE49-F238E27FC236}">
                <a16:creationId xmlns:a16="http://schemas.microsoft.com/office/drawing/2014/main" id="{2425FF9D-3C49-432D-9D27-3C945F6A9D0D}"/>
              </a:ext>
            </a:extLst>
          </p:cNvPr>
          <p:cNvSpPr>
            <a:spLocks xmlns:a="http://schemas.openxmlformats.org/drawingml/2006/main" noGrp="1"/>
          </p:cNvSpPr>
          <p:nvPr/>
        </p:nvSpPr>
        <p:spPr>
          <a:xfrm xmlns:a="http://schemas.openxmlformats.org/drawingml/2006/main">
            <a:off x="666750" y="4972050"/>
            <a:ext cx="209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8A7A0"/>
                </a:solidFill>
                <a:latin typeface="Liberation Sans"/>
                <a:ea typeface="Liberation Sans"/>
                <a:cs typeface="Liberation Sans"/>
              </a:defRPr>
            </a:pPr>
            <a:r>
              <a:rPr sz="2100" b="1">
                <a:solidFill>
                  <a:srgbClr val="18A7A0"/>
                </a:solidFill>
                <a:latin typeface="Liberation Sans"/>
                <a:ea typeface="Liberation Sans"/>
                <a:cs typeface="Liberation Sans"/>
              </a:rPr>
              <a:t>•</a:t>
            </a:r>
          </a:p>
        </p:txBody>
      </p:sp>
      <p:sp>
        <p:nvSpPr>
          <p:cNvPr id="12" name="Extend beyond correct-pair CLEVR cases and Qw">
            <a:extLst xmlns:a="http://schemas.openxmlformats.org/drawingml/2006/main">
              <a:ext uri="{FF2B5EF4-FFF2-40B4-BE49-F238E27FC236}">
                <a16:creationId xmlns:a16="http://schemas.microsoft.com/office/drawing/2014/main" id="{3F22B5BE-4BDD-44EB-A56E-0ECF9A50F727}"/>
              </a:ext>
            </a:extLst>
          </p:cNvPr>
          <p:cNvSpPr>
            <a:spLocks xmlns:a="http://schemas.openxmlformats.org/drawingml/2006/main" noGrp="1"/>
          </p:cNvSpPr>
          <p:nvPr/>
        </p:nvSpPr>
        <p:spPr>
          <a:xfrm xmlns:a="http://schemas.openxmlformats.org/drawingml/2006/main">
            <a:off x="971550" y="4972050"/>
            <a:ext cx="10515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7243A"/>
                </a:solidFill>
                <a:latin typeface="Liberation Sans"/>
                <a:ea typeface="Liberation Sans"/>
                <a:cs typeface="Liberation Sans"/>
              </a:defRPr>
            </a:pPr>
            <a:r>
              <a:rPr sz="2100" b="0">
                <a:solidFill>
                  <a:srgbClr val="17243A"/>
                </a:solidFill>
                <a:latin typeface="Liberation Sans"/>
                <a:ea typeface="Liberation Sans"/>
                <a:cs typeface="Liberation Sans"/>
              </a:rPr>
              <a:t>Extend beyond correct-pair CLEVR cases and Qwen-lineage backbones</a:t>
            </a:r>
          </a:p>
        </p:txBody>
      </p:sp>
      <p:sp>
        <p:nvSpPr>
          <p:cNvPr id="13" name="The current evidence identifies causal sites,">
            <a:extLst xmlns:a="http://schemas.openxmlformats.org/drawingml/2006/main">
              <a:ext uri="{FF2B5EF4-FFF2-40B4-BE49-F238E27FC236}">
                <a16:creationId xmlns:a16="http://schemas.microsoft.com/office/drawing/2014/main" id="{F43F22C2-D923-452A-9067-2ED7BF2058A6}"/>
              </a:ext>
            </a:extLst>
          </p:cNvPr>
          <p:cNvSpPr>
            <a:spLocks xmlns:a="http://schemas.openxmlformats.org/drawingml/2006/main" noGrp="1"/>
          </p:cNvSpPr>
          <p:nvPr/>
        </p:nvSpPr>
        <p:spPr>
          <a:xfrm xmlns:a="http://schemas.openxmlformats.org/drawingml/2006/main">
            <a:off x="666750" y="5876925"/>
            <a:ext cx="10829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C667A"/>
                </a:solidFill>
                <a:latin typeface="Liberation Sans"/>
                <a:ea typeface="Liberation Sans"/>
                <a:cs typeface="Liberation Sans"/>
              </a:defRPr>
            </a:pPr>
            <a:r>
              <a:rPr sz="1875" b="0">
                <a:solidFill>
                  <a:srgbClr val="5C667A"/>
                </a:solidFill>
                <a:latin typeface="Liberation Sans"/>
                <a:ea typeface="Liberation Sans"/>
                <a:cs typeface="Liberation Sans"/>
              </a:rPr>
              <a:t>The current evidence identifies causal sites, with a complete circuit still open</a:t>
            </a:r>
          </a:p>
        </p:txBody>
      </p:sp>
    </p:spTree>
    <p:extLst>
      <p:ext uri="{BB962C8B-B14F-4D97-AF65-F5344CB8AC3E}">
        <p14:creationId xmlns:p14="http://schemas.microsoft.com/office/powerpoint/2010/main" val="1530940598"/>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Controlled dataset and actual sample units">
            <a:extLst xmlns:a="http://schemas.openxmlformats.org/drawingml/2006/main">
              <a:ext uri="{FF2B5EF4-FFF2-40B4-BE49-F238E27FC236}">
                <a16:creationId xmlns:a16="http://schemas.microsoft.com/office/drawing/2014/main" id="{B88FADB9-6123-421F-8918-E13D0207E1E8}"/>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Controlled dataset and actual sample units</a:t>
            </a:r>
          </a:p>
        </p:txBody>
      </p:sp>
      <p:sp>
        <p:nvSpPr>
          <p:cNvPr id="2" name="">
            <a:extLst xmlns:a="http://schemas.openxmlformats.org/drawingml/2006/main">
              <a:ext uri="{FF2B5EF4-FFF2-40B4-BE49-F238E27FC236}">
                <a16:creationId xmlns:a16="http://schemas.microsoft.com/office/drawing/2014/main" id="{3DEC5642-9631-4FD4-A91D-2007A4EE39A6}"/>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ANLP mid-submission / 2 October 2026">
            <a:extLst xmlns:a="http://schemas.openxmlformats.org/drawingml/2006/main">
              <a:ext uri="{FF2B5EF4-FFF2-40B4-BE49-F238E27FC236}">
                <a16:creationId xmlns:a16="http://schemas.microsoft.com/office/drawing/2014/main" id="{BA4DACA9-5A0A-46BE-BCDB-A73887C0E92B}"/>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ANLP mid-submission / 2 October 2026</a:t>
            </a:r>
          </a:p>
        </p:txBody>
      </p:sp>
      <p:sp>
        <p:nvSpPr>
          <p:cNvPr id="4" name="20">
            <a:extLst xmlns:a="http://schemas.openxmlformats.org/drawingml/2006/main">
              <a:ext uri="{FF2B5EF4-FFF2-40B4-BE49-F238E27FC236}">
                <a16:creationId xmlns:a16="http://schemas.microsoft.com/office/drawing/2014/main" id="{8374D77D-2DEA-4B18-8FEF-971673EC5314}"/>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20</a:t>
            </a:r>
          </a:p>
        </p:txBody>
      </p:sp>
      <p:graphicFrame>
        <p:nvGraphicFramePr>
          <p:cNvPr id="15" name=""/>
          <p:cNvGraphicFramePr/>
          <p:nvPr/>
        </p:nvGraphicFramePr>
        <p:xfrm>
          <a:off xmlns:a="http://schemas.openxmlformats.org/drawingml/2006/main" x="628650" y="1352550"/>
          <a:ext xmlns:a="http://schemas.openxmlformats.org/drawingml/2006/main" cx="7143750" cy="3952875"/>
        </p:xfrm>
        <a:graphic xmlns:a="http://schemas.openxmlformats.org/drawingml/2006/main">
          <a:graphicData uri="http://schemas.openxmlformats.org/drawingml/2006/table">
            <a:tbl>
              <a:tblPr/>
              <a:tblGrid>
                <a:gridCol w="2571750"/>
                <a:gridCol w="2333625"/>
                <a:gridCol w="2238375"/>
              </a:tblGrid>
              <a:tr h="564696">
                <a:tc>
                  <a:txBody>
                    <a:bodyPr lIns="114300" tIns="85725" rIns="95250" bIns="85725"/>
                    <a:lstStyle/>
                    <a:p>
                      <a:r>
                        <a:rPr sz="1725" b="1">
                          <a:solidFill>
                            <a:srgbClr val="FFFFFF"/>
                          </a:solidFill>
                          <a:latin typeface="Liberation Sans"/>
                          <a:ea typeface="Liberation Sans"/>
                          <a:cs typeface="Liberation Sans"/>
                        </a:rPr>
                        <a:t>Release split</a:t>
                      </a:r>
                    </a:p>
                  </a:txBody>
                  <a:tcPr marL="91440" marR="91440" marT="45720" marB="45720" anchor="ctr">
                    <a:solidFill>
                      <a:srgbClr val="17243A"/>
                    </a:solidFill>
                  </a:tcPr>
                </a:tc>
                <a:tc>
                  <a:txBody>
                    <a:bodyPr lIns="114300" tIns="85725" rIns="95250" bIns="85725"/>
                    <a:lstStyle/>
                    <a:p>
                      <a:r>
                        <a:rPr sz="1725" b="1">
                          <a:solidFill>
                            <a:srgbClr val="FFFFFF"/>
                          </a:solidFill>
                          <a:latin typeface="Liberation Sans"/>
                          <a:ea typeface="Liberation Sans"/>
                          <a:cs typeface="Liberation Sans"/>
                        </a:rPr>
                        <a:t>Image-question items</a:t>
                      </a:r>
                    </a:p>
                  </a:txBody>
                  <a:tcPr marL="91440" marR="91440" marT="45720" marB="45720" anchor="ctr">
                    <a:solidFill>
                      <a:srgbClr val="17243A"/>
                    </a:solidFill>
                  </a:tcPr>
                </a:tc>
                <a:tc>
                  <a:txBody>
                    <a:bodyPr lIns="114300" tIns="85725" rIns="95250" bIns="85725"/>
                    <a:lstStyle/>
                    <a:p>
                      <a:r>
                        <a:rPr sz="1725" b="1">
                          <a:solidFill>
                            <a:srgbClr val="FFFFFF"/>
                          </a:solidFill>
                          <a:latin typeface="Liberation Sans"/>
                          <a:ea typeface="Liberation Sans"/>
                          <a:cs typeface="Liberation Sans"/>
                        </a:rPr>
                        <a:t>Counterfactual pairs</a:t>
                      </a:r>
                    </a:p>
                  </a:txBody>
                  <a:tcPr marL="91440" marR="91440" marT="45720" marB="45720" anchor="ctr">
                    <a:solidFill>
                      <a:srgbClr val="17243A"/>
                    </a:solidFill>
                  </a:tcPr>
                </a:tc>
              </a:tr>
              <a:tr h="564696">
                <a:tc>
                  <a:txBody>
                    <a:bodyPr lIns="114300" tIns="85725" rIns="95250" bIns="85725"/>
                    <a:lstStyle/>
                    <a:p>
                      <a:r>
                        <a:rPr sz="1725" b="0">
                          <a:solidFill>
                            <a:srgbClr val="17243A"/>
                          </a:solidFill>
                          <a:latin typeface="Liberation Sans"/>
                          <a:ea typeface="Liberation Sans"/>
                          <a:cs typeface="Liberation Sans"/>
                        </a:rPr>
                        <a:t>Calibration</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120</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a:t>
                      </a:r>
                    </a:p>
                  </a:txBody>
                  <a:tcPr marL="91440" marR="91440" marT="45720" marB="45720" anchor="ctr">
                    <a:solidFill>
                      <a:srgbClr val="FFFFFF"/>
                    </a:solidFill>
                  </a:tcPr>
                </a:tc>
              </a:tr>
              <a:tr h="564696">
                <a:tc>
                  <a:txBody>
                    <a:bodyPr lIns="114300" tIns="85725" rIns="95250" bIns="85725"/>
                    <a:lstStyle/>
                    <a:p>
                      <a:r>
                        <a:rPr sz="1725" b="0">
                          <a:solidFill>
                            <a:srgbClr val="17243A"/>
                          </a:solidFill>
                          <a:latin typeface="Liberation Sans"/>
                          <a:ea typeface="Liberation Sans"/>
                          <a:cs typeface="Liberation Sans"/>
                        </a:rPr>
                        <a:t>Screening</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300</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a:t>
                      </a:r>
                    </a:p>
                  </a:txBody>
                  <a:tcPr marL="91440" marR="91440" marT="45720" marB="45720" anchor="ctr">
                    <a:solidFill>
                      <a:srgbClr val="E9EEF6"/>
                    </a:solidFill>
                  </a:tcPr>
                </a:tc>
              </a:tr>
              <a:tr h="564696">
                <a:tc>
                  <a:txBody>
                    <a:bodyPr lIns="114300" tIns="85725" rIns="95250" bIns="85725"/>
                    <a:lstStyle/>
                    <a:p>
                      <a:r>
                        <a:rPr sz="1725" b="0">
                          <a:solidFill>
                            <a:srgbClr val="17243A"/>
                          </a:solidFill>
                          <a:latin typeface="Liberation Sans"/>
                          <a:ea typeface="Liberation Sans"/>
                          <a:cs typeface="Liberation Sans"/>
                        </a:rPr>
                        <a:t>Behavior</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256</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a:t>
                      </a:r>
                    </a:p>
                  </a:txBody>
                  <a:tcPr marL="91440" marR="91440" marT="45720" marB="45720" anchor="ctr">
                    <a:solidFill>
                      <a:srgbClr val="FFFFFF"/>
                    </a:solidFill>
                  </a:tcPr>
                </a:tc>
              </a:tr>
              <a:tr h="564696">
                <a:tc>
                  <a:txBody>
                    <a:bodyPr lIns="114300" tIns="85725" rIns="95250" bIns="85725"/>
                    <a:lstStyle/>
                    <a:p>
                      <a:r>
                        <a:rPr sz="1725" b="0">
                          <a:solidFill>
                            <a:srgbClr val="17243A"/>
                          </a:solidFill>
                          <a:latin typeface="Liberation Sans"/>
                          <a:ea typeface="Liberation Sans"/>
                          <a:cs typeface="Liberation Sans"/>
                        </a:rPr>
                        <a:t>Discovery</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320</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160</a:t>
                      </a:r>
                    </a:p>
                  </a:txBody>
                  <a:tcPr marL="91440" marR="91440" marT="45720" marB="45720" anchor="ctr">
                    <a:solidFill>
                      <a:srgbClr val="E9EEF6"/>
                    </a:solidFill>
                  </a:tcPr>
                </a:tc>
              </a:tr>
              <a:tr h="564696">
                <a:tc>
                  <a:txBody>
                    <a:bodyPr lIns="114300" tIns="85725" rIns="95250" bIns="85725"/>
                    <a:lstStyle/>
                    <a:p>
                      <a:r>
                        <a:rPr sz="1725" b="0">
                          <a:solidFill>
                            <a:srgbClr val="17243A"/>
                          </a:solidFill>
                          <a:latin typeface="Liberation Sans"/>
                          <a:ea typeface="Liberation Sans"/>
                          <a:cs typeface="Liberation Sans"/>
                        </a:rPr>
                        <a:t>Confirmation</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256</a:t>
                      </a:r>
                    </a:p>
                  </a:txBody>
                  <a:tcPr marL="91440" marR="91440" marT="45720" marB="45720" anchor="ctr">
                    <a:solidFill>
                      <a:srgbClr val="FFFFFF"/>
                    </a:solidFill>
                  </a:tcPr>
                </a:tc>
                <a:tc>
                  <a:txBody>
                    <a:bodyPr lIns="114300" tIns="85725" rIns="95250" bIns="85725"/>
                    <a:lstStyle/>
                    <a:p>
                      <a:r>
                        <a:rPr sz="1725" b="0">
                          <a:solidFill>
                            <a:srgbClr val="17243A"/>
                          </a:solidFill>
                          <a:latin typeface="Liberation Sans"/>
                          <a:ea typeface="Liberation Sans"/>
                          <a:cs typeface="Liberation Sans"/>
                        </a:rPr>
                        <a:t>128</a:t>
                      </a:r>
                    </a:p>
                  </a:txBody>
                  <a:tcPr marL="91440" marR="91440" marT="45720" marB="45720" anchor="ctr">
                    <a:solidFill>
                      <a:srgbClr val="FFFFFF"/>
                    </a:solidFill>
                  </a:tcPr>
                </a:tc>
              </a:tr>
              <a:tr h="564696">
                <a:tc>
                  <a:txBody>
                    <a:bodyPr lIns="114300" tIns="85725" rIns="95250" bIns="85725"/>
                    <a:lstStyle/>
                    <a:p>
                      <a:r>
                        <a:rPr sz="1725" b="0">
                          <a:solidFill>
                            <a:srgbClr val="17243A"/>
                          </a:solidFill>
                          <a:latin typeface="Liberation Sans"/>
                          <a:ea typeface="Liberation Sans"/>
                          <a:cs typeface="Liberation Sans"/>
                        </a:rPr>
                        <a:t>Total release</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1,252</a:t>
                      </a:r>
                    </a:p>
                  </a:txBody>
                  <a:tcPr marL="91440" marR="91440" marT="45720" marB="45720" anchor="ctr">
                    <a:solidFill>
                      <a:srgbClr val="E9EEF6"/>
                    </a:solidFill>
                  </a:tcPr>
                </a:tc>
                <a:tc>
                  <a:txBody>
                    <a:bodyPr lIns="114300" tIns="85725" rIns="95250" bIns="85725"/>
                    <a:lstStyle/>
                    <a:p>
                      <a:r>
                        <a:rPr sz="1725" b="0">
                          <a:solidFill>
                            <a:srgbClr val="17243A"/>
                          </a:solidFill>
                          <a:latin typeface="Liberation Sans"/>
                          <a:ea typeface="Liberation Sans"/>
                          <a:cs typeface="Liberation Sans"/>
                        </a:rPr>
                        <a:t>288</a:t>
                      </a:r>
                    </a:p>
                  </a:txBody>
                  <a:tcPr marL="91440" marR="91440" marT="45720" marB="45720" anchor="ctr">
                    <a:solidFill>
                      <a:srgbClr val="E9EEF6"/>
                    </a:solidFill>
                  </a:tcPr>
                </a:tc>
              </a:tr>
            </a:tbl>
          </a:graphicData>
        </a:graphic>
      </p:graphicFrame>
      <p:sp>
        <p:nvSpPr>
          <p:cNvPr id="6" name="3,000 source images">
            <a:extLst xmlns:a="http://schemas.openxmlformats.org/drawingml/2006/main">
              <a:ext uri="{FF2B5EF4-FFF2-40B4-BE49-F238E27FC236}">
                <a16:creationId xmlns:a16="http://schemas.microsoft.com/office/drawing/2014/main" id="{3A6B13ED-27DA-48AF-A735-EC7DD4C323D5}"/>
              </a:ext>
            </a:extLst>
          </p:cNvPr>
          <p:cNvSpPr>
            <a:spLocks xmlns:a="http://schemas.openxmlformats.org/drawingml/2006/main" noGrp="1"/>
          </p:cNvSpPr>
          <p:nvPr/>
        </p:nvSpPr>
        <p:spPr>
          <a:xfrm xmlns:a="http://schemas.openxmlformats.org/drawingml/2006/main">
            <a:off x="8210550" y="145732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967D2"/>
                </a:solidFill>
                <a:latin typeface="Liberation Sans"/>
                <a:ea typeface="Liberation Sans"/>
                <a:cs typeface="Liberation Sans"/>
              </a:defRPr>
            </a:pPr>
            <a:r>
              <a:rPr sz="2100" b="1">
                <a:solidFill>
                  <a:srgbClr val="1967D2"/>
                </a:solidFill>
                <a:latin typeface="Liberation Sans"/>
                <a:ea typeface="Liberation Sans"/>
                <a:cs typeface="Liberation Sans"/>
              </a:rPr>
              <a:t>3,000 source images</a:t>
            </a:r>
          </a:p>
        </p:txBody>
      </p:sp>
      <p:sp>
        <p:nvSpPr>
          <p:cNvPr id="7" name="676 official singles&#10;576 rendered pair member">
            <a:extLst xmlns:a="http://schemas.openxmlformats.org/drawingml/2006/main">
              <a:ext uri="{FF2B5EF4-FFF2-40B4-BE49-F238E27FC236}">
                <a16:creationId xmlns:a16="http://schemas.microsoft.com/office/drawing/2014/main" id="{4B25FDB8-6F74-4C21-8AC3-9506BF16160C}"/>
              </a:ext>
            </a:extLst>
          </p:cNvPr>
          <p:cNvSpPr>
            <a:spLocks xmlns:a="http://schemas.openxmlformats.org/drawingml/2006/main" noGrp="1"/>
          </p:cNvSpPr>
          <p:nvPr/>
        </p:nvSpPr>
        <p:spPr>
          <a:xfrm xmlns:a="http://schemas.openxmlformats.org/drawingml/2006/main">
            <a:off x="8210550" y="20669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43A"/>
                </a:solidFill>
                <a:latin typeface="Liberation Sans"/>
                <a:ea typeface="Liberation Sans"/>
                <a:cs typeface="Liberation Sans"/>
              </a:defRPr>
            </a:pPr>
            <a:r>
              <a:rPr sz="1950" b="0">
                <a:solidFill>
                  <a:srgbClr val="17243A"/>
                </a:solidFill>
                <a:latin typeface="Liberation Sans"/>
                <a:ea typeface="Liberation Sans"/>
                <a:cs typeface="Liberation Sans"/>
              </a:rPr>
              <a:t>676 official singles</a:t>
            </a:r>
          </a:p>
          <a:p xmlns:a="http://schemas.openxmlformats.org/drawingml/2006/main">
            <a:pPr algn="l">
              <a:defRPr sz="1950" b="0">
                <a:solidFill>
                  <a:srgbClr val="17243A"/>
                </a:solidFill>
                <a:latin typeface="Liberation Sans"/>
                <a:ea typeface="Liberation Sans"/>
                <a:cs typeface="Liberation Sans"/>
              </a:defRPr>
            </a:pPr>
            <a:r>
              <a:rPr sz="1950" b="0">
                <a:solidFill>
                  <a:srgbClr val="17243A"/>
                </a:solidFill>
                <a:latin typeface="Liberation Sans"/>
                <a:ea typeface="Liberation Sans"/>
                <a:cs typeface="Liberation Sans"/>
              </a:rPr>
              <a:t>576 rendered pair members</a:t>
            </a:r>
          </a:p>
        </p:txBody>
      </p:sp>
      <p:sp>
        <p:nvSpPr>
          <p:cNvPr id="8" name="9 question families&#10;4 meaningful options&#10;3 ma">
            <a:extLst xmlns:a="http://schemas.openxmlformats.org/drawingml/2006/main">
              <a:ext uri="{FF2B5EF4-FFF2-40B4-BE49-F238E27FC236}">
                <a16:creationId xmlns:a16="http://schemas.microsoft.com/office/drawing/2014/main" id="{8AFC8168-79AB-4BBE-800D-E9AC9F35D653}"/>
              </a:ext>
            </a:extLst>
          </p:cNvPr>
          <p:cNvSpPr>
            <a:spLocks xmlns:a="http://schemas.openxmlformats.org/drawingml/2006/main" noGrp="1"/>
          </p:cNvSpPr>
          <p:nvPr/>
        </p:nvSpPr>
        <p:spPr>
          <a:xfrm xmlns:a="http://schemas.openxmlformats.org/drawingml/2006/main">
            <a:off x="8210550" y="32480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43A"/>
                </a:solidFill>
                <a:latin typeface="Liberation Sans"/>
                <a:ea typeface="Liberation Sans"/>
                <a:cs typeface="Liberation Sans"/>
              </a:defRPr>
            </a:pPr>
            <a:r>
              <a:rPr sz="1950" b="0">
                <a:solidFill>
                  <a:srgbClr val="17243A"/>
                </a:solidFill>
                <a:latin typeface="Liberation Sans"/>
                <a:ea typeface="Liberation Sans"/>
                <a:cs typeface="Liberation Sans"/>
              </a:rPr>
              <a:t>9 question families</a:t>
            </a:r>
          </a:p>
          <a:p xmlns:a="http://schemas.openxmlformats.org/drawingml/2006/main">
            <a:pPr algn="l">
              <a:defRPr sz="1950" b="0">
                <a:solidFill>
                  <a:srgbClr val="17243A"/>
                </a:solidFill>
                <a:latin typeface="Liberation Sans"/>
                <a:ea typeface="Liberation Sans"/>
                <a:cs typeface="Liberation Sans"/>
              </a:defRPr>
            </a:pPr>
            <a:r>
              <a:rPr sz="1950" b="0">
                <a:solidFill>
                  <a:srgbClr val="17243A"/>
                </a:solidFill>
                <a:latin typeface="Liberation Sans"/>
                <a:ea typeface="Liberation Sans"/>
                <a:cs typeface="Liberation Sans"/>
              </a:rPr>
              <a:t>4 meaningful options</a:t>
            </a:r>
          </a:p>
          <a:p xmlns:a="http://schemas.openxmlformats.org/drawingml/2006/main">
            <a:pPr algn="l">
              <a:defRPr sz="1950" b="0">
                <a:solidFill>
                  <a:srgbClr val="17243A"/>
                </a:solidFill>
                <a:latin typeface="Liberation Sans"/>
                <a:ea typeface="Liberation Sans"/>
                <a:cs typeface="Liberation Sans"/>
              </a:defRPr>
            </a:pPr>
            <a:r>
              <a:rPr sz="1950" b="0">
                <a:solidFill>
                  <a:srgbClr val="17243A"/>
                </a:solidFill>
                <a:latin typeface="Liberation Sans"/>
                <a:ea typeface="Liberation Sans"/>
                <a:cs typeface="Liberation Sans"/>
              </a:rPr>
              <a:t>3 main alphabets</a:t>
            </a:r>
          </a:p>
        </p:txBody>
      </p:sp>
      <p:sp>
        <p:nvSpPr>
          <p:cNvPr id="9" name="17,328 prompt variants&#10;14,400 directed contra">
            <a:extLst xmlns:a="http://schemas.openxmlformats.org/drawingml/2006/main">
              <a:ext uri="{FF2B5EF4-FFF2-40B4-BE49-F238E27FC236}">
                <a16:creationId xmlns:a16="http://schemas.microsoft.com/office/drawing/2014/main" id="{ACF73374-5F4D-4710-8B57-D150C3655E03}"/>
              </a:ext>
            </a:extLst>
          </p:cNvPr>
          <p:cNvSpPr>
            <a:spLocks xmlns:a="http://schemas.openxmlformats.org/drawingml/2006/main" noGrp="1"/>
          </p:cNvSpPr>
          <p:nvPr/>
        </p:nvSpPr>
        <p:spPr>
          <a:xfrm xmlns:a="http://schemas.openxmlformats.org/drawingml/2006/main">
            <a:off x="8210550" y="47148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C667A"/>
                </a:solidFill>
                <a:latin typeface="Liberation Sans"/>
                <a:ea typeface="Liberation Sans"/>
                <a:cs typeface="Liberation Sans"/>
              </a:defRPr>
            </a:pPr>
            <a:r>
              <a:rPr sz="1800" b="0">
                <a:solidFill>
                  <a:srgbClr val="5C667A"/>
                </a:solidFill>
                <a:latin typeface="Liberation Sans"/>
                <a:ea typeface="Liberation Sans"/>
                <a:cs typeface="Liberation Sans"/>
              </a:rPr>
              <a:t>17,328 prompt variants</a:t>
            </a:r>
          </a:p>
          <a:p xmlns:a="http://schemas.openxmlformats.org/drawingml/2006/main">
            <a:pPr algn="l">
              <a:defRPr sz="1800" b="0">
                <a:solidFill>
                  <a:srgbClr val="5C667A"/>
                </a:solidFill>
                <a:latin typeface="Liberation Sans"/>
                <a:ea typeface="Liberation Sans"/>
                <a:cs typeface="Liberation Sans"/>
              </a:defRPr>
            </a:pPr>
            <a:r>
              <a:rPr sz="1800" b="0">
                <a:solidFill>
                  <a:srgbClr val="5C667A"/>
                </a:solidFill>
                <a:latin typeface="Liberation Sans"/>
                <a:ea typeface="Liberation Sans"/>
                <a:cs typeface="Liberation Sans"/>
              </a:rPr>
              <a:t>14,400 directed contrasts</a:t>
            </a:r>
          </a:p>
        </p:txBody>
      </p:sp>
      <p:sp>
        <p:nvSpPr>
          <p:cNvPr id="10" name="Causal samples: Qwen 64 pairs per split, Inte">
            <a:extLst xmlns:a="http://schemas.openxmlformats.org/drawingml/2006/main">
              <a:ext uri="{FF2B5EF4-FFF2-40B4-BE49-F238E27FC236}">
                <a16:creationId xmlns:a16="http://schemas.microsoft.com/office/drawing/2014/main" id="{83B6A438-B18B-4DE4-9D8D-370849CB64A8}"/>
              </a:ext>
            </a:extLst>
          </p:cNvPr>
          <p:cNvSpPr>
            <a:spLocks xmlns:a="http://schemas.openxmlformats.org/drawingml/2006/main" noGrp="1"/>
          </p:cNvSpPr>
          <p:nvPr/>
        </p:nvSpPr>
        <p:spPr>
          <a:xfrm xmlns:a="http://schemas.openxmlformats.org/drawingml/2006/main">
            <a:off x="647700" y="56483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43A"/>
                </a:solidFill>
                <a:latin typeface="Liberation Sans"/>
                <a:ea typeface="Liberation Sans"/>
                <a:cs typeface="Liberation Sans"/>
              </a:defRPr>
            </a:pPr>
            <a:r>
              <a:rPr sz="1950" b="0">
                <a:solidFill>
                  <a:srgbClr val="17243A"/>
                </a:solidFill>
                <a:latin typeface="Liberation Sans"/>
                <a:ea typeface="Liberation Sans"/>
                <a:cs typeface="Liberation Sans"/>
              </a:rPr>
              <a:t>Causal samples: Qwen 64 pairs per split, InternVL 32 pairs per split (preliminary)</a:t>
            </a:r>
          </a:p>
        </p:txBody>
      </p:sp>
    </p:spTree>
    <p:extLst>
      <p:ext uri="{BB962C8B-B14F-4D97-AF65-F5344CB8AC3E}">
        <p14:creationId xmlns:p14="http://schemas.microsoft.com/office/powerpoint/2010/main" val="170865317"/>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Activation patching and normalized recovery">
            <a:extLst xmlns:a="http://schemas.openxmlformats.org/drawingml/2006/main">
              <a:ext uri="{FF2B5EF4-FFF2-40B4-BE49-F238E27FC236}">
                <a16:creationId xmlns:a16="http://schemas.microsoft.com/office/drawing/2014/main" id="{139BB1E8-6CF5-471C-AFAE-C108AD57B60D}"/>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Activation patching and normalized recovery</a:t>
            </a:r>
          </a:p>
        </p:txBody>
      </p:sp>
      <p:sp>
        <p:nvSpPr>
          <p:cNvPr id="2" name="">
            <a:extLst xmlns:a="http://schemas.openxmlformats.org/drawingml/2006/main">
              <a:ext uri="{FF2B5EF4-FFF2-40B4-BE49-F238E27FC236}">
                <a16:creationId xmlns:a16="http://schemas.microsoft.com/office/drawing/2014/main" id="{8F144914-656A-4CE9-A3C2-2634A7AB21B4}"/>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ANLP mid-submission / 2 October 2026">
            <a:extLst xmlns:a="http://schemas.openxmlformats.org/drawingml/2006/main">
              <a:ext uri="{FF2B5EF4-FFF2-40B4-BE49-F238E27FC236}">
                <a16:creationId xmlns:a16="http://schemas.microsoft.com/office/drawing/2014/main" id="{39545F53-D6DD-4789-B870-32B895B0B8F8}"/>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ANLP mid-submission / 2 October 2026</a:t>
            </a:r>
          </a:p>
        </p:txBody>
      </p:sp>
      <p:sp>
        <p:nvSpPr>
          <p:cNvPr id="4" name="21">
            <a:extLst xmlns:a="http://schemas.openxmlformats.org/drawingml/2006/main">
              <a:ext uri="{FF2B5EF4-FFF2-40B4-BE49-F238E27FC236}">
                <a16:creationId xmlns:a16="http://schemas.microsoft.com/office/drawing/2014/main" id="{0FB386F6-44CD-4FE2-9A61-059B87FAC437}"/>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21</a:t>
            </a:r>
          </a:p>
        </p:txBody>
      </p:sp>
      <p:sp>
        <p:nvSpPr>
          <p:cNvPr id="5" name="">
            <a:extLst xmlns:a="http://schemas.openxmlformats.org/drawingml/2006/main">
              <a:ext uri="{FF2B5EF4-FFF2-40B4-BE49-F238E27FC236}">
                <a16:creationId xmlns:a16="http://schemas.microsoft.com/office/drawing/2014/main" id="{BE816FAC-F9B3-42D0-885F-CBFBEBC6A913}"/>
              </a:ext>
            </a:extLst>
          </p:cNvPr>
          <p:cNvSpPr>
            <a:spLocks xmlns:a="http://schemas.openxmlformats.org/drawingml/2006/main" noGrp="1"/>
          </p:cNvSpPr>
          <p:nvPr/>
        </p:nvSpPr>
        <p:spPr>
          <a:xfrm xmlns:a="http://schemas.openxmlformats.org/drawingml/2006/main">
            <a:off x="628650" y="1362075"/>
            <a:ext cx="5038725" cy="2390775"/>
          </a:xfrm>
          <a:prstGeom xmlns:a="http://schemas.openxmlformats.org/drawingml/2006/main" prst="roundRect">
            <a:avLst>
              <a:gd name="adj" fmla="val 3984"/>
            </a:avLst>
          </a:prstGeom>
          <a:solidFill xmlns:a="http://schemas.openxmlformats.org/drawingml/2006/main">
            <a:srgbClr val="E9EE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FE17716-FD00-4439-B0F8-9D355A3F8693}"/>
              </a:ext>
            </a:extLst>
          </p:cNvPr>
          <p:cNvSpPr>
            <a:spLocks xmlns:a="http://schemas.openxmlformats.org/drawingml/2006/main" noGrp="1"/>
          </p:cNvSpPr>
          <p:nvPr/>
        </p:nvSpPr>
        <p:spPr>
          <a:xfrm xmlns:a="http://schemas.openxmlformats.org/drawingml/2006/main">
            <a:off x="6286500" y="1362075"/>
            <a:ext cx="5238750" cy="2390775"/>
          </a:xfrm>
          <a:prstGeom xmlns:a="http://schemas.openxmlformats.org/drawingml/2006/main" prst="roundRect">
            <a:avLst>
              <a:gd name="adj" fmla="val 3984"/>
            </a:avLst>
          </a:prstGeom>
          <a:solidFill xmlns:a="http://schemas.openxmlformats.org/drawingml/2006/main">
            <a:srgbClr val="E8F3F2"/>
          </a:solidFill>
          <a:ln xmlns:a="http://schemas.openxmlformats.org/drawingml/2006/main" w="0">
            <a:noFill/>
          </a:ln>
        </p:spPr>
      </p:sp>
      <p:sp>
        <p:nvSpPr>
          <p:cNvPr id="7" name="Donor execution">
            <a:extLst xmlns:a="http://schemas.openxmlformats.org/drawingml/2006/main">
              <a:ext uri="{FF2B5EF4-FFF2-40B4-BE49-F238E27FC236}">
                <a16:creationId xmlns:a16="http://schemas.microsoft.com/office/drawing/2014/main" id="{5785D13B-86FA-4436-9B03-CCD5BC23269D}"/>
              </a:ext>
            </a:extLst>
          </p:cNvPr>
          <p:cNvSpPr>
            <a:spLocks xmlns:a="http://schemas.openxmlformats.org/drawingml/2006/main" noGrp="1"/>
          </p:cNvSpPr>
          <p:nvPr/>
        </p:nvSpPr>
        <p:spPr>
          <a:xfrm xmlns:a="http://schemas.openxmlformats.org/drawingml/2006/main">
            <a:off x="876300" y="160972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967D2"/>
                </a:solidFill>
                <a:latin typeface="Liberation Sans"/>
                <a:ea typeface="Liberation Sans"/>
                <a:cs typeface="Liberation Sans"/>
              </a:defRPr>
            </a:pPr>
            <a:r>
              <a:rPr sz="2100" b="1">
                <a:solidFill>
                  <a:srgbClr val="1967D2"/>
                </a:solidFill>
                <a:latin typeface="Liberation Sans"/>
                <a:ea typeface="Liberation Sans"/>
                <a:cs typeface="Liberation Sans"/>
              </a:rPr>
              <a:t>Donor execution</a:t>
            </a:r>
          </a:p>
        </p:txBody>
      </p:sp>
      <p:sp>
        <p:nvSpPr>
          <p:cNvPr id="8" name="Correct answer at C&#10;Cache a decoder state">
            <a:extLst xmlns:a="http://schemas.openxmlformats.org/drawingml/2006/main">
              <a:ext uri="{FF2B5EF4-FFF2-40B4-BE49-F238E27FC236}">
                <a16:creationId xmlns:a16="http://schemas.microsoft.com/office/drawing/2014/main" id="{92BF1903-EC59-4A79-B99F-DF2E62AB0C3D}"/>
              </a:ext>
            </a:extLst>
          </p:cNvPr>
          <p:cNvSpPr>
            <a:spLocks xmlns:a="http://schemas.openxmlformats.org/drawingml/2006/main" noGrp="1"/>
          </p:cNvSpPr>
          <p:nvPr/>
        </p:nvSpPr>
        <p:spPr>
          <a:xfrm xmlns:a="http://schemas.openxmlformats.org/drawingml/2006/main">
            <a:off x="876300" y="2219325"/>
            <a:ext cx="4476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43A"/>
                </a:solidFill>
                <a:latin typeface="Liberation Sans"/>
                <a:ea typeface="Liberation Sans"/>
                <a:cs typeface="Liberation Sans"/>
              </a:defRPr>
            </a:pPr>
            <a:r>
              <a:rPr sz="2250" b="0">
                <a:solidFill>
                  <a:srgbClr val="17243A"/>
                </a:solidFill>
                <a:latin typeface="Liberation Sans"/>
                <a:ea typeface="Liberation Sans"/>
                <a:cs typeface="Liberation Sans"/>
              </a:rPr>
              <a:t>Correct answer at C</a:t>
            </a:r>
          </a:p>
          <a:p xmlns:a="http://schemas.openxmlformats.org/drawingml/2006/main">
            <a:pPr algn="l">
              <a:defRPr sz="2250" b="0">
                <a:solidFill>
                  <a:srgbClr val="17243A"/>
                </a:solidFill>
                <a:latin typeface="Liberation Sans"/>
                <a:ea typeface="Liberation Sans"/>
                <a:cs typeface="Liberation Sans"/>
              </a:defRPr>
            </a:pPr>
            <a:r>
              <a:rPr sz="2250" b="0">
                <a:solidFill>
                  <a:srgbClr val="17243A"/>
                </a:solidFill>
                <a:latin typeface="Liberation Sans"/>
                <a:ea typeface="Liberation Sans"/>
                <a:cs typeface="Liberation Sans"/>
              </a:rPr>
              <a:t>Cache a decoder state</a:t>
            </a:r>
          </a:p>
        </p:txBody>
      </p:sp>
      <p:sp>
        <p:nvSpPr>
          <p:cNvPr id="9" name="Recipient execution">
            <a:extLst xmlns:a="http://schemas.openxmlformats.org/drawingml/2006/main">
              <a:ext uri="{FF2B5EF4-FFF2-40B4-BE49-F238E27FC236}">
                <a16:creationId xmlns:a16="http://schemas.microsoft.com/office/drawing/2014/main" id="{33042B49-C4DA-4F58-91C3-FA59152C2DBE}"/>
              </a:ext>
            </a:extLst>
          </p:cNvPr>
          <p:cNvSpPr>
            <a:spLocks xmlns:a="http://schemas.openxmlformats.org/drawingml/2006/main" noGrp="1"/>
          </p:cNvSpPr>
          <p:nvPr/>
        </p:nvSpPr>
        <p:spPr>
          <a:xfrm xmlns:a="http://schemas.openxmlformats.org/drawingml/2006/main">
            <a:off x="6543675" y="1609725"/>
            <a:ext cx="4743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8A7A0"/>
                </a:solidFill>
                <a:latin typeface="Liberation Sans"/>
                <a:ea typeface="Liberation Sans"/>
                <a:cs typeface="Liberation Sans"/>
              </a:defRPr>
            </a:pPr>
            <a:r>
              <a:rPr sz="2100" b="1">
                <a:solidFill>
                  <a:srgbClr val="18A7A0"/>
                </a:solidFill>
                <a:latin typeface="Liberation Sans"/>
                <a:ea typeface="Liberation Sans"/>
                <a:cs typeface="Liberation Sans"/>
              </a:rPr>
              <a:t>Recipient execution</a:t>
            </a:r>
          </a:p>
        </p:txBody>
      </p:sp>
      <p:sp>
        <p:nvSpPr>
          <p:cNvPr id="10" name="Correct answer at A&#10;Replace the matching stat">
            <a:extLst xmlns:a="http://schemas.openxmlformats.org/drawingml/2006/main">
              <a:ext uri="{FF2B5EF4-FFF2-40B4-BE49-F238E27FC236}">
                <a16:creationId xmlns:a16="http://schemas.microsoft.com/office/drawing/2014/main" id="{14D23F9F-04C8-4EC9-84DD-BF1F63803B4B}"/>
              </a:ext>
            </a:extLst>
          </p:cNvPr>
          <p:cNvSpPr>
            <a:spLocks xmlns:a="http://schemas.openxmlformats.org/drawingml/2006/main" noGrp="1"/>
          </p:cNvSpPr>
          <p:nvPr/>
        </p:nvSpPr>
        <p:spPr>
          <a:xfrm xmlns:a="http://schemas.openxmlformats.org/drawingml/2006/main">
            <a:off x="6543675" y="2219325"/>
            <a:ext cx="4667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43A"/>
                </a:solidFill>
                <a:latin typeface="Liberation Sans"/>
                <a:ea typeface="Liberation Sans"/>
                <a:cs typeface="Liberation Sans"/>
              </a:defRPr>
            </a:pPr>
            <a:r>
              <a:rPr sz="2250" b="0">
                <a:solidFill>
                  <a:srgbClr val="17243A"/>
                </a:solidFill>
                <a:latin typeface="Liberation Sans"/>
                <a:ea typeface="Liberation Sans"/>
                <a:cs typeface="Liberation Sans"/>
              </a:rPr>
              <a:t>Correct answer at A</a:t>
            </a:r>
          </a:p>
          <a:p xmlns:a="http://schemas.openxmlformats.org/drawingml/2006/main">
            <a:pPr algn="l">
              <a:defRPr sz="2250" b="0">
                <a:solidFill>
                  <a:srgbClr val="17243A"/>
                </a:solidFill>
                <a:latin typeface="Liberation Sans"/>
                <a:ea typeface="Liberation Sans"/>
                <a:cs typeface="Liberation Sans"/>
              </a:defRPr>
            </a:pPr>
            <a:r>
              <a:rPr sz="2250" b="0">
                <a:solidFill>
                  <a:srgbClr val="17243A"/>
                </a:solidFill>
                <a:latin typeface="Liberation Sans"/>
                <a:ea typeface="Liberation Sans"/>
                <a:cs typeface="Liberation Sans"/>
              </a:rPr>
              <a:t>Replace the matching state</a:t>
            </a:r>
          </a:p>
        </p:txBody>
      </p:sp>
      <p:sp>
        <p:nvSpPr>
          <p:cNvPr id="11" name="Does the recipient output move toward C?">
            <a:extLst xmlns:a="http://schemas.openxmlformats.org/drawingml/2006/main">
              <a:ext uri="{FF2B5EF4-FFF2-40B4-BE49-F238E27FC236}">
                <a16:creationId xmlns:a16="http://schemas.microsoft.com/office/drawing/2014/main" id="{C6335086-9C2C-4544-B366-E52F2FE67DAB}"/>
              </a:ext>
            </a:extLst>
          </p:cNvPr>
          <p:cNvSpPr>
            <a:spLocks xmlns:a="http://schemas.openxmlformats.org/drawingml/2006/main" noGrp="1"/>
          </p:cNvSpPr>
          <p:nvPr/>
        </p:nvSpPr>
        <p:spPr>
          <a:xfrm xmlns:a="http://schemas.openxmlformats.org/drawingml/2006/main">
            <a:off x="628650" y="40862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17243A"/>
                </a:solidFill>
                <a:latin typeface="Liberation Sans"/>
                <a:ea typeface="Liberation Sans"/>
                <a:cs typeface="Liberation Sans"/>
              </a:defRPr>
            </a:pPr>
            <a:r>
              <a:rPr sz="2475" b="1">
                <a:solidFill>
                  <a:srgbClr val="17243A"/>
                </a:solidFill>
                <a:latin typeface="Liberation Sans"/>
                <a:ea typeface="Liberation Sans"/>
                <a:cs typeface="Liberation Sans"/>
              </a:rPr>
              <a:t>Does the recipient output move toward C?</a:t>
            </a:r>
          </a:p>
        </p:txBody>
      </p:sp>
      <p:sp>
        <p:nvSpPr>
          <p:cNvPr id="12" name="Recovery = (patched − recipient) / (donor − r">
            <a:extLst xmlns:a="http://schemas.openxmlformats.org/drawingml/2006/main">
              <a:ext uri="{FF2B5EF4-FFF2-40B4-BE49-F238E27FC236}">
                <a16:creationId xmlns:a16="http://schemas.microsoft.com/office/drawing/2014/main" id="{26A16E4C-4F49-4A0B-B0EA-A6B4B3DD3C82}"/>
              </a:ext>
            </a:extLst>
          </p:cNvPr>
          <p:cNvSpPr>
            <a:spLocks xmlns:a="http://schemas.openxmlformats.org/drawingml/2006/main" noGrp="1"/>
          </p:cNvSpPr>
          <p:nvPr/>
        </p:nvSpPr>
        <p:spPr>
          <a:xfrm xmlns:a="http://schemas.openxmlformats.org/drawingml/2006/main">
            <a:off x="628650" y="46958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967D2"/>
                </a:solidFill>
                <a:latin typeface="Liberation Sans"/>
                <a:ea typeface="Liberation Sans"/>
                <a:cs typeface="Liberation Sans"/>
              </a:defRPr>
            </a:pPr>
            <a:r>
              <a:rPr sz="2175" b="1">
                <a:solidFill>
                  <a:srgbClr val="1967D2"/>
                </a:solidFill>
                <a:latin typeface="Liberation Sans"/>
                <a:ea typeface="Liberation Sans"/>
                <a:cs typeface="Liberation Sans"/>
              </a:rPr>
              <a:t>Recovery = (patched − recipient) / (donor − recipient)</a:t>
            </a:r>
          </a:p>
        </p:txBody>
      </p:sp>
      <p:sp>
        <p:nvSpPr>
          <p:cNvPr id="13" name="0: no transfer        1: full donor–recipient">
            <a:extLst xmlns:a="http://schemas.openxmlformats.org/drawingml/2006/main">
              <a:ext uri="{FF2B5EF4-FFF2-40B4-BE49-F238E27FC236}">
                <a16:creationId xmlns:a16="http://schemas.microsoft.com/office/drawing/2014/main" id="{900D1809-C905-41DE-8C6A-C8C0C0F86AB3}"/>
              </a:ext>
            </a:extLst>
          </p:cNvPr>
          <p:cNvSpPr>
            <a:spLocks xmlns:a="http://schemas.openxmlformats.org/drawingml/2006/main" noGrp="1"/>
          </p:cNvSpPr>
          <p:nvPr/>
        </p:nvSpPr>
        <p:spPr>
          <a:xfrm xmlns:a="http://schemas.openxmlformats.org/drawingml/2006/main">
            <a:off x="628650" y="53435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43A"/>
                </a:solidFill>
                <a:latin typeface="Liberation Sans"/>
                <a:ea typeface="Liberation Sans"/>
                <a:cs typeface="Liberation Sans"/>
              </a:defRPr>
            </a:pPr>
            <a:r>
              <a:rPr sz="2025" b="0">
                <a:solidFill>
                  <a:srgbClr val="17243A"/>
                </a:solidFill>
                <a:latin typeface="Liberation Sans"/>
                <a:ea typeface="Liberation Sans"/>
                <a:cs typeface="Liberation Sans"/>
              </a:rPr>
              <a:t>0: no transfer        1: full donor–recipient logit difference</a:t>
            </a:r>
          </a:p>
        </p:txBody>
      </p:sp>
      <p:sp>
        <p:nvSpPr>
          <p:cNvPr id="14" name="Recovery is an intervention effect. It can ex">
            <a:extLst xmlns:a="http://schemas.openxmlformats.org/drawingml/2006/main">
              <a:ext uri="{FF2B5EF4-FFF2-40B4-BE49-F238E27FC236}">
                <a16:creationId xmlns:a16="http://schemas.microsoft.com/office/drawing/2014/main" id="{5357CCAB-8008-45EF-A31A-B1F0211A2B63}"/>
              </a:ext>
            </a:extLst>
          </p:cNvPr>
          <p:cNvSpPr>
            <a:spLocks xmlns:a="http://schemas.openxmlformats.org/drawingml/2006/main" noGrp="1"/>
          </p:cNvSpPr>
          <p:nvPr/>
        </p:nvSpPr>
        <p:spPr>
          <a:xfrm xmlns:a="http://schemas.openxmlformats.org/drawingml/2006/main">
            <a:off x="628650" y="59150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C667A"/>
                </a:solidFill>
                <a:latin typeface="Liberation Sans"/>
                <a:ea typeface="Liberation Sans"/>
                <a:cs typeface="Liberation Sans"/>
              </a:defRPr>
            </a:pPr>
            <a:r>
              <a:rPr sz="1725" b="0">
                <a:solidFill>
                  <a:srgbClr val="5C667A"/>
                </a:solidFill>
                <a:latin typeface="Liberation Sans"/>
                <a:ea typeface="Liberation Sans"/>
                <a:cs typeface="Liberation Sans"/>
              </a:rPr>
              <a:t>Recovery is an intervention effect. It can exceed 1 or be negative.</a:t>
            </a:r>
          </a:p>
        </p:txBody>
      </p:sp>
    </p:spTree>
    <p:extLst>
      <p:ext uri="{BB962C8B-B14F-4D97-AF65-F5344CB8AC3E}">
        <p14:creationId xmlns:p14="http://schemas.microsoft.com/office/powerpoint/2010/main" val="1133693733"/>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ckup: model and protocol provenance">
            <a:extLst xmlns:a="http://schemas.openxmlformats.org/drawingml/2006/main">
              <a:ext uri="{FF2B5EF4-FFF2-40B4-BE49-F238E27FC236}">
                <a16:creationId xmlns:a16="http://schemas.microsoft.com/office/drawing/2014/main" id="{194BB404-07F6-4263-A20A-C16D48E516FE}"/>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Backup: model and protocol provenance</a:t>
            </a:r>
          </a:p>
        </p:txBody>
      </p:sp>
      <p:sp>
        <p:nvSpPr>
          <p:cNvPr id="2" name="">
            <a:extLst xmlns:a="http://schemas.openxmlformats.org/drawingml/2006/main">
              <a:ext uri="{FF2B5EF4-FFF2-40B4-BE49-F238E27FC236}">
                <a16:creationId xmlns:a16="http://schemas.microsoft.com/office/drawing/2014/main" id="{72421DFC-9524-43E7-BDE5-E032303E7938}"/>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Backup / outside the 15-minute talk">
            <a:extLst xmlns:a="http://schemas.openxmlformats.org/drawingml/2006/main">
              <a:ext uri="{FF2B5EF4-FFF2-40B4-BE49-F238E27FC236}">
                <a16:creationId xmlns:a16="http://schemas.microsoft.com/office/drawing/2014/main" id="{E8ADD816-5DC7-407E-9B74-51FEC22F6BE4}"/>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Backup / outside the 15-minute talk</a:t>
            </a:r>
          </a:p>
        </p:txBody>
      </p:sp>
      <p:sp>
        <p:nvSpPr>
          <p:cNvPr id="4" name="22">
            <a:extLst xmlns:a="http://schemas.openxmlformats.org/drawingml/2006/main">
              <a:ext uri="{FF2B5EF4-FFF2-40B4-BE49-F238E27FC236}">
                <a16:creationId xmlns:a16="http://schemas.microsoft.com/office/drawing/2014/main" id="{9C0B7D4A-28A8-4297-BCEA-9612DD1560C8}"/>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22</a:t>
            </a:r>
          </a:p>
        </p:txBody>
      </p:sp>
      <p:graphicFrame>
        <p:nvGraphicFramePr>
          <p:cNvPr id="11" name=""/>
          <p:cNvGraphicFramePr/>
          <p:nvPr/>
        </p:nvGraphicFramePr>
        <p:xfrm>
          <a:off xmlns:a="http://schemas.openxmlformats.org/drawingml/2006/main" x="619125" y="1381125"/>
          <a:ext xmlns:a="http://schemas.openxmlformats.org/drawingml/2006/main" cx="10934700" cy="4362450"/>
        </p:xfrm>
        <a:graphic xmlns:a="http://schemas.openxmlformats.org/drawingml/2006/main">
          <a:graphicData uri="http://schemas.openxmlformats.org/drawingml/2006/table">
            <a:tbl>
              <a:tblPr/>
              <a:tblGrid>
                <a:gridCol w="3333750"/>
                <a:gridCol w="3714750"/>
                <a:gridCol w="3886200"/>
              </a:tblGrid>
              <a:tr h="545306">
                <a:tc>
                  <a:txBody>
                    <a:bodyPr lIns="114300" tIns="85725" rIns="95250" bIns="85725"/>
                    <a:lstStyle/>
                    <a:p>
                      <a:r>
                        <a:rPr sz="1650" b="1">
                          <a:solidFill>
                            <a:srgbClr val="FFFFFF"/>
                          </a:solidFill>
                          <a:latin typeface="Liberation Sans"/>
                          <a:ea typeface="Liberation Sans"/>
                          <a:cs typeface="Liberation Sans"/>
                        </a:rPr>
                        <a:t>Field</a:t>
                      </a:r>
                    </a:p>
                  </a:txBody>
                  <a:tcPr marL="91440" marR="91440" marT="45720" marB="45720" anchor="ctr">
                    <a:solidFill>
                      <a:srgbClr val="17243A"/>
                    </a:solidFill>
                  </a:tcPr>
                </a:tc>
                <a:tc>
                  <a:txBody>
                    <a:bodyPr lIns="114300" tIns="85725" rIns="95250" bIns="85725"/>
                    <a:lstStyle/>
                    <a:p>
                      <a:r>
                        <a:rPr sz="1650" b="1">
                          <a:solidFill>
                            <a:srgbClr val="FFFFFF"/>
                          </a:solidFill>
                          <a:latin typeface="Liberation Sans"/>
                          <a:ea typeface="Liberation Sans"/>
                          <a:cs typeface="Liberation Sans"/>
                        </a:rPr>
                        <a:t>Qwen7B</a:t>
                      </a:r>
                    </a:p>
                  </a:txBody>
                  <a:tcPr marL="91440" marR="91440" marT="45720" marB="45720" anchor="ctr">
                    <a:solidFill>
                      <a:srgbClr val="17243A"/>
                    </a:solidFill>
                  </a:tcPr>
                </a:tc>
                <a:tc>
                  <a:txBody>
                    <a:bodyPr lIns="114300" tIns="85725" rIns="95250" bIns="85725"/>
                    <a:lstStyle/>
                    <a:p>
                      <a:r>
                        <a:rPr sz="1650" b="1">
                          <a:solidFill>
                            <a:srgbClr val="FFFFFF"/>
                          </a:solidFill>
                          <a:latin typeface="Liberation Sans"/>
                          <a:ea typeface="Liberation Sans"/>
                          <a:cs typeface="Liberation Sans"/>
                        </a:rPr>
                        <a:t>InternVL8B preliminary</a:t>
                      </a:r>
                    </a:p>
                  </a:txBody>
                  <a:tcPr marL="91440" marR="91440" marT="45720" marB="45720" anchor="ctr">
                    <a:solidFill>
                      <a:srgbClr val="17243A"/>
                    </a:solidFill>
                  </a:tcPr>
                </a:tc>
              </a:tr>
              <a:tr h="545306">
                <a:tc>
                  <a:txBody>
                    <a:bodyPr lIns="114300" tIns="85725" rIns="95250" bIns="85725"/>
                    <a:lstStyle/>
                    <a:p>
                      <a:r>
                        <a:rPr sz="1650" b="0">
                          <a:solidFill>
                            <a:srgbClr val="17243A"/>
                          </a:solidFill>
                          <a:latin typeface="Liberation Sans"/>
                          <a:ea typeface="Liberation Sans"/>
                          <a:cs typeface="Liberation Sans"/>
                        </a:rPr>
                        <a:t>Decoder</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Qwen2.5, 28 layers × 28 heads</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Qwen3, 36 layers × 32 heads</a:t>
                      </a:r>
                    </a:p>
                  </a:txBody>
                  <a:tcPr marL="91440" marR="91440" marT="45720" marB="45720" anchor="ctr">
                    <a:solidFill>
                      <a:srgbClr val="FFFFFF"/>
                    </a:solidFill>
                  </a:tcPr>
                </a:tc>
              </a:tr>
              <a:tr h="545306">
                <a:tc>
                  <a:txBody>
                    <a:bodyPr lIns="114300" tIns="85725" rIns="95250" bIns="85725"/>
                    <a:lstStyle/>
                    <a:p>
                      <a:r>
                        <a:rPr sz="1650" b="0">
                          <a:solidFill>
                            <a:srgbClr val="17243A"/>
                          </a:solidFill>
                          <a:latin typeface="Liberation Sans"/>
                          <a:ea typeface="Liberation Sans"/>
                          <a:cs typeface="Liberation Sans"/>
                        </a:rPr>
                        <a:t>M3 source commit</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5549066</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3cfdd80</a:t>
                      </a:r>
                    </a:p>
                  </a:txBody>
                  <a:tcPr marL="91440" marR="91440" marT="45720" marB="45720" anchor="ctr">
                    <a:solidFill>
                      <a:srgbClr val="E9EEF6"/>
                    </a:solidFill>
                  </a:tcPr>
                </a:tc>
              </a:tr>
              <a:tr h="545306">
                <a:tc>
                  <a:txBody>
                    <a:bodyPr lIns="114300" tIns="85725" rIns="95250" bIns="85725"/>
                    <a:lstStyle/>
                    <a:p>
                      <a:r>
                        <a:rPr sz="1650" b="0">
                          <a:solidFill>
                            <a:srgbClr val="17243A"/>
                          </a:solidFill>
                          <a:latin typeface="Liberation Sans"/>
                          <a:ea typeface="Liberation Sans"/>
                          <a:cs typeface="Liberation Sans"/>
                        </a:rPr>
                        <a:t>Model snapshot</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cc59489…</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741a7d0…</a:t>
                      </a:r>
                    </a:p>
                  </a:txBody>
                  <a:tcPr marL="91440" marR="91440" marT="45720" marB="45720" anchor="ctr">
                    <a:solidFill>
                      <a:srgbClr val="FFFFFF"/>
                    </a:solidFill>
                  </a:tcPr>
                </a:tc>
              </a:tr>
              <a:tr h="545306">
                <a:tc>
                  <a:txBody>
                    <a:bodyPr lIns="114300" tIns="85725" rIns="95250" bIns="85725"/>
                    <a:lstStyle/>
                    <a:p>
                      <a:r>
                        <a:rPr sz="1650" b="0">
                          <a:solidFill>
                            <a:srgbClr val="17243A"/>
                          </a:solidFill>
                          <a:latin typeface="Liberation Sans"/>
                          <a:ea typeface="Liberation Sans"/>
                          <a:cs typeface="Liberation Sans"/>
                        </a:rPr>
                        <a:t>Pairs / directed M3 cases</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64 / 96 per phase</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32 / 32 per phase</a:t>
                      </a:r>
                    </a:p>
                  </a:txBody>
                  <a:tcPr marL="91440" marR="91440" marT="45720" marB="45720" anchor="ctr">
                    <a:solidFill>
                      <a:srgbClr val="E9EEF6"/>
                    </a:solidFill>
                  </a:tcPr>
                </a:tc>
              </a:tr>
              <a:tr h="545306">
                <a:tc>
                  <a:txBody>
                    <a:bodyPr lIns="114300" tIns="85725" rIns="95250" bIns="85725"/>
                    <a:lstStyle/>
                    <a:p>
                      <a:r>
                        <a:rPr sz="1650" b="0">
                          <a:solidFill>
                            <a:srgbClr val="17243A"/>
                          </a:solidFill>
                          <a:latin typeface="Liberation Sans"/>
                          <a:ea typeface="Liberation Sans"/>
                          <a:cs typeface="Liberation Sans"/>
                        </a:rPr>
                        <a:t>Random sets per K</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20</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10</a:t>
                      </a:r>
                    </a:p>
                  </a:txBody>
                  <a:tcPr marL="91440" marR="91440" marT="45720" marB="45720" anchor="ctr">
                    <a:solidFill>
                      <a:srgbClr val="FFFFFF"/>
                    </a:solidFill>
                  </a:tcPr>
                </a:tc>
              </a:tr>
              <a:tr h="545306">
                <a:tc>
                  <a:txBody>
                    <a:bodyPr lIns="114300" tIns="85725" rIns="95250" bIns="85725"/>
                    <a:lstStyle/>
                    <a:p>
                      <a:r>
                        <a:rPr sz="1650" b="0">
                          <a:solidFill>
                            <a:srgbClr val="17243A"/>
                          </a:solidFill>
                          <a:latin typeface="Liberation Sans"/>
                          <a:ea typeface="Liberation Sans"/>
                          <a:cs typeface="Liberation Sans"/>
                        </a:rPr>
                        <a:t>Frozen tested layers</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19, 24, 26, 27</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24, 29, 30, 35</a:t>
                      </a:r>
                    </a:p>
                  </a:txBody>
                  <a:tcPr marL="91440" marR="91440" marT="45720" marB="45720" anchor="ctr">
                    <a:solidFill>
                      <a:srgbClr val="E9EEF6"/>
                    </a:solidFill>
                  </a:tcPr>
                </a:tc>
              </a:tr>
              <a:tr h="545306">
                <a:tc>
                  <a:txBody>
                    <a:bodyPr lIns="114300" tIns="85725" rIns="95250" bIns="85725"/>
                    <a:lstStyle/>
                    <a:p>
                      <a:r>
                        <a:rPr sz="1650" b="0">
                          <a:solidFill>
                            <a:srgbClr val="17243A"/>
                          </a:solidFill>
                          <a:latin typeface="Liberation Sans"/>
                          <a:ea typeface="Liberation Sans"/>
                          <a:cs typeface="Liberation Sans"/>
                        </a:rPr>
                        <a:t>Tested all-head reference</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112 heads</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128 heads</a:t>
                      </a:r>
                    </a:p>
                  </a:txBody>
                  <a:tcPr marL="91440" marR="91440" marT="45720" marB="45720" anchor="ctr">
                    <a:solidFill>
                      <a:srgbClr val="FFFFFF"/>
                    </a:solidFill>
                  </a:tcPr>
                </a:tc>
              </a:tr>
            </a:tbl>
          </a:graphicData>
        </a:graphic>
      </p:graphicFrame>
      <p:sp>
        <p:nvSpPr>
          <p:cNvPr id="6" name="Shared dataset hash: f5573e25f3aa2bf2">
            <a:extLst xmlns:a="http://schemas.openxmlformats.org/drawingml/2006/main">
              <a:ext uri="{FF2B5EF4-FFF2-40B4-BE49-F238E27FC236}">
                <a16:creationId xmlns:a16="http://schemas.microsoft.com/office/drawing/2014/main" id="{EF82DECC-D6B4-4F6B-8DDB-D4DA44FA4054}"/>
              </a:ext>
            </a:extLst>
          </p:cNvPr>
          <p:cNvSpPr>
            <a:spLocks xmlns:a="http://schemas.openxmlformats.org/drawingml/2006/main" noGrp="1"/>
          </p:cNvSpPr>
          <p:nvPr/>
        </p:nvSpPr>
        <p:spPr>
          <a:xfrm xmlns:a="http://schemas.openxmlformats.org/drawingml/2006/main">
            <a:off x="647700" y="59150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C667A"/>
                </a:solidFill>
                <a:latin typeface="Liberation Sans"/>
                <a:ea typeface="Liberation Sans"/>
                <a:cs typeface="Liberation Sans"/>
              </a:defRPr>
            </a:pPr>
            <a:r>
              <a:rPr sz="1725" b="0">
                <a:solidFill>
                  <a:srgbClr val="5C667A"/>
                </a:solidFill>
                <a:latin typeface="Liberation Sans"/>
                <a:ea typeface="Liberation Sans"/>
                <a:cs typeface="Liberation Sans"/>
              </a:rPr>
              <a:t>Shared dataset hash: f5573e25f3aa2bf2</a:t>
            </a:r>
          </a:p>
        </p:txBody>
      </p:sp>
    </p:spTree>
    <p:extLst>
      <p:ext uri="{BB962C8B-B14F-4D97-AF65-F5344CB8AC3E}">
        <p14:creationId xmlns:p14="http://schemas.microsoft.com/office/powerpoint/2010/main" val="1446875198"/>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Detailed top-K confirmation results">
            <a:extLst xmlns:a="http://schemas.openxmlformats.org/drawingml/2006/main">
              <a:ext uri="{FF2B5EF4-FFF2-40B4-BE49-F238E27FC236}">
                <a16:creationId xmlns:a16="http://schemas.microsoft.com/office/drawing/2014/main" id="{17AAB36F-72DC-476C-B34D-9734CC3CCD36}"/>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Detailed top-K confirmation results</a:t>
            </a:r>
          </a:p>
        </p:txBody>
      </p:sp>
      <p:sp>
        <p:nvSpPr>
          <p:cNvPr id="2" name="">
            <a:extLst xmlns:a="http://schemas.openxmlformats.org/drawingml/2006/main">
              <a:ext uri="{FF2B5EF4-FFF2-40B4-BE49-F238E27FC236}">
                <a16:creationId xmlns:a16="http://schemas.microsoft.com/office/drawing/2014/main" id="{A391DB97-8AE6-4C5E-B431-1AFFDD475CC1}"/>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Normalized recovery / pair-bootstrap confiden">
            <a:extLst xmlns:a="http://schemas.openxmlformats.org/drawingml/2006/main">
              <a:ext uri="{FF2B5EF4-FFF2-40B4-BE49-F238E27FC236}">
                <a16:creationId xmlns:a16="http://schemas.microsoft.com/office/drawing/2014/main" id="{C5D96ADF-6B28-41F1-B230-CD5F9E45EC86}"/>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Normalized recovery / pair-bootstrap confidence intervals</a:t>
            </a:r>
          </a:p>
        </p:txBody>
      </p:sp>
      <p:sp>
        <p:nvSpPr>
          <p:cNvPr id="4" name="23">
            <a:extLst xmlns:a="http://schemas.openxmlformats.org/drawingml/2006/main">
              <a:ext uri="{FF2B5EF4-FFF2-40B4-BE49-F238E27FC236}">
                <a16:creationId xmlns:a16="http://schemas.microsoft.com/office/drawing/2014/main" id="{B9A35617-9D26-4E9A-90FE-B95A7584E2B5}"/>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23</a:t>
            </a:r>
          </a:p>
        </p:txBody>
      </p:sp>
      <p:graphicFrame>
        <p:nvGraphicFramePr>
          <p:cNvPr id="13" name=""/>
          <p:cNvGraphicFramePr/>
          <p:nvPr/>
        </p:nvGraphicFramePr>
        <p:xfrm>
          <a:off xmlns:a="http://schemas.openxmlformats.org/drawingml/2006/main" x="619125" y="1457325"/>
          <a:ext xmlns:a="http://schemas.openxmlformats.org/drawingml/2006/main" cx="10934700" cy="3324225"/>
        </p:xfrm>
        <a:graphic xmlns:a="http://schemas.openxmlformats.org/drawingml/2006/main">
          <a:graphicData uri="http://schemas.openxmlformats.org/drawingml/2006/table">
            <a:tbl>
              <a:tblPr/>
              <a:tblGrid>
                <a:gridCol w="571500"/>
                <a:gridCol w="3667125"/>
                <a:gridCol w="1476375"/>
                <a:gridCol w="3667125"/>
                <a:gridCol w="1552575"/>
              </a:tblGrid>
              <a:tr h="554038">
                <a:tc>
                  <a:txBody>
                    <a:bodyPr lIns="114300" tIns="85725" rIns="95250" bIns="85725"/>
                    <a:lstStyle/>
                    <a:p>
                      <a:r>
                        <a:rPr sz="1575" b="1">
                          <a:solidFill>
                            <a:srgbClr val="FFFFFF"/>
                          </a:solidFill>
                          <a:latin typeface="Liberation Sans"/>
                          <a:ea typeface="Liberation Sans"/>
                          <a:cs typeface="Liberation Sans"/>
                        </a:rPr>
                        <a:t>K</a:t>
                      </a:r>
                    </a:p>
                  </a:txBody>
                  <a:tcPr marL="91440" marR="91440" marT="45720" marB="45720" anchor="ctr">
                    <a:solidFill>
                      <a:srgbClr val="17243A"/>
                    </a:solidFill>
                  </a:tcPr>
                </a:tc>
                <a:tc>
                  <a:txBody>
                    <a:bodyPr lIns="114300" tIns="85725" rIns="95250" bIns="85725"/>
                    <a:lstStyle/>
                    <a:p>
                      <a:r>
                        <a:rPr sz="1575" b="1">
                          <a:solidFill>
                            <a:srgbClr val="FFFFFF"/>
                          </a:solidFill>
                          <a:latin typeface="Liberation Sans"/>
                          <a:ea typeface="Liberation Sans"/>
                          <a:cs typeface="Liberation Sans"/>
                        </a:rPr>
                        <a:t>Qwen recovery [95% CI]</a:t>
                      </a:r>
                    </a:p>
                  </a:txBody>
                  <a:tcPr marL="91440" marR="91440" marT="45720" marB="45720" anchor="ctr">
                    <a:solidFill>
                      <a:srgbClr val="17243A"/>
                    </a:solidFill>
                  </a:tcPr>
                </a:tc>
                <a:tc>
                  <a:txBody>
                    <a:bodyPr lIns="114300" tIns="85725" rIns="95250" bIns="85725"/>
                    <a:lstStyle/>
                    <a:p>
                      <a:r>
                        <a:rPr sz="1575" b="1">
                          <a:solidFill>
                            <a:srgbClr val="FFFFFF"/>
                          </a:solidFill>
                          <a:latin typeface="Liberation Sans"/>
                          <a:ea typeface="Liberation Sans"/>
                          <a:cs typeface="Liberation Sans"/>
                        </a:rPr>
                        <a:t>Random p95</a:t>
                      </a:r>
                    </a:p>
                  </a:txBody>
                  <a:tcPr marL="91440" marR="91440" marT="45720" marB="45720" anchor="ctr">
                    <a:solidFill>
                      <a:srgbClr val="17243A"/>
                    </a:solidFill>
                  </a:tcPr>
                </a:tc>
                <a:tc>
                  <a:txBody>
                    <a:bodyPr lIns="114300" tIns="85725" rIns="95250" bIns="85725"/>
                    <a:lstStyle/>
                    <a:p>
                      <a:r>
                        <a:rPr sz="1575" b="1">
                          <a:solidFill>
                            <a:srgbClr val="FFFFFF"/>
                          </a:solidFill>
                          <a:latin typeface="Liberation Sans"/>
                          <a:ea typeface="Liberation Sans"/>
                          <a:cs typeface="Liberation Sans"/>
                        </a:rPr>
                        <a:t>InternVL recovery [95% CI]</a:t>
                      </a:r>
                    </a:p>
                  </a:txBody>
                  <a:tcPr marL="91440" marR="91440" marT="45720" marB="45720" anchor="ctr">
                    <a:solidFill>
                      <a:srgbClr val="17243A"/>
                    </a:solidFill>
                  </a:tcPr>
                </a:tc>
                <a:tc>
                  <a:txBody>
                    <a:bodyPr lIns="114300" tIns="85725" rIns="95250" bIns="85725"/>
                    <a:lstStyle/>
                    <a:p>
                      <a:r>
                        <a:rPr sz="1575" b="1">
                          <a:solidFill>
                            <a:srgbClr val="FFFFFF"/>
                          </a:solidFill>
                          <a:latin typeface="Liberation Sans"/>
                          <a:ea typeface="Liberation Sans"/>
                          <a:cs typeface="Liberation Sans"/>
                        </a:rPr>
                        <a:t>Random p95</a:t>
                      </a:r>
                    </a:p>
                  </a:txBody>
                  <a:tcPr marL="91440" marR="91440" marT="45720" marB="45720" anchor="ctr">
                    <a:solidFill>
                      <a:srgbClr val="17243A"/>
                    </a:solidFill>
                  </a:tcPr>
                </a:tc>
              </a:tr>
              <a:tr h="554038">
                <a:tc>
                  <a:txBody>
                    <a:bodyPr lIns="114300" tIns="85725" rIns="95250" bIns="85725"/>
                    <a:lstStyle/>
                    <a:p>
                      <a:r>
                        <a:rPr sz="1575" b="0">
                          <a:solidFill>
                            <a:srgbClr val="17243A"/>
                          </a:solidFill>
                          <a:latin typeface="Liberation Sans"/>
                          <a:ea typeface="Liberation Sans"/>
                          <a:cs typeface="Liberation Sans"/>
                        </a:rPr>
                        <a:t>1</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0.116 [0.105, 0.128]</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0.014</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0.204 [0.177, 0.231]</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0.016</a:t>
                      </a:r>
                    </a:p>
                  </a:txBody>
                  <a:tcPr marL="91440" marR="91440" marT="45720" marB="45720" anchor="ctr">
                    <a:solidFill>
                      <a:srgbClr val="FFFFFF"/>
                    </a:solidFill>
                  </a:tcPr>
                </a:tc>
              </a:tr>
              <a:tr h="554038">
                <a:tc>
                  <a:txBody>
                    <a:bodyPr lIns="114300" tIns="85725" rIns="95250" bIns="85725"/>
                    <a:lstStyle/>
                    <a:p>
                      <a:r>
                        <a:rPr sz="1575" b="0">
                          <a:solidFill>
                            <a:srgbClr val="17243A"/>
                          </a:solidFill>
                          <a:latin typeface="Liberation Sans"/>
                          <a:ea typeface="Liberation Sans"/>
                          <a:cs typeface="Liberation Sans"/>
                        </a:rPr>
                        <a:t>2</a:t>
                      </a:r>
                    </a:p>
                  </a:txBody>
                  <a:tcPr marL="91440" marR="91440" marT="45720" marB="45720" anchor="ctr">
                    <a:solidFill>
                      <a:srgbClr val="E9EEF6"/>
                    </a:solidFill>
                  </a:tcPr>
                </a:tc>
                <a:tc>
                  <a:txBody>
                    <a:bodyPr lIns="114300" tIns="85725" rIns="95250" bIns="85725"/>
                    <a:lstStyle/>
                    <a:p>
                      <a:r>
                        <a:rPr sz="1575" b="0">
                          <a:solidFill>
                            <a:srgbClr val="17243A"/>
                          </a:solidFill>
                          <a:latin typeface="Liberation Sans"/>
                          <a:ea typeface="Liberation Sans"/>
                          <a:cs typeface="Liberation Sans"/>
                        </a:rPr>
                        <a:t>0.244 [0.230, 0.259]</a:t>
                      </a:r>
                    </a:p>
                  </a:txBody>
                  <a:tcPr marL="91440" marR="91440" marT="45720" marB="45720" anchor="ctr">
                    <a:solidFill>
                      <a:srgbClr val="E9EEF6"/>
                    </a:solidFill>
                  </a:tcPr>
                </a:tc>
                <a:tc>
                  <a:txBody>
                    <a:bodyPr lIns="114300" tIns="85725" rIns="95250" bIns="85725"/>
                    <a:lstStyle/>
                    <a:p>
                      <a:r>
                        <a:rPr sz="1575" b="0">
                          <a:solidFill>
                            <a:srgbClr val="17243A"/>
                          </a:solidFill>
                          <a:latin typeface="Liberation Sans"/>
                          <a:ea typeface="Liberation Sans"/>
                          <a:cs typeface="Liberation Sans"/>
                        </a:rPr>
                        <a:t>0.069</a:t>
                      </a:r>
                    </a:p>
                  </a:txBody>
                  <a:tcPr marL="91440" marR="91440" marT="45720" marB="45720" anchor="ctr">
                    <a:solidFill>
                      <a:srgbClr val="E9EEF6"/>
                    </a:solidFill>
                  </a:tcPr>
                </a:tc>
                <a:tc>
                  <a:txBody>
                    <a:bodyPr lIns="114300" tIns="85725" rIns="95250" bIns="85725"/>
                    <a:lstStyle/>
                    <a:p>
                      <a:r>
                        <a:rPr sz="1575" b="0">
                          <a:solidFill>
                            <a:srgbClr val="17243A"/>
                          </a:solidFill>
                          <a:latin typeface="Liberation Sans"/>
                          <a:ea typeface="Liberation Sans"/>
                          <a:cs typeface="Liberation Sans"/>
                        </a:rPr>
                        <a:t>0.283 [0.248, 0.315]</a:t>
                      </a:r>
                    </a:p>
                  </a:txBody>
                  <a:tcPr marL="91440" marR="91440" marT="45720" marB="45720" anchor="ctr">
                    <a:solidFill>
                      <a:srgbClr val="E9EEF6"/>
                    </a:solidFill>
                  </a:tcPr>
                </a:tc>
                <a:tc>
                  <a:txBody>
                    <a:bodyPr lIns="114300" tIns="85725" rIns="95250" bIns="85725"/>
                    <a:lstStyle/>
                    <a:p>
                      <a:r>
                        <a:rPr sz="1575" b="0">
                          <a:solidFill>
                            <a:srgbClr val="17243A"/>
                          </a:solidFill>
                          <a:latin typeface="Liberation Sans"/>
                          <a:ea typeface="Liberation Sans"/>
                          <a:cs typeface="Liberation Sans"/>
                        </a:rPr>
                        <a:t>0.062</a:t>
                      </a:r>
                    </a:p>
                  </a:txBody>
                  <a:tcPr marL="91440" marR="91440" marT="45720" marB="45720" anchor="ctr">
                    <a:solidFill>
                      <a:srgbClr val="E9EEF6"/>
                    </a:solidFill>
                  </a:tcPr>
                </a:tc>
              </a:tr>
              <a:tr h="554038">
                <a:tc>
                  <a:txBody>
                    <a:bodyPr lIns="114300" tIns="85725" rIns="95250" bIns="85725"/>
                    <a:lstStyle/>
                    <a:p>
                      <a:r>
                        <a:rPr sz="1575" b="0">
                          <a:solidFill>
                            <a:srgbClr val="17243A"/>
                          </a:solidFill>
                          <a:latin typeface="Liberation Sans"/>
                          <a:ea typeface="Liberation Sans"/>
                          <a:cs typeface="Liberation Sans"/>
                        </a:rPr>
                        <a:t>4</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0.417 [0.397, 0.438]</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0.069</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0.431 [0.393, 0.469]</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0.051</a:t>
                      </a:r>
                    </a:p>
                  </a:txBody>
                  <a:tcPr marL="91440" marR="91440" marT="45720" marB="45720" anchor="ctr">
                    <a:solidFill>
                      <a:srgbClr val="FFFFFF"/>
                    </a:solidFill>
                  </a:tcPr>
                </a:tc>
              </a:tr>
              <a:tr h="554038">
                <a:tc>
                  <a:txBody>
                    <a:bodyPr lIns="114300" tIns="85725" rIns="95250" bIns="85725"/>
                    <a:lstStyle/>
                    <a:p>
                      <a:r>
                        <a:rPr sz="1575" b="0">
                          <a:solidFill>
                            <a:srgbClr val="17243A"/>
                          </a:solidFill>
                          <a:latin typeface="Liberation Sans"/>
                          <a:ea typeface="Liberation Sans"/>
                          <a:cs typeface="Liberation Sans"/>
                        </a:rPr>
                        <a:t>8</a:t>
                      </a:r>
                    </a:p>
                  </a:txBody>
                  <a:tcPr marL="91440" marR="91440" marT="45720" marB="45720" anchor="ctr">
                    <a:solidFill>
                      <a:srgbClr val="E9EEF6"/>
                    </a:solidFill>
                  </a:tcPr>
                </a:tc>
                <a:tc>
                  <a:txBody>
                    <a:bodyPr lIns="114300" tIns="85725" rIns="95250" bIns="85725"/>
                    <a:lstStyle/>
                    <a:p>
                      <a:r>
                        <a:rPr sz="1575" b="0">
                          <a:solidFill>
                            <a:srgbClr val="17243A"/>
                          </a:solidFill>
                          <a:latin typeface="Liberation Sans"/>
                          <a:ea typeface="Liberation Sans"/>
                          <a:cs typeface="Liberation Sans"/>
                        </a:rPr>
                        <a:t>0.684 [0.664, 0.703]</a:t>
                      </a:r>
                    </a:p>
                  </a:txBody>
                  <a:tcPr marL="91440" marR="91440" marT="45720" marB="45720" anchor="ctr">
                    <a:solidFill>
                      <a:srgbClr val="E9EEF6"/>
                    </a:solidFill>
                  </a:tcPr>
                </a:tc>
                <a:tc>
                  <a:txBody>
                    <a:bodyPr lIns="114300" tIns="85725" rIns="95250" bIns="85725"/>
                    <a:lstStyle/>
                    <a:p>
                      <a:r>
                        <a:rPr sz="1575" b="0">
                          <a:solidFill>
                            <a:srgbClr val="17243A"/>
                          </a:solidFill>
                          <a:latin typeface="Liberation Sans"/>
                          <a:ea typeface="Liberation Sans"/>
                          <a:cs typeface="Liberation Sans"/>
                        </a:rPr>
                        <a:t>0.013</a:t>
                      </a:r>
                    </a:p>
                  </a:txBody>
                  <a:tcPr marL="91440" marR="91440" marT="45720" marB="45720" anchor="ctr">
                    <a:solidFill>
                      <a:srgbClr val="E9EEF6"/>
                    </a:solidFill>
                  </a:tcPr>
                </a:tc>
                <a:tc>
                  <a:txBody>
                    <a:bodyPr lIns="114300" tIns="85725" rIns="95250" bIns="85725"/>
                    <a:lstStyle/>
                    <a:p>
                      <a:r>
                        <a:rPr sz="1575" b="0">
                          <a:solidFill>
                            <a:srgbClr val="17243A"/>
                          </a:solidFill>
                          <a:latin typeface="Liberation Sans"/>
                          <a:ea typeface="Liberation Sans"/>
                          <a:cs typeface="Liberation Sans"/>
                        </a:rPr>
                        <a:t>0.746 [0.696, 0.791]</a:t>
                      </a:r>
                    </a:p>
                  </a:txBody>
                  <a:tcPr marL="91440" marR="91440" marT="45720" marB="45720" anchor="ctr">
                    <a:solidFill>
                      <a:srgbClr val="E9EEF6"/>
                    </a:solidFill>
                  </a:tcPr>
                </a:tc>
                <a:tc>
                  <a:txBody>
                    <a:bodyPr lIns="114300" tIns="85725" rIns="95250" bIns="85725"/>
                    <a:lstStyle/>
                    <a:p>
                      <a:r>
                        <a:rPr sz="1575" b="0">
                          <a:solidFill>
                            <a:srgbClr val="17243A"/>
                          </a:solidFill>
                          <a:latin typeface="Liberation Sans"/>
                          <a:ea typeface="Liberation Sans"/>
                          <a:cs typeface="Liberation Sans"/>
                        </a:rPr>
                        <a:t>0.042</a:t>
                      </a:r>
                    </a:p>
                  </a:txBody>
                  <a:tcPr marL="91440" marR="91440" marT="45720" marB="45720" anchor="ctr">
                    <a:solidFill>
                      <a:srgbClr val="E9EEF6"/>
                    </a:solidFill>
                  </a:tcPr>
                </a:tc>
              </a:tr>
              <a:tr h="554038">
                <a:tc>
                  <a:txBody>
                    <a:bodyPr lIns="114300" tIns="85725" rIns="95250" bIns="85725"/>
                    <a:lstStyle/>
                    <a:p>
                      <a:r>
                        <a:rPr sz="1575" b="0">
                          <a:solidFill>
                            <a:srgbClr val="17243A"/>
                          </a:solidFill>
                          <a:latin typeface="Liberation Sans"/>
                          <a:ea typeface="Liberation Sans"/>
                          <a:cs typeface="Liberation Sans"/>
                        </a:rPr>
                        <a:t>16</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0.895 [0.879, 0.909]</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0.005</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0.924 [0.906, 0.940]</a:t>
                      </a:r>
                    </a:p>
                  </a:txBody>
                  <a:tcPr marL="91440" marR="91440" marT="45720" marB="45720" anchor="ctr">
                    <a:solidFill>
                      <a:srgbClr val="FFFFFF"/>
                    </a:solidFill>
                  </a:tcPr>
                </a:tc>
                <a:tc>
                  <a:txBody>
                    <a:bodyPr lIns="114300" tIns="85725" rIns="95250" bIns="85725"/>
                    <a:lstStyle/>
                    <a:p>
                      <a:r>
                        <a:rPr sz="1575" b="0">
                          <a:solidFill>
                            <a:srgbClr val="17243A"/>
                          </a:solidFill>
                          <a:latin typeface="Liberation Sans"/>
                          <a:ea typeface="Liberation Sans"/>
                          <a:cs typeface="Liberation Sans"/>
                        </a:rPr>
                        <a:t>0.004</a:t>
                      </a:r>
                    </a:p>
                  </a:txBody>
                  <a:tcPr marL="91440" marR="91440" marT="45720" marB="45720" anchor="ctr">
                    <a:solidFill>
                      <a:srgbClr val="FFFFFF"/>
                    </a:solidFill>
                  </a:tcPr>
                </a:tc>
              </a:tr>
            </a:tbl>
          </a:graphicData>
        </a:graphic>
      </p:graphicFrame>
      <p:sp>
        <p:nvSpPr>
          <p:cNvPr id="6" name="Qwen: 64 pairs per split">
            <a:extLst xmlns:a="http://schemas.openxmlformats.org/drawingml/2006/main">
              <a:ext uri="{FF2B5EF4-FFF2-40B4-BE49-F238E27FC236}">
                <a16:creationId xmlns:a16="http://schemas.microsoft.com/office/drawing/2014/main" id="{AADD3704-8E12-4566-9F8D-E201F5811B75}"/>
              </a:ext>
            </a:extLst>
          </p:cNvPr>
          <p:cNvSpPr>
            <a:spLocks xmlns:a="http://schemas.openxmlformats.org/drawingml/2006/main" noGrp="1"/>
          </p:cNvSpPr>
          <p:nvPr/>
        </p:nvSpPr>
        <p:spPr>
          <a:xfrm xmlns:a="http://schemas.openxmlformats.org/drawingml/2006/main">
            <a:off x="657225" y="522922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967D2"/>
                </a:solidFill>
                <a:latin typeface="Liberation Sans"/>
                <a:ea typeface="Liberation Sans"/>
                <a:cs typeface="Liberation Sans"/>
              </a:defRPr>
            </a:pPr>
            <a:r>
              <a:rPr sz="1875" b="1">
                <a:solidFill>
                  <a:srgbClr val="1967D2"/>
                </a:solidFill>
                <a:latin typeface="Liberation Sans"/>
                <a:ea typeface="Liberation Sans"/>
                <a:cs typeface="Liberation Sans"/>
              </a:rPr>
              <a:t>Qwen: 64 pairs per split</a:t>
            </a:r>
          </a:p>
        </p:txBody>
      </p:sp>
      <p:sp>
        <p:nvSpPr>
          <p:cNvPr id="7" name="InternVL: 32 pairs, preliminary">
            <a:extLst xmlns:a="http://schemas.openxmlformats.org/drawingml/2006/main">
              <a:ext uri="{FF2B5EF4-FFF2-40B4-BE49-F238E27FC236}">
                <a16:creationId xmlns:a16="http://schemas.microsoft.com/office/drawing/2014/main" id="{E311E5E7-3FF6-4C9F-8C0F-0552335FDE56}"/>
              </a:ext>
            </a:extLst>
          </p:cNvPr>
          <p:cNvSpPr>
            <a:spLocks xmlns:a="http://schemas.openxmlformats.org/drawingml/2006/main" noGrp="1"/>
          </p:cNvSpPr>
          <p:nvPr/>
        </p:nvSpPr>
        <p:spPr>
          <a:xfrm xmlns:a="http://schemas.openxmlformats.org/drawingml/2006/main">
            <a:off x="6400800" y="5229225"/>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E76F51"/>
                </a:solidFill>
                <a:latin typeface="Liberation Sans"/>
                <a:ea typeface="Liberation Sans"/>
                <a:cs typeface="Liberation Sans"/>
              </a:defRPr>
            </a:pPr>
            <a:r>
              <a:rPr sz="1875" b="1">
                <a:solidFill>
                  <a:srgbClr val="E76F51"/>
                </a:solidFill>
                <a:latin typeface="Liberation Sans"/>
                <a:ea typeface="Liberation Sans"/>
                <a:cs typeface="Liberation Sans"/>
              </a:rPr>
              <a:t>InternVL: 32 pairs, preliminary</a:t>
            </a:r>
          </a:p>
        </p:txBody>
      </p:sp>
      <p:sp>
        <p:nvSpPr>
          <p:cNvPr id="8" name="Effects are non-additive. Recovery is not acc">
            <a:extLst xmlns:a="http://schemas.openxmlformats.org/drawingml/2006/main">
              <a:ext uri="{FF2B5EF4-FFF2-40B4-BE49-F238E27FC236}">
                <a16:creationId xmlns:a16="http://schemas.microsoft.com/office/drawing/2014/main" id="{EAEAB170-3D73-4BA3-8F53-B429C137CB14}"/>
              </a:ext>
            </a:extLst>
          </p:cNvPr>
          <p:cNvSpPr>
            <a:spLocks xmlns:a="http://schemas.openxmlformats.org/drawingml/2006/main" noGrp="1"/>
          </p:cNvSpPr>
          <p:nvPr/>
        </p:nvSpPr>
        <p:spPr>
          <a:xfrm xmlns:a="http://schemas.openxmlformats.org/drawingml/2006/main">
            <a:off x="647700" y="5829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C667A"/>
                </a:solidFill>
                <a:latin typeface="Liberation Sans"/>
                <a:ea typeface="Liberation Sans"/>
                <a:cs typeface="Liberation Sans"/>
              </a:defRPr>
            </a:pPr>
            <a:r>
              <a:rPr sz="1800" b="0">
                <a:solidFill>
                  <a:srgbClr val="5C667A"/>
                </a:solidFill>
                <a:latin typeface="Liberation Sans"/>
                <a:ea typeface="Liberation Sans"/>
                <a:cs typeface="Liberation Sans"/>
              </a:rPr>
              <a:t>Effects are non-additive. Recovery is not accuracy or conserved importance.</a:t>
            </a:r>
          </a:p>
        </p:txBody>
      </p:sp>
    </p:spTree>
    <p:extLst>
      <p:ext uri="{BB962C8B-B14F-4D97-AF65-F5344CB8AC3E}">
        <p14:creationId xmlns:p14="http://schemas.microsoft.com/office/powerpoint/2010/main" val="403350811"/>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ckup: which experiment supports which claim">
            <a:extLst xmlns:a="http://schemas.openxmlformats.org/drawingml/2006/main">
              <a:ext uri="{FF2B5EF4-FFF2-40B4-BE49-F238E27FC236}">
                <a16:creationId xmlns:a16="http://schemas.microsoft.com/office/drawing/2014/main" id="{1D887BB8-189F-4317-9343-5F12AEDC3577}"/>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Backup: which experiment supports which claim?</a:t>
            </a:r>
          </a:p>
        </p:txBody>
      </p:sp>
      <p:sp>
        <p:nvSpPr>
          <p:cNvPr id="2" name="">
            <a:extLst xmlns:a="http://schemas.openxmlformats.org/drawingml/2006/main">
              <a:ext uri="{FF2B5EF4-FFF2-40B4-BE49-F238E27FC236}">
                <a16:creationId xmlns:a16="http://schemas.microsoft.com/office/drawing/2014/main" id="{A637EBD5-8142-40BD-A61C-FA9B48B69100}"/>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Evidence scope / sample sizes stay attached t">
            <a:extLst xmlns:a="http://schemas.openxmlformats.org/drawingml/2006/main">
              <a:ext uri="{FF2B5EF4-FFF2-40B4-BE49-F238E27FC236}">
                <a16:creationId xmlns:a16="http://schemas.microsoft.com/office/drawing/2014/main" id="{50066F20-9891-4EB9-8A21-0958992E8DEF}"/>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Evidence scope / sample sizes stay attached to their results</a:t>
            </a:r>
          </a:p>
        </p:txBody>
      </p:sp>
      <p:sp>
        <p:nvSpPr>
          <p:cNvPr id="4" name="24">
            <a:extLst xmlns:a="http://schemas.openxmlformats.org/drawingml/2006/main">
              <a:ext uri="{FF2B5EF4-FFF2-40B4-BE49-F238E27FC236}">
                <a16:creationId xmlns:a16="http://schemas.microsoft.com/office/drawing/2014/main" id="{0119E306-98BE-4A5C-9FD7-69F73746627B}"/>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24</a:t>
            </a:r>
          </a:p>
        </p:txBody>
      </p:sp>
      <p:graphicFrame>
        <p:nvGraphicFramePr>
          <p:cNvPr id="11" name=""/>
          <p:cNvGraphicFramePr/>
          <p:nvPr/>
        </p:nvGraphicFramePr>
        <p:xfrm>
          <a:off xmlns:a="http://schemas.openxmlformats.org/drawingml/2006/main" x="628650" y="1447800"/>
          <a:ext xmlns:a="http://schemas.openxmlformats.org/drawingml/2006/main" cx="10925175" cy="3724275"/>
        </p:xfrm>
        <a:graphic xmlns:a="http://schemas.openxmlformats.org/drawingml/2006/main">
          <a:graphicData uri="http://schemas.openxmlformats.org/drawingml/2006/table">
            <a:tbl>
              <a:tblPr/>
              <a:tblGrid>
                <a:gridCol w="4067175"/>
                <a:gridCol w="3152775"/>
                <a:gridCol w="3705225"/>
              </a:tblGrid>
              <a:tr h="532039">
                <a:tc>
                  <a:txBody>
                    <a:bodyPr lIns="114300" tIns="85725" rIns="95250" bIns="85725"/>
                    <a:lstStyle/>
                    <a:p>
                      <a:r>
                        <a:rPr sz="1650" b="1">
                          <a:solidFill>
                            <a:srgbClr val="FFFFFF"/>
                          </a:solidFill>
                          <a:latin typeface="Liberation Sans"/>
                          <a:ea typeface="Liberation Sans"/>
                          <a:cs typeface="Liberation Sans"/>
                        </a:rPr>
                        <a:t>Experiment</a:t>
                      </a:r>
                    </a:p>
                  </a:txBody>
                  <a:tcPr marL="91440" marR="91440" marT="45720" marB="45720" anchor="ctr">
                    <a:solidFill>
                      <a:srgbClr val="17243A"/>
                    </a:solidFill>
                  </a:tcPr>
                </a:tc>
                <a:tc>
                  <a:txBody>
                    <a:bodyPr lIns="114300" tIns="85725" rIns="95250" bIns="85725"/>
                    <a:lstStyle/>
                    <a:p>
                      <a:r>
                        <a:rPr sz="1650" b="1">
                          <a:solidFill>
                            <a:srgbClr val="FFFFFF"/>
                          </a:solidFill>
                          <a:latin typeface="Liberation Sans"/>
                          <a:ea typeface="Liberation Sans"/>
                          <a:cs typeface="Liberation Sans"/>
                        </a:rPr>
                        <a:t>Sample</a:t>
                      </a:r>
                    </a:p>
                  </a:txBody>
                  <a:tcPr marL="91440" marR="91440" marT="45720" marB="45720" anchor="ctr">
                    <a:solidFill>
                      <a:srgbClr val="17243A"/>
                    </a:solidFill>
                  </a:tcPr>
                </a:tc>
                <a:tc>
                  <a:txBody>
                    <a:bodyPr lIns="114300" tIns="85725" rIns="95250" bIns="85725"/>
                    <a:lstStyle/>
                    <a:p>
                      <a:r>
                        <a:rPr sz="1650" b="1">
                          <a:solidFill>
                            <a:srgbClr val="FFFFFF"/>
                          </a:solidFill>
                          <a:latin typeface="Liberation Sans"/>
                          <a:ea typeface="Liberation Sans"/>
                          <a:cs typeface="Liberation Sans"/>
                        </a:rPr>
                        <a:t>Role in the talk</a:t>
                      </a:r>
                    </a:p>
                  </a:txBody>
                  <a:tcPr marL="91440" marR="91440" marT="45720" marB="45720" anchor="ctr">
                    <a:solidFill>
                      <a:srgbClr val="17243A"/>
                    </a:solidFill>
                  </a:tcPr>
                </a:tc>
              </a:tr>
              <a:tr h="532039">
                <a:tc>
                  <a:txBody>
                    <a:bodyPr lIns="114300" tIns="85725" rIns="95250" bIns="85725"/>
                    <a:lstStyle/>
                    <a:p>
                      <a:r>
                        <a:rPr sz="1650" b="0">
                          <a:solidFill>
                            <a:srgbClr val="17243A"/>
                          </a:solidFill>
                          <a:latin typeface="Liberation Sans"/>
                          <a:ea typeface="Liberation Sans"/>
                          <a:cs typeface="Liberation Sans"/>
                        </a:rPr>
                        <a:t>Early Qwen3B Shapes exploration</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64 pairs; 2,560 prompts</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Motivates the working hypothesis</a:t>
                      </a:r>
                    </a:p>
                  </a:txBody>
                  <a:tcPr marL="91440" marR="91440" marT="45720" marB="45720" anchor="ctr">
                    <a:solidFill>
                      <a:srgbClr val="FFFFFF"/>
                    </a:solidFill>
                  </a:tcPr>
                </a:tc>
              </a:tr>
              <a:tr h="532039">
                <a:tc>
                  <a:txBody>
                    <a:bodyPr lIns="114300" tIns="85725" rIns="95250" bIns="85725"/>
                    <a:lstStyle/>
                    <a:p>
                      <a:r>
                        <a:rPr sz="1650" b="0">
                          <a:solidFill>
                            <a:srgbClr val="17243A"/>
                          </a:solidFill>
                          <a:latin typeface="Liberation Sans"/>
                          <a:ea typeface="Liberation Sans"/>
                          <a:cs typeface="Liberation Sans"/>
                        </a:rPr>
                        <a:t>Twelve-model family screening</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24 unique screening items</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Feasibility and model selection</a:t>
                      </a:r>
                    </a:p>
                  </a:txBody>
                  <a:tcPr marL="91440" marR="91440" marT="45720" marB="45720" anchor="ctr">
                    <a:solidFill>
                      <a:srgbClr val="E9EEF6"/>
                    </a:solidFill>
                  </a:tcPr>
                </a:tc>
              </a:tr>
              <a:tr h="532039">
                <a:tc>
                  <a:txBody>
                    <a:bodyPr lIns="114300" tIns="85725" rIns="95250" bIns="85725"/>
                    <a:lstStyle/>
                    <a:p>
                      <a:r>
                        <a:rPr sz="1650" b="0">
                          <a:solidFill>
                            <a:srgbClr val="17243A"/>
                          </a:solidFill>
                          <a:latin typeface="Liberation Sans"/>
                          <a:ea typeface="Liberation Sans"/>
                          <a:cs typeface="Liberation Sans"/>
                        </a:rPr>
                        <a:t>Qwen7B / InternVL8B Core-7 smoke</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4–6 usable pairs per split</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End-to-end pipeline checks</a:t>
                      </a:r>
                    </a:p>
                  </a:txBody>
                  <a:tcPr marL="91440" marR="91440" marT="45720" marB="45720" anchor="ctr">
                    <a:solidFill>
                      <a:srgbClr val="FFFFFF"/>
                    </a:solidFill>
                  </a:tcPr>
                </a:tc>
              </a:tr>
              <a:tr h="532039">
                <a:tc>
                  <a:txBody>
                    <a:bodyPr lIns="114300" tIns="85725" rIns="95250" bIns="85725"/>
                    <a:lstStyle/>
                    <a:p>
                      <a:r>
                        <a:rPr sz="1650" b="0">
                          <a:solidFill>
                            <a:srgbClr val="17243A"/>
                          </a:solidFill>
                          <a:latin typeface="Liberation Sans"/>
                          <a:ea typeface="Liberation Sans"/>
                          <a:cs typeface="Liberation Sans"/>
                        </a:rPr>
                        <a:t>Qwen7B larger study</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256 behavior items; 64 causal pairs/split</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Main results; corrected M3</a:t>
                      </a:r>
                    </a:p>
                  </a:txBody>
                  <a:tcPr marL="91440" marR="91440" marT="45720" marB="45720" anchor="ctr">
                    <a:solidFill>
                      <a:srgbClr val="E9EEF6"/>
                    </a:solidFill>
                  </a:tcPr>
                </a:tc>
              </a:tr>
              <a:tr h="532039">
                <a:tc>
                  <a:txBody>
                    <a:bodyPr lIns="114300" tIns="85725" rIns="95250" bIns="85725"/>
                    <a:lstStyle/>
                    <a:p>
                      <a:r>
                        <a:rPr sz="1650" b="0">
                          <a:solidFill>
                            <a:srgbClr val="17243A"/>
                          </a:solidFill>
                          <a:latin typeface="Liberation Sans"/>
                          <a:ea typeface="Liberation Sans"/>
                          <a:cs typeface="Liberation Sans"/>
                        </a:rPr>
                        <a:t>InternVL8B preliminary causal track</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32 pairs per split</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Matched smaller replication</a:t>
                      </a:r>
                    </a:p>
                  </a:txBody>
                  <a:tcPr marL="91440" marR="91440" marT="45720" marB="45720" anchor="ctr">
                    <a:solidFill>
                      <a:srgbClr val="FFFFFF"/>
                    </a:solidFill>
                  </a:tcPr>
                </a:tc>
              </a:tr>
              <a:tr h="532039">
                <a:tc>
                  <a:txBody>
                    <a:bodyPr lIns="114300" tIns="85725" rIns="95250" bIns="85725"/>
                    <a:lstStyle/>
                    <a:p>
                      <a:r>
                        <a:rPr sz="1650" b="0">
                          <a:solidFill>
                            <a:srgbClr val="17243A"/>
                          </a:solidFill>
                          <a:latin typeface="Liberation Sans"/>
                          <a:ea typeface="Liberation Sans"/>
                          <a:cs typeface="Liberation Sans"/>
                        </a:rPr>
                        <a:t>InternVL8B vocabulary lens</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Six-pair smoke lens</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Readout milestones only</a:t>
                      </a:r>
                    </a:p>
                  </a:txBody>
                  <a:tcPr marL="91440" marR="91440" marT="45720" marB="45720" anchor="ctr">
                    <a:solidFill>
                      <a:srgbClr val="E9EEF6"/>
                    </a:solidFill>
                  </a:tcPr>
                </a:tc>
              </a:tr>
            </a:tbl>
          </a:graphicData>
        </a:graphic>
      </p:graphicFrame>
      <p:sp>
        <p:nvSpPr>
          <p:cNvPr id="6" name="Vocabulary readability and causal transfer an">
            <a:extLst xmlns:a="http://schemas.openxmlformats.org/drawingml/2006/main">
              <a:ext uri="{FF2B5EF4-FFF2-40B4-BE49-F238E27FC236}">
                <a16:creationId xmlns:a16="http://schemas.microsoft.com/office/drawing/2014/main" id="{366FFBCE-4569-4575-B43D-5C45B86A5771}"/>
              </a:ext>
            </a:extLst>
          </p:cNvPr>
          <p:cNvSpPr>
            <a:spLocks xmlns:a="http://schemas.openxmlformats.org/drawingml/2006/main" noGrp="1"/>
          </p:cNvSpPr>
          <p:nvPr/>
        </p:nvSpPr>
        <p:spPr>
          <a:xfrm xmlns:a="http://schemas.openxmlformats.org/drawingml/2006/main">
            <a:off x="647700" y="57340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967D2"/>
                </a:solidFill>
                <a:latin typeface="Liberation Sans"/>
                <a:ea typeface="Liberation Sans"/>
                <a:cs typeface="Liberation Sans"/>
              </a:defRPr>
            </a:pPr>
            <a:r>
              <a:rPr sz="2025" b="0">
                <a:solidFill>
                  <a:srgbClr val="1967D2"/>
                </a:solidFill>
                <a:latin typeface="Liberation Sans"/>
                <a:ea typeface="Liberation Sans"/>
                <a:cs typeface="Liberation Sans"/>
              </a:rPr>
              <a:t>Vocabulary readability and causal transfer answer different questions</a:t>
            </a:r>
          </a:p>
        </p:txBody>
      </p:sp>
    </p:spTree>
    <p:extLst>
      <p:ext uri="{BB962C8B-B14F-4D97-AF65-F5344CB8AC3E}">
        <p14:creationId xmlns:p14="http://schemas.microsoft.com/office/powerpoint/2010/main" val="1644556631"/>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ckup: where the original smoke results are ">
            <a:extLst xmlns:a="http://schemas.openxmlformats.org/drawingml/2006/main">
              <a:ext uri="{FF2B5EF4-FFF2-40B4-BE49-F238E27FC236}">
                <a16:creationId xmlns:a16="http://schemas.microsoft.com/office/drawing/2014/main" id="{30C9234A-F831-47C1-A315-21CD11C8022A}"/>
              </a:ext>
            </a:extLst>
          </p:cNvPr>
          <p:cNvSpPr>
            <a:spLocks xmlns:a="http://schemas.openxmlformats.org/drawingml/2006/main" noGrp="1"/>
          </p:cNvSpPr>
          <p:nvPr/>
        </p:nvSpPr>
        <p:spPr>
          <a:xfrm xmlns:a="http://schemas.openxmlformats.org/drawingml/2006/main">
            <a:off x="438150" y="3143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00" b="1">
                <a:solidFill>
                  <a:srgbClr val="17243A"/>
                </a:solidFill>
                <a:latin typeface="Liberation Sans"/>
                <a:ea typeface="Liberation Sans"/>
                <a:cs typeface="Liberation Sans"/>
              </a:defRPr>
            </a:pPr>
            <a:r>
              <a:rPr sz="2800" b="1">
                <a:solidFill>
                  <a:srgbClr val="17243A"/>
                </a:solidFill>
                <a:latin typeface="Liberation Sans"/>
                <a:ea typeface="Liberation Sans"/>
                <a:cs typeface="Liberation Sans"/>
              </a:rPr>
              <a:t>Backup: where the original smoke results are recorded</a:t>
            </a:r>
          </a:p>
        </p:txBody>
      </p:sp>
      <p:sp>
        <p:nvSpPr>
          <p:cNvPr id="2" name="">
            <a:extLst xmlns:a="http://schemas.openxmlformats.org/drawingml/2006/main">
              <a:ext uri="{FF2B5EF4-FFF2-40B4-BE49-F238E27FC236}">
                <a16:creationId xmlns:a16="http://schemas.microsoft.com/office/drawing/2014/main" id="{174D0A6F-1D10-4C0C-9E9C-847C7FE54800}"/>
              </a:ext>
            </a:extLst>
          </p:cNvPr>
          <p:cNvSpPr>
            <a:spLocks xmlns:a="http://schemas.openxmlformats.org/drawingml/2006/main" noGrp="1"/>
          </p:cNvSpPr>
          <p:nvPr/>
        </p:nvSpPr>
        <p:spPr>
          <a:xfrm xmlns:a="http://schemas.openxmlformats.org/drawingml/2006/main">
            <a:off x="438150" y="933450"/>
            <a:ext cx="11296650" cy="38100"/>
          </a:xfrm>
          <a:prstGeom xmlns:a="http://schemas.openxmlformats.org/drawingml/2006/main" prst="rect">
            <a:avLst/>
          </a:prstGeom>
          <a:solidFill xmlns:a="http://schemas.openxmlformats.org/drawingml/2006/main">
            <a:srgbClr val="1967D2"/>
          </a:solidFill>
          <a:ln xmlns:a="http://schemas.openxmlformats.org/drawingml/2006/main" w="0">
            <a:noFill/>
          </a:ln>
        </p:spPr>
      </p:sp>
      <p:sp>
        <p:nvSpPr>
          <p:cNvPr id="3" name="ANLP mid-submission / 2 October 2026">
            <a:extLst xmlns:a="http://schemas.openxmlformats.org/drawingml/2006/main">
              <a:ext uri="{FF2B5EF4-FFF2-40B4-BE49-F238E27FC236}">
                <a16:creationId xmlns:a16="http://schemas.microsoft.com/office/drawing/2014/main" id="{114A1A7C-C865-48AD-830A-CFCF6ACA2F9E}"/>
              </a:ext>
            </a:extLst>
          </p:cNvPr>
          <p:cNvSpPr>
            <a:spLocks xmlns:a="http://schemas.openxmlformats.org/drawingml/2006/main" noGrp="1"/>
          </p:cNvSpPr>
          <p:nvPr/>
        </p:nvSpPr>
        <p:spPr>
          <a:xfrm xmlns:a="http://schemas.openxmlformats.org/drawingml/2006/main">
            <a:off x="400050" y="648652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ANLP mid-submission / 2 October 2026</a:t>
            </a:r>
          </a:p>
        </p:txBody>
      </p:sp>
      <p:sp>
        <p:nvSpPr>
          <p:cNvPr id="4" name="25">
            <a:extLst xmlns:a="http://schemas.openxmlformats.org/drawingml/2006/main">
              <a:ext uri="{FF2B5EF4-FFF2-40B4-BE49-F238E27FC236}">
                <a16:creationId xmlns:a16="http://schemas.microsoft.com/office/drawing/2014/main" id="{766D737E-C7A5-4739-A60F-8ADFEF66BD3F}"/>
              </a:ext>
            </a:extLst>
          </p:cNvPr>
          <p:cNvSpPr>
            <a:spLocks xmlns:a="http://schemas.openxmlformats.org/drawingml/2006/main" noGrp="1"/>
          </p:cNvSpPr>
          <p:nvPr/>
        </p:nvSpPr>
        <p:spPr>
          <a:xfrm xmlns:a="http://schemas.openxmlformats.org/drawingml/2006/main">
            <a:off x="11430000" y="64865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00" b="0">
                <a:solidFill>
                  <a:srgbClr val="5C667A"/>
                </a:solidFill>
                <a:latin typeface="Liberation Sans"/>
                <a:ea typeface="Liberation Sans"/>
                <a:cs typeface="Liberation Sans"/>
              </a:defRPr>
            </a:pPr>
            <a:r>
              <a:rPr sz="1000" b="0">
                <a:solidFill>
                  <a:srgbClr val="5C667A"/>
                </a:solidFill>
                <a:latin typeface="Liberation Sans"/>
                <a:ea typeface="Liberation Sans"/>
                <a:cs typeface="Liberation Sans"/>
              </a:rPr>
              <a:t>25</a:t>
            </a:r>
          </a:p>
        </p:txBody>
      </p:sp>
      <p:graphicFrame>
        <p:nvGraphicFramePr>
          <p:cNvPr id="11" name=""/>
          <p:cNvGraphicFramePr/>
          <p:nvPr/>
        </p:nvGraphicFramePr>
        <p:xfrm>
          <a:off xmlns:a="http://schemas.openxmlformats.org/drawingml/2006/main" x="628650" y="1524000"/>
          <a:ext xmlns:a="http://schemas.openxmlformats.org/drawingml/2006/main" cx="10925175" cy="3743325"/>
        </p:xfrm>
        <a:graphic xmlns:a="http://schemas.openxmlformats.org/drawingml/2006/main">
          <a:graphicData uri="http://schemas.openxmlformats.org/drawingml/2006/table">
            <a:tbl>
              <a:tblPr/>
              <a:tblGrid>
                <a:gridCol w="5172075"/>
                <a:gridCol w="5753100"/>
              </a:tblGrid>
              <a:tr h="534761">
                <a:tc>
                  <a:txBody>
                    <a:bodyPr lIns="114300" tIns="85725" rIns="95250" bIns="85725"/>
                    <a:lstStyle/>
                    <a:p>
                      <a:r>
                        <a:rPr sz="1650" b="1">
                          <a:solidFill>
                            <a:srgbClr val="FFFFFF"/>
                          </a:solidFill>
                          <a:latin typeface="Liberation Sans"/>
                          <a:ea typeface="Liberation Sans"/>
                          <a:cs typeface="Liberation Sans"/>
                        </a:rPr>
                        <a:t>Record</a:t>
                      </a:r>
                    </a:p>
                  </a:txBody>
                  <a:tcPr marL="91440" marR="91440" marT="45720" marB="45720" anchor="ctr">
                    <a:solidFill>
                      <a:srgbClr val="17243A"/>
                    </a:solidFill>
                  </a:tcPr>
                </a:tc>
                <a:tc>
                  <a:txBody>
                    <a:bodyPr lIns="114300" tIns="85725" rIns="95250" bIns="85725"/>
                    <a:lstStyle/>
                    <a:p>
                      <a:r>
                        <a:rPr sz="1650" b="1">
                          <a:solidFill>
                            <a:srgbClr val="FFFFFF"/>
                          </a:solidFill>
                          <a:latin typeface="Liberation Sans"/>
                          <a:ea typeface="Liberation Sans"/>
                          <a:cs typeface="Liberation Sans"/>
                        </a:rPr>
                        <a:t>Location</a:t>
                      </a:r>
                    </a:p>
                  </a:txBody>
                  <a:tcPr marL="91440" marR="91440" marT="45720" marB="45720" anchor="ctr">
                    <a:solidFill>
                      <a:srgbClr val="17243A"/>
                    </a:solidFill>
                  </a:tcPr>
                </a:tc>
              </a:tr>
              <a:tr h="534761">
                <a:tc>
                  <a:txBody>
                    <a:bodyPr lIns="114300" tIns="85725" rIns="95250" bIns="85725"/>
                    <a:lstStyle/>
                    <a:p>
                      <a:r>
                        <a:rPr sz="1650" b="0">
                          <a:solidFill>
                            <a:srgbClr val="17243A"/>
                          </a:solidFill>
                          <a:latin typeface="Liberation Sans"/>
                          <a:ea typeface="Liberation Sans"/>
                          <a:cs typeface="Liberation Sans"/>
                        </a:rPr>
                        <a:t>Complete twelve-model table and smoke Core-7 summary</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scripts/context.md, §3.2–3.3</a:t>
                      </a:r>
                    </a:p>
                  </a:txBody>
                  <a:tcPr marL="91440" marR="91440" marT="45720" marB="45720" anchor="ctr">
                    <a:solidFill>
                      <a:srgbClr val="FFFFFF"/>
                    </a:solidFill>
                  </a:tcPr>
                </a:tc>
              </a:tr>
              <a:tr h="534761">
                <a:tc>
                  <a:txBody>
                    <a:bodyPr lIns="114300" tIns="85725" rIns="95250" bIns="85725"/>
                    <a:lstStyle/>
                    <a:p>
                      <a:r>
                        <a:rPr sz="1650" b="0">
                          <a:solidFill>
                            <a:srgbClr val="17243A"/>
                          </a:solidFill>
                          <a:latin typeface="Liberation Sans"/>
                          <a:ea typeface="Liberation Sans"/>
                          <a:cs typeface="Liberation Sans"/>
                        </a:rPr>
                        <a:t>Original repository smoke presentation</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presentation/core7_smoke_update.pdf</a:t>
                      </a:r>
                    </a:p>
                  </a:txBody>
                  <a:tcPr marL="91440" marR="91440" marT="45720" marB="45720" anchor="ctr">
                    <a:solidFill>
                      <a:srgbClr val="E9EEF6"/>
                    </a:solidFill>
                  </a:tcPr>
                </a:tc>
              </a:tr>
              <a:tr h="534761">
                <a:tc>
                  <a:txBody>
                    <a:bodyPr lIns="114300" tIns="85725" rIns="95250" bIns="85725"/>
                    <a:lstStyle/>
                    <a:p>
                      <a:r>
                        <a:rPr sz="1650" b="0">
                          <a:solidFill>
                            <a:srgbClr val="17243A"/>
                          </a:solidFill>
                          <a:latin typeface="Liberation Sans"/>
                          <a:ea typeface="Liberation Sans"/>
                          <a:cs typeface="Liberation Sans"/>
                        </a:rPr>
                        <a:t>Report’s condensed screening table</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midsem_report-v2-internvl.pdf, Table 4</a:t>
                      </a:r>
                    </a:p>
                  </a:txBody>
                  <a:tcPr marL="91440" marR="91440" marT="45720" marB="45720" anchor="ctr">
                    <a:solidFill>
                      <a:srgbClr val="FFFFFF"/>
                    </a:solidFill>
                  </a:tcPr>
                </a:tc>
              </a:tr>
              <a:tr h="534761">
                <a:tc>
                  <a:txBody>
                    <a:bodyPr lIns="114300" tIns="85725" rIns="95250" bIns="85725"/>
                    <a:lstStyle/>
                    <a:p>
                      <a:r>
                        <a:rPr sz="1650" b="0">
                          <a:solidFill>
                            <a:srgbClr val="17243A"/>
                          </a:solidFill>
                          <a:latin typeface="Liberation Sans"/>
                          <a:ea typeface="Liberation Sans"/>
                          <a:cs typeface="Liberation Sans"/>
                        </a:rPr>
                        <a:t>Screening raw outputs, recorded server path</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~/core7_results/screening_smoke/_selection/</a:t>
                      </a:r>
                    </a:p>
                  </a:txBody>
                  <a:tcPr marL="91440" marR="91440" marT="45720" marB="45720" anchor="ctr">
                    <a:solidFill>
                      <a:srgbClr val="E9EEF6"/>
                    </a:solidFill>
                  </a:tcPr>
                </a:tc>
              </a:tr>
              <a:tr h="534761">
                <a:tc>
                  <a:txBody>
                    <a:bodyPr lIns="114300" tIns="85725" rIns="95250" bIns="85725"/>
                    <a:lstStyle/>
                    <a:p>
                      <a:r>
                        <a:rPr sz="1650" b="0">
                          <a:solidFill>
                            <a:srgbClr val="17243A"/>
                          </a:solidFill>
                          <a:latin typeface="Liberation Sans"/>
                          <a:ea typeface="Liberation Sans"/>
                          <a:cs typeface="Liberation Sans"/>
                        </a:rPr>
                        <a:t>Two-model Core-7 smoke, recorded server paths</a:t>
                      </a:r>
                    </a:p>
                  </a:txBody>
                  <a:tcPr marL="91440" marR="91440" marT="45720" marB="45720" anchor="ctr">
                    <a:solidFill>
                      <a:srgbClr val="FFFFFF"/>
                    </a:solidFill>
                  </a:tcPr>
                </a:tc>
                <a:tc>
                  <a:txBody>
                    <a:bodyPr lIns="114300" tIns="85725" rIns="95250" bIns="85725"/>
                    <a:lstStyle/>
                    <a:p>
                      <a:r>
                        <a:rPr sz="1650" b="0">
                          <a:solidFill>
                            <a:srgbClr val="17243A"/>
                          </a:solidFill>
                          <a:latin typeface="Liberation Sans"/>
                          <a:ea typeface="Liberation Sans"/>
                          <a:cs typeface="Liberation Sans"/>
                        </a:rPr>
                        <a:t>~/core7_results/core7/qwen25vl_7b_smoke/</a:t>
                      </a:r>
                    </a:p>
                    <a:p>
                      <a:r>
                        <a:rPr sz="1650" b="0">
                          <a:solidFill>
                            <a:srgbClr val="17243A"/>
                          </a:solidFill>
                          <a:latin typeface="Liberation Sans"/>
                          <a:ea typeface="Liberation Sans"/>
                          <a:cs typeface="Liberation Sans"/>
                        </a:rPr>
                        <a:t>~/core7_results/core7/internvl35_8b_smoke/</a:t>
                      </a:r>
                    </a:p>
                  </a:txBody>
                  <a:tcPr marL="91440" marR="91440" marT="45720" marB="45720" anchor="ctr">
                    <a:solidFill>
                      <a:srgbClr val="FFFFFF"/>
                    </a:solidFill>
                  </a:tcPr>
                </a:tc>
              </a:tr>
              <a:tr h="534761">
                <a:tc>
                  <a:txBody>
                    <a:bodyPr lIns="114300" tIns="85725" rIns="95250" bIns="85725"/>
                    <a:lstStyle/>
                    <a:p>
                      <a:r>
                        <a:rPr sz="1650" b="0">
                          <a:solidFill>
                            <a:srgbClr val="17243A"/>
                          </a:solidFill>
                          <a:latin typeface="Liberation Sans"/>
                          <a:ea typeface="Liberation Sans"/>
                          <a:cs typeface="Liberation Sans"/>
                        </a:rPr>
                        <a:t>Smoke cross-model comparison, recorded server path</a:t>
                      </a:r>
                    </a:p>
                  </a:txBody>
                  <a:tcPr marL="91440" marR="91440" marT="45720" marB="45720" anchor="ctr">
                    <a:solidFill>
                      <a:srgbClr val="E9EEF6"/>
                    </a:solidFill>
                  </a:tcPr>
                </a:tc>
                <a:tc>
                  <a:txBody>
                    <a:bodyPr lIns="114300" tIns="85725" rIns="95250" bIns="85725"/>
                    <a:lstStyle/>
                    <a:p>
                      <a:r>
                        <a:rPr sz="1650" b="0">
                          <a:solidFill>
                            <a:srgbClr val="17243A"/>
                          </a:solidFill>
                          <a:latin typeface="Liberation Sans"/>
                          <a:ea typeface="Liberation Sans"/>
                          <a:cs typeface="Liberation Sans"/>
                        </a:rPr>
                        <a:t>~/core7_results/comparison_smoke/</a:t>
                      </a:r>
                    </a:p>
                  </a:txBody>
                  <a:tcPr marL="91440" marR="91440" marT="45720" marB="45720" anchor="ctr">
                    <a:solidFill>
                      <a:srgbClr val="E9EEF6"/>
                    </a:solidFill>
                  </a:tcPr>
                </a:tc>
              </a:tr>
            </a:tbl>
          </a:graphicData>
        </a:graphic>
      </p:graphicFrame>
      <p:sp>
        <p:nvSpPr>
          <p:cNvPr id="6" name="The current local checkout contains the summa">
            <a:extLst xmlns:a="http://schemas.openxmlformats.org/drawingml/2006/main">
              <a:ext uri="{FF2B5EF4-FFF2-40B4-BE49-F238E27FC236}">
                <a16:creationId xmlns:a16="http://schemas.microsoft.com/office/drawing/2014/main" id="{B45E0B1D-A337-4AFE-8370-DE6E719CB9AD}"/>
              </a:ext>
            </a:extLst>
          </p:cNvPr>
          <p:cNvSpPr>
            <a:spLocks xmlns:a="http://schemas.openxmlformats.org/drawingml/2006/main" noGrp="1"/>
          </p:cNvSpPr>
          <p:nvPr/>
        </p:nvSpPr>
        <p:spPr>
          <a:xfrm xmlns:a="http://schemas.openxmlformats.org/drawingml/2006/main">
            <a:off x="647700" y="57245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C667A"/>
                </a:solidFill>
                <a:latin typeface="Liberation Sans"/>
                <a:ea typeface="Liberation Sans"/>
                <a:cs typeface="Liberation Sans"/>
              </a:defRPr>
            </a:pPr>
            <a:r>
              <a:rPr sz="1950" b="0">
                <a:solidFill>
                  <a:srgbClr val="5C667A"/>
                </a:solidFill>
                <a:latin typeface="Liberation Sans"/>
                <a:ea typeface="Liberation Sans"/>
                <a:cs typeface="Liberation Sans"/>
              </a:rPr>
              <a:t>The current local checkout contains the summaries; the raw mirror is not present</a:t>
            </a:r>
          </a:p>
        </p:txBody>
      </p:sp>
    </p:spTree>
    <p:extLst>
      <p:ext uri="{BB962C8B-B14F-4D97-AF65-F5344CB8AC3E}">
        <p14:creationId xmlns:p14="http://schemas.microsoft.com/office/powerpoint/2010/main" val="3335843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2026-10-02T13:41:44.2370000Z</dcterms:created>
  <dcterms:modified xsi:type="dcterms:W3CDTF">2026-10-02T13:41:44.2370000Z</dcterms:modified>
</coreProperties>
</file>